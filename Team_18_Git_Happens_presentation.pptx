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68" r:id="rId5"/>
    <p:sldId id="259" r:id="rId6"/>
    <p:sldId id="273" r:id="rId7"/>
    <p:sldId id="260" r:id="rId8"/>
    <p:sldId id="272" r:id="rId9"/>
    <p:sldId id="262" r:id="rId10"/>
    <p:sldId id="263" r:id="rId11"/>
    <p:sldId id="264" r:id="rId12"/>
    <p:sldId id="265" r:id="rId13"/>
    <p:sldId id="267" r:id="rId14"/>
    <p:sldId id="271" r:id="rId15"/>
    <p:sldId id="266" r:id="rId16"/>
    <p:sldId id="269" r:id="rId17"/>
    <p:sldId id="270"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3F73"/>
    <a:srgbClr val="2C8C84"/>
    <a:srgbClr val="D4A256"/>
    <a:srgbClr val="E1F2EF"/>
    <a:srgbClr val="F7ECDA"/>
    <a:srgbClr val="D7E7F5"/>
    <a:srgbClr val="C8D0F7"/>
    <a:srgbClr val="E7EAFE"/>
    <a:srgbClr val="E6DCCF"/>
    <a:srgbClr val="C8BE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16" autoAdjust="0"/>
    <p:restoredTop sz="94620"/>
  </p:normalViewPr>
  <p:slideViewPr>
    <p:cSldViewPr snapToGrid="0" snapToObjects="1">
      <p:cViewPr varScale="1">
        <p:scale>
          <a:sx n="111" d="100"/>
          <a:sy n="111" d="100"/>
        </p:scale>
        <p:origin x="201" y="8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ndu BN" userId="ed7aa8c5df9931a7" providerId="LiveId" clId="{356B5F27-931A-4549-ACFF-42CAD922158D}"/>
    <pc:docChg chg="undo custSel addSld delSld modSld sldOrd">
      <pc:chgData name="Bindu BN" userId="ed7aa8c5df9931a7" providerId="LiveId" clId="{356B5F27-931A-4549-ACFF-42CAD922158D}" dt="2026-04-30T04:05:33" v="53" actId="1076"/>
      <pc:docMkLst>
        <pc:docMk/>
      </pc:docMkLst>
      <pc:sldChg chg="ord">
        <pc:chgData name="Bindu BN" userId="ed7aa8c5df9931a7" providerId="LiveId" clId="{356B5F27-931A-4549-ACFF-42CAD922158D}" dt="2026-04-29T05:11:29.594" v="4"/>
        <pc:sldMkLst>
          <pc:docMk/>
          <pc:sldMk cId="0" sldId="268"/>
        </pc:sldMkLst>
      </pc:sldChg>
      <pc:sldChg chg="addSp delSp modSp new mod">
        <pc:chgData name="Bindu BN" userId="ed7aa8c5df9931a7" providerId="LiveId" clId="{356B5F27-931A-4549-ACFF-42CAD922158D}" dt="2026-04-30T04:05:33" v="53" actId="1076"/>
        <pc:sldMkLst>
          <pc:docMk/>
          <pc:sldMk cId="2359087366" sldId="272"/>
        </pc:sldMkLst>
        <pc:spChg chg="add mod">
          <ac:chgData name="Bindu BN" userId="ed7aa8c5df9931a7" providerId="LiveId" clId="{356B5F27-931A-4549-ACFF-42CAD922158D}" dt="2026-04-30T04:05:04.046" v="50"/>
          <ac:spMkLst>
            <pc:docMk/>
            <pc:sldMk cId="2359087366" sldId="272"/>
            <ac:spMk id="2" creationId="{86A72E56-DCA4-41E4-618C-80198E25356E}"/>
          </ac:spMkLst>
        </pc:spChg>
        <pc:spChg chg="add del">
          <ac:chgData name="Bindu BN" userId="ed7aa8c5df9931a7" providerId="LiveId" clId="{356B5F27-931A-4549-ACFF-42CAD922158D}" dt="2026-04-29T05:16:15.352" v="8" actId="22"/>
          <ac:spMkLst>
            <pc:docMk/>
            <pc:sldMk cId="2359087366" sldId="272"/>
            <ac:spMk id="3" creationId="{7B4665A5-B560-4390-80BF-954DD92AD90F}"/>
          </ac:spMkLst>
        </pc:spChg>
        <pc:spChg chg="add del mod">
          <ac:chgData name="Bindu BN" userId="ed7aa8c5df9931a7" providerId="LiveId" clId="{356B5F27-931A-4549-ACFF-42CAD922158D}" dt="2026-04-29T05:25:08.666" v="19"/>
          <ac:spMkLst>
            <pc:docMk/>
            <pc:sldMk cId="2359087366" sldId="272"/>
            <ac:spMk id="6" creationId="{92B43451-CF7C-3330-ED24-8AE6475EF739}"/>
          </ac:spMkLst>
        </pc:spChg>
        <pc:spChg chg="add mod">
          <ac:chgData name="Bindu BN" userId="ed7aa8c5df9931a7" providerId="LiveId" clId="{356B5F27-931A-4549-ACFF-42CAD922158D}" dt="2026-04-30T04:05:33" v="53" actId="1076"/>
          <ac:spMkLst>
            <pc:docMk/>
            <pc:sldMk cId="2359087366" sldId="272"/>
            <ac:spMk id="7" creationId="{0D8AAF9C-77D6-F6D8-7435-996078B8CA36}"/>
          </ac:spMkLst>
        </pc:spChg>
        <pc:picChg chg="add mod">
          <ac:chgData name="Bindu BN" userId="ed7aa8c5df9931a7" providerId="LiveId" clId="{356B5F27-931A-4549-ACFF-42CAD922158D}" dt="2026-04-29T05:27:04.376" v="30" actId="1076"/>
          <ac:picMkLst>
            <pc:docMk/>
            <pc:sldMk cId="2359087366" sldId="272"/>
            <ac:picMk id="5" creationId="{BD980194-8075-BDF5-EE27-F2820C75D360}"/>
          </ac:picMkLst>
        </pc:picChg>
      </pc:sldChg>
      <pc:sldChg chg="new del">
        <pc:chgData name="Bindu BN" userId="ed7aa8c5df9931a7" providerId="LiveId" clId="{356B5F27-931A-4549-ACFF-42CAD922158D}" dt="2026-04-29T05:11:37.222" v="5" actId="47"/>
        <pc:sldMkLst>
          <pc:docMk/>
          <pc:sldMk cId="3419835225"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1494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u="none" strike="noStrike" dirty="0">
                <a:solidFill>
                  <a:srgbClr val="000000"/>
                </a:solidFill>
                <a:effectLst/>
                <a:latin typeface="-webkit-standard"/>
              </a:rPr>
              <a:t>GPU validation of the memory-bound degradation trend is a known limitation — we project it based on the analytical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i="0" u="none" strike="noStrike" dirty="0">
                <a:solidFill>
                  <a:srgbClr val="000000"/>
                </a:solidFill>
                <a:effectLst/>
              </a:rPr>
              <a:t>On the ASEP slide or migration policy slide, add a note that even though DRAM→HBM is faster than HBM→DRAM, the promotion cost still matters because it consumes HBM bandwidth during active decode, competing with weight and KV reads. Otherwise someone can reasonably ask "if promotion is cheap, why does the 57% saving matter?"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7E7F5"/>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F3F73"/>
          </a:solidFill>
          <a:ln/>
        </p:spPr>
        <p:txBody>
          <a:bodyPr/>
          <a:lstStyle/>
          <a:p>
            <a:endParaRPr/>
          </a:p>
        </p:txBody>
      </p:sp>
      <p:sp>
        <p:nvSpPr>
          <p:cNvPr id="3" name="Shape 1"/>
          <p:cNvSpPr/>
          <p:nvPr/>
        </p:nvSpPr>
        <p:spPr>
          <a:xfrm>
            <a:off x="6217920" y="-1097280"/>
            <a:ext cx="4572000" cy="4572000"/>
          </a:xfrm>
          <a:prstGeom prst="ellipse">
            <a:avLst/>
          </a:prstGeom>
          <a:solidFill>
            <a:srgbClr val="F7F1E8"/>
          </a:solidFill>
          <a:ln w="19050">
            <a:solidFill>
              <a:srgbClr val="8A7AC8"/>
            </a:solidFill>
            <a:prstDash val="solid"/>
          </a:ln>
        </p:spPr>
        <p:txBody>
          <a:bodyPr/>
          <a:lstStyle/>
          <a:p>
            <a:endParaRPr/>
          </a:p>
        </p:txBody>
      </p:sp>
      <p:sp>
        <p:nvSpPr>
          <p:cNvPr id="4" name="Shape 2"/>
          <p:cNvSpPr/>
          <p:nvPr/>
        </p:nvSpPr>
        <p:spPr>
          <a:xfrm>
            <a:off x="6858000" y="-457200"/>
            <a:ext cx="3200400" cy="3200400"/>
          </a:xfrm>
          <a:prstGeom prst="ellipse">
            <a:avLst/>
          </a:prstGeom>
          <a:solidFill>
            <a:srgbClr val="FFFFFF"/>
          </a:solidFill>
          <a:ln w="12700">
            <a:solidFill>
              <a:srgbClr val="2C8C84"/>
            </a:solidFill>
            <a:prstDash val="solid"/>
          </a:ln>
        </p:spPr>
        <p:txBody>
          <a:bodyPr/>
          <a:lstStyle/>
          <a:p>
            <a:endParaRPr/>
          </a:p>
        </p:txBody>
      </p:sp>
      <p:sp>
        <p:nvSpPr>
          <p:cNvPr id="5" name="Shape 3"/>
          <p:cNvSpPr/>
          <p:nvPr/>
        </p:nvSpPr>
        <p:spPr>
          <a:xfrm>
            <a:off x="365760" y="502920"/>
            <a:ext cx="3200400" cy="347472"/>
          </a:xfrm>
          <a:prstGeom prst="roundRect">
            <a:avLst>
              <a:gd name="adj" fmla="val 26316"/>
            </a:avLst>
          </a:prstGeom>
          <a:solidFill>
            <a:srgbClr val="EEEAF8"/>
          </a:solidFill>
          <a:ln/>
        </p:spPr>
        <p:txBody>
          <a:bodyPr/>
          <a:lstStyle/>
          <a:p>
            <a:endParaRPr/>
          </a:p>
        </p:txBody>
      </p:sp>
      <p:sp>
        <p:nvSpPr>
          <p:cNvPr id="6" name="Text 4"/>
          <p:cNvSpPr/>
          <p:nvPr/>
        </p:nvSpPr>
        <p:spPr>
          <a:xfrm>
            <a:off x="365760" y="502920"/>
            <a:ext cx="3200400" cy="347472"/>
          </a:xfrm>
          <a:prstGeom prst="rect">
            <a:avLst/>
          </a:prstGeom>
          <a:noFill/>
          <a:ln/>
        </p:spPr>
        <p:txBody>
          <a:bodyPr wrap="square" lIns="0" tIns="0" rIns="0" bIns="0" rtlCol="0" anchor="ctr"/>
          <a:lstStyle/>
          <a:p>
            <a:pPr marL="0" indent="0" algn="ctr">
              <a:buNone/>
            </a:pPr>
            <a:r>
              <a:rPr lang="en-US" sz="900" b="1" dirty="0">
                <a:solidFill>
                  <a:srgbClr val="2D394F"/>
                </a:solidFill>
              </a:rPr>
              <a:t>TRACK B — TIERED MEMORY HIERARCHY</a:t>
            </a:r>
            <a:endParaRPr lang="en-US" sz="900" dirty="0"/>
          </a:p>
        </p:txBody>
      </p:sp>
      <p:sp>
        <p:nvSpPr>
          <p:cNvPr id="7" name="Text 5"/>
          <p:cNvSpPr/>
          <p:nvPr/>
        </p:nvSpPr>
        <p:spPr>
          <a:xfrm>
            <a:off x="320040" y="960120"/>
            <a:ext cx="8229600" cy="822960"/>
          </a:xfrm>
          <a:prstGeom prst="rect">
            <a:avLst/>
          </a:prstGeom>
          <a:noFill/>
          <a:ln/>
        </p:spPr>
        <p:txBody>
          <a:bodyPr wrap="square" rtlCol="0" anchor="ctr"/>
          <a:lstStyle/>
          <a:p>
            <a:pPr marL="0" indent="0">
              <a:buNone/>
            </a:pPr>
            <a:r>
              <a:rPr lang="en-US" sz="4800" b="1" kern="0" spc="400" dirty="0">
                <a:solidFill>
                  <a:srgbClr val="2D394F"/>
                </a:solidFill>
              </a:rPr>
              <a:t>MEMORY-CENTRIC</a:t>
            </a:r>
            <a:endParaRPr lang="en-US" sz="4800" dirty="0"/>
          </a:p>
        </p:txBody>
      </p:sp>
      <p:sp>
        <p:nvSpPr>
          <p:cNvPr id="8" name="Text 6"/>
          <p:cNvSpPr/>
          <p:nvPr/>
        </p:nvSpPr>
        <p:spPr>
          <a:xfrm>
            <a:off x="320040" y="1691640"/>
            <a:ext cx="8229600" cy="640080"/>
          </a:xfrm>
          <a:prstGeom prst="rect">
            <a:avLst/>
          </a:prstGeom>
          <a:noFill/>
          <a:ln/>
        </p:spPr>
        <p:txBody>
          <a:bodyPr wrap="square" rtlCol="0" anchor="ctr"/>
          <a:lstStyle/>
          <a:p>
            <a:pPr marL="0" indent="0">
              <a:buNone/>
            </a:pPr>
            <a:r>
              <a:rPr lang="en-US" sz="3000" b="1" kern="0" spc="200" dirty="0">
                <a:solidFill>
                  <a:srgbClr val="2C8C84"/>
                </a:solidFill>
              </a:rPr>
              <a:t>ARCHITECTURES FOR LLMs</a:t>
            </a:r>
            <a:endParaRPr lang="en-US" sz="3000" dirty="0"/>
          </a:p>
        </p:txBody>
      </p:sp>
      <p:sp>
        <p:nvSpPr>
          <p:cNvPr id="9" name="Shape 7"/>
          <p:cNvSpPr/>
          <p:nvPr/>
        </p:nvSpPr>
        <p:spPr>
          <a:xfrm>
            <a:off x="320040" y="2468880"/>
            <a:ext cx="5669280" cy="45720"/>
          </a:xfrm>
          <a:prstGeom prst="rect">
            <a:avLst/>
          </a:prstGeom>
          <a:solidFill>
            <a:srgbClr val="E7EBF5"/>
          </a:solidFill>
          <a:ln/>
        </p:spPr>
        <p:txBody>
          <a:bodyPr/>
          <a:lstStyle/>
          <a:p>
            <a:endParaRPr/>
          </a:p>
        </p:txBody>
      </p:sp>
      <p:sp>
        <p:nvSpPr>
          <p:cNvPr id="10" name="Text 8"/>
          <p:cNvSpPr/>
          <p:nvPr/>
        </p:nvSpPr>
        <p:spPr>
          <a:xfrm>
            <a:off x="320040" y="2606040"/>
            <a:ext cx="6858000" cy="502920"/>
          </a:xfrm>
          <a:prstGeom prst="rect">
            <a:avLst/>
          </a:prstGeom>
          <a:noFill/>
          <a:ln/>
        </p:spPr>
        <p:txBody>
          <a:bodyPr wrap="square" rtlCol="0" anchor="ctr"/>
          <a:lstStyle/>
          <a:p>
            <a:pPr marL="0" indent="0">
              <a:buNone/>
            </a:pPr>
            <a:r>
              <a:rPr lang="en-US" sz="1300" i="1" dirty="0">
                <a:solidFill>
                  <a:srgbClr val="2D394F"/>
                </a:solidFill>
              </a:rPr>
              <a:t>Introducing ASEP — Attention-Score-Driven Eviction Policy for Tiered KV Cache Management</a:t>
            </a:r>
            <a:endParaRPr lang="en-US" sz="1300" dirty="0"/>
          </a:p>
        </p:txBody>
      </p:sp>
      <p:sp>
        <p:nvSpPr>
          <p:cNvPr id="11" name="Shape 9"/>
          <p:cNvSpPr/>
          <p:nvPr/>
        </p:nvSpPr>
        <p:spPr>
          <a:xfrm>
            <a:off x="320040" y="3840480"/>
            <a:ext cx="5029200" cy="1005840"/>
          </a:xfrm>
          <a:prstGeom prst="rect">
            <a:avLst/>
          </a:prstGeom>
          <a:solidFill>
            <a:srgbClr val="FFFFFF"/>
          </a:solidFill>
          <a:ln w="12700">
            <a:solidFill>
              <a:srgbClr val="B8BFD1"/>
            </a:solidFill>
            <a:prstDash val="solid"/>
          </a:ln>
        </p:spPr>
        <p:txBody>
          <a:bodyPr/>
          <a:lstStyle/>
          <a:p>
            <a:endParaRPr/>
          </a:p>
        </p:txBody>
      </p:sp>
      <p:sp>
        <p:nvSpPr>
          <p:cNvPr id="12" name="Text 10"/>
          <p:cNvSpPr/>
          <p:nvPr/>
        </p:nvSpPr>
        <p:spPr>
          <a:xfrm>
            <a:off x="457200" y="3950208"/>
            <a:ext cx="4754880" cy="320040"/>
          </a:xfrm>
          <a:prstGeom prst="rect">
            <a:avLst/>
          </a:prstGeom>
          <a:noFill/>
          <a:ln/>
        </p:spPr>
        <p:txBody>
          <a:bodyPr wrap="square" rtlCol="0" anchor="ctr"/>
          <a:lstStyle/>
          <a:p>
            <a:pPr marL="0" indent="0">
              <a:buNone/>
            </a:pPr>
            <a:r>
              <a:rPr lang="en-US" sz="1000" b="1" dirty="0">
                <a:solidFill>
                  <a:srgbClr val="2C8C84"/>
                </a:solidFill>
              </a:rPr>
              <a:t>GPT-2 Medium  ·  PyTorch Instrumentation  ·  Tiered Memory Simulator  ·  ASEP Policy</a:t>
            </a:r>
            <a:endParaRPr lang="en-US" sz="1000" dirty="0"/>
          </a:p>
        </p:txBody>
      </p:sp>
      <p:sp>
        <p:nvSpPr>
          <p:cNvPr id="13" name="Text 11"/>
          <p:cNvSpPr/>
          <p:nvPr/>
        </p:nvSpPr>
        <p:spPr>
          <a:xfrm>
            <a:off x="457200" y="4279392"/>
            <a:ext cx="4754880" cy="320040"/>
          </a:xfrm>
          <a:prstGeom prst="rect">
            <a:avLst/>
          </a:prstGeom>
          <a:noFill/>
          <a:ln/>
        </p:spPr>
        <p:txBody>
          <a:bodyPr wrap="square" rtlCol="0" anchor="ctr"/>
          <a:lstStyle/>
          <a:p>
            <a:pPr marL="0" indent="0">
              <a:buNone/>
            </a:pPr>
            <a:r>
              <a:rPr lang="en-US" sz="1000" dirty="0">
                <a:solidFill>
                  <a:srgbClr val="2D394F"/>
                </a:solidFill>
              </a:rPr>
              <a:t>3-Tier Architecture: SRAM (4 MB) → HBM (48 MB) → DRAM (512 GB)</a:t>
            </a:r>
            <a:endParaRPr lang="en-US" sz="1000" dirty="0"/>
          </a:p>
        </p:txBody>
      </p:sp>
      <p:sp>
        <p:nvSpPr>
          <p:cNvPr id="14" name="Shape 12"/>
          <p:cNvSpPr/>
          <p:nvPr/>
        </p:nvSpPr>
        <p:spPr>
          <a:xfrm>
            <a:off x="5486400" y="3200400"/>
            <a:ext cx="1097280" cy="1097280"/>
          </a:xfrm>
          <a:prstGeom prst="ellipse">
            <a:avLst/>
          </a:prstGeom>
          <a:solidFill>
            <a:srgbClr val="EEEAF8"/>
          </a:solidFill>
          <a:ln w="19050">
            <a:solidFill>
              <a:srgbClr val="2C8C84"/>
            </a:solidFill>
            <a:prstDash val="solid"/>
          </a:ln>
        </p:spPr>
        <p:txBody>
          <a:bodyPr/>
          <a:lstStyle/>
          <a:p>
            <a:endParaRPr/>
          </a:p>
        </p:txBody>
      </p:sp>
      <p:sp>
        <p:nvSpPr>
          <p:cNvPr id="15" name="Text 13"/>
          <p:cNvSpPr/>
          <p:nvPr/>
        </p:nvSpPr>
        <p:spPr>
          <a:xfrm>
            <a:off x="5486400" y="3246120"/>
            <a:ext cx="1097280" cy="502920"/>
          </a:xfrm>
          <a:prstGeom prst="rect">
            <a:avLst/>
          </a:prstGeom>
          <a:noFill/>
          <a:ln/>
        </p:spPr>
        <p:txBody>
          <a:bodyPr wrap="square" lIns="0" tIns="0" rIns="0" bIns="0" rtlCol="0" anchor="ctr"/>
          <a:lstStyle/>
          <a:p>
            <a:pPr marL="0" indent="0" algn="ctr">
              <a:buNone/>
            </a:pPr>
            <a:r>
              <a:rPr lang="en-US" sz="2200" b="1" dirty="0">
                <a:solidFill>
                  <a:srgbClr val="2D394F"/>
                </a:solidFill>
              </a:rPr>
              <a:t>40%</a:t>
            </a:r>
            <a:endParaRPr lang="en-US" sz="2200" dirty="0"/>
          </a:p>
        </p:txBody>
      </p:sp>
      <p:sp>
        <p:nvSpPr>
          <p:cNvPr id="16" name="Text 14"/>
          <p:cNvSpPr/>
          <p:nvPr/>
        </p:nvSpPr>
        <p:spPr>
          <a:xfrm>
            <a:off x="5486400" y="3749040"/>
            <a:ext cx="1097280" cy="411480"/>
          </a:xfrm>
          <a:prstGeom prst="rect">
            <a:avLst/>
          </a:prstGeom>
          <a:noFill/>
          <a:ln/>
        </p:spPr>
        <p:txBody>
          <a:bodyPr wrap="square" lIns="0" tIns="0" rIns="0" bIns="0" rtlCol="0" anchor="ctr"/>
          <a:lstStyle/>
          <a:p>
            <a:pPr marL="0" indent="0" algn="ctr">
              <a:buNone/>
            </a:pPr>
            <a:r>
              <a:rPr lang="en-US" sz="750" dirty="0">
                <a:solidFill>
                  <a:srgbClr val="2D394F"/>
                </a:solidFill>
              </a:rPr>
              <a:t>Less Wasted</a:t>
            </a:r>
            <a:endParaRPr lang="en-US" sz="750" dirty="0"/>
          </a:p>
          <a:p>
            <a:pPr marL="0" indent="0" algn="ctr">
              <a:buNone/>
            </a:pPr>
            <a:r>
              <a:rPr lang="en-US" sz="750" dirty="0">
                <a:solidFill>
                  <a:srgbClr val="2D394F"/>
                </a:solidFill>
              </a:rPr>
              <a:t>Evictions</a:t>
            </a:r>
            <a:endParaRPr lang="en-US" sz="750" dirty="0"/>
          </a:p>
        </p:txBody>
      </p:sp>
      <p:sp>
        <p:nvSpPr>
          <p:cNvPr id="17" name="Shape 15"/>
          <p:cNvSpPr/>
          <p:nvPr/>
        </p:nvSpPr>
        <p:spPr>
          <a:xfrm>
            <a:off x="6858000" y="3200400"/>
            <a:ext cx="1097280" cy="1097280"/>
          </a:xfrm>
          <a:prstGeom prst="ellipse">
            <a:avLst/>
          </a:prstGeom>
          <a:solidFill>
            <a:srgbClr val="EEEAF8"/>
          </a:solidFill>
          <a:ln w="19050">
            <a:solidFill>
              <a:srgbClr val="2C8C84"/>
            </a:solidFill>
            <a:prstDash val="solid"/>
          </a:ln>
        </p:spPr>
        <p:txBody>
          <a:bodyPr/>
          <a:lstStyle/>
          <a:p>
            <a:endParaRPr/>
          </a:p>
        </p:txBody>
      </p:sp>
      <p:sp>
        <p:nvSpPr>
          <p:cNvPr id="18" name="Text 16"/>
          <p:cNvSpPr/>
          <p:nvPr/>
        </p:nvSpPr>
        <p:spPr>
          <a:xfrm>
            <a:off x="6858000" y="3246120"/>
            <a:ext cx="1097280" cy="502920"/>
          </a:xfrm>
          <a:prstGeom prst="rect">
            <a:avLst/>
          </a:prstGeom>
          <a:noFill/>
          <a:ln/>
        </p:spPr>
        <p:txBody>
          <a:bodyPr wrap="square" lIns="0" tIns="0" rIns="0" bIns="0" rtlCol="0" anchor="ctr"/>
          <a:lstStyle/>
          <a:p>
            <a:pPr marL="0" indent="0" algn="ctr">
              <a:buNone/>
            </a:pPr>
            <a:r>
              <a:rPr lang="en-US" sz="2200" b="1" dirty="0">
                <a:solidFill>
                  <a:srgbClr val="2D394F"/>
                </a:solidFill>
              </a:rPr>
              <a:t>57%</a:t>
            </a:r>
            <a:endParaRPr lang="en-US" sz="2200" dirty="0"/>
          </a:p>
        </p:txBody>
      </p:sp>
      <p:sp>
        <p:nvSpPr>
          <p:cNvPr id="19" name="Text 17"/>
          <p:cNvSpPr/>
          <p:nvPr/>
        </p:nvSpPr>
        <p:spPr>
          <a:xfrm>
            <a:off x="6858000" y="3749040"/>
            <a:ext cx="1097280" cy="411480"/>
          </a:xfrm>
          <a:prstGeom prst="rect">
            <a:avLst/>
          </a:prstGeom>
          <a:noFill/>
          <a:ln/>
        </p:spPr>
        <p:txBody>
          <a:bodyPr wrap="square" lIns="0" tIns="0" rIns="0" bIns="0" rtlCol="0" anchor="ctr"/>
          <a:lstStyle/>
          <a:p>
            <a:pPr marL="0" indent="0" algn="ctr">
              <a:buNone/>
            </a:pPr>
            <a:r>
              <a:rPr lang="en-US" sz="750" dirty="0">
                <a:solidFill>
                  <a:srgbClr val="2D394F"/>
                </a:solidFill>
              </a:rPr>
              <a:t>Lower</a:t>
            </a:r>
            <a:endParaRPr lang="en-US" sz="750" dirty="0"/>
          </a:p>
          <a:p>
            <a:pPr marL="0" indent="0" algn="ctr">
              <a:buNone/>
            </a:pPr>
            <a:r>
              <a:rPr lang="en-US" sz="750" dirty="0">
                <a:solidFill>
                  <a:srgbClr val="2D394F"/>
                </a:solidFill>
              </a:rPr>
              <a:t>Promotion Cost</a:t>
            </a:r>
            <a:endParaRPr lang="en-US" sz="750" dirty="0"/>
          </a:p>
        </p:txBody>
      </p:sp>
      <p:sp>
        <p:nvSpPr>
          <p:cNvPr id="20" name="Shape 18"/>
          <p:cNvSpPr/>
          <p:nvPr/>
        </p:nvSpPr>
        <p:spPr>
          <a:xfrm>
            <a:off x="8229600" y="3200400"/>
            <a:ext cx="1097280" cy="1097280"/>
          </a:xfrm>
          <a:prstGeom prst="ellipse">
            <a:avLst/>
          </a:prstGeom>
          <a:solidFill>
            <a:srgbClr val="EEEAF8"/>
          </a:solidFill>
          <a:ln w="19050">
            <a:solidFill>
              <a:srgbClr val="2C8C84"/>
            </a:solidFill>
            <a:prstDash val="solid"/>
          </a:ln>
        </p:spPr>
        <p:txBody>
          <a:bodyPr/>
          <a:lstStyle/>
          <a:p>
            <a:endParaRPr/>
          </a:p>
        </p:txBody>
      </p:sp>
      <p:sp>
        <p:nvSpPr>
          <p:cNvPr id="21" name="Text 19"/>
          <p:cNvSpPr/>
          <p:nvPr/>
        </p:nvSpPr>
        <p:spPr>
          <a:xfrm>
            <a:off x="8229600" y="3246120"/>
            <a:ext cx="1097280" cy="502920"/>
          </a:xfrm>
          <a:prstGeom prst="rect">
            <a:avLst/>
          </a:prstGeom>
          <a:noFill/>
          <a:ln/>
        </p:spPr>
        <p:txBody>
          <a:bodyPr wrap="square" lIns="0" tIns="0" rIns="0" bIns="0" rtlCol="0" anchor="ctr"/>
          <a:lstStyle/>
          <a:p>
            <a:pPr marL="0" indent="0" algn="ctr">
              <a:buNone/>
            </a:pPr>
            <a:r>
              <a:rPr lang="en-US" sz="2200" b="1" dirty="0">
                <a:solidFill>
                  <a:srgbClr val="2D394F"/>
                </a:solidFill>
              </a:rPr>
              <a:t>3×</a:t>
            </a:r>
            <a:endParaRPr lang="en-US" sz="2200" dirty="0"/>
          </a:p>
        </p:txBody>
      </p:sp>
      <p:sp>
        <p:nvSpPr>
          <p:cNvPr id="22" name="Text 20"/>
          <p:cNvSpPr/>
          <p:nvPr/>
        </p:nvSpPr>
        <p:spPr>
          <a:xfrm>
            <a:off x="8229600" y="3749040"/>
            <a:ext cx="1097280" cy="411480"/>
          </a:xfrm>
          <a:prstGeom prst="rect">
            <a:avLst/>
          </a:prstGeom>
          <a:noFill/>
          <a:ln/>
        </p:spPr>
        <p:txBody>
          <a:bodyPr wrap="square" lIns="0" tIns="0" rIns="0" bIns="0" rtlCol="0" anchor="ctr"/>
          <a:lstStyle/>
          <a:p>
            <a:pPr marL="0" indent="0" algn="ctr">
              <a:buNone/>
            </a:pPr>
            <a:r>
              <a:rPr lang="en-US" sz="750" dirty="0">
                <a:solidFill>
                  <a:srgbClr val="2D394F"/>
                </a:solidFill>
              </a:rPr>
              <a:t>Optimizations</a:t>
            </a:r>
            <a:endParaRPr lang="en-US" sz="750" dirty="0"/>
          </a:p>
          <a:p>
            <a:pPr marL="0" indent="0" algn="ctr">
              <a:buNone/>
            </a:pPr>
            <a:r>
              <a:rPr lang="en-US" sz="750" dirty="0">
                <a:solidFill>
                  <a:srgbClr val="2D394F"/>
                </a:solidFill>
              </a:rPr>
              <a:t>Implemented</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C8C84"/>
          </a:solidFill>
          <a:ln/>
        </p:spPr>
        <p:txBody>
          <a:bodyPr/>
          <a:lstStyle/>
          <a:p>
            <a:endParaRPr/>
          </a:p>
        </p:txBody>
      </p:sp>
      <p:sp>
        <p:nvSpPr>
          <p:cNvPr id="3" name="Text 1"/>
          <p:cNvSpPr/>
          <p:nvPr/>
        </p:nvSpPr>
        <p:spPr>
          <a:xfrm>
            <a:off x="320040" y="228600"/>
            <a:ext cx="8503920" cy="457200"/>
          </a:xfrm>
          <a:prstGeom prst="rect">
            <a:avLst/>
          </a:prstGeom>
          <a:noFill/>
          <a:ln/>
        </p:spPr>
        <p:txBody>
          <a:bodyPr wrap="square" rtlCol="0" anchor="ctr"/>
          <a:lstStyle/>
          <a:p>
            <a:pPr marL="0" indent="0">
              <a:buNone/>
            </a:pPr>
            <a:r>
              <a:rPr lang="en-US" sz="2200" b="1" kern="0" spc="300" dirty="0">
                <a:solidFill>
                  <a:srgbClr val="2C8C84"/>
                </a:solidFill>
              </a:rPr>
              <a:t>PRESENTATION OUTLINE</a:t>
            </a:r>
            <a:endParaRPr lang="en-US" sz="2200" dirty="0"/>
          </a:p>
        </p:txBody>
      </p:sp>
      <p:sp>
        <p:nvSpPr>
          <p:cNvPr id="4" name="Text 2"/>
          <p:cNvSpPr/>
          <p:nvPr/>
        </p:nvSpPr>
        <p:spPr>
          <a:xfrm>
            <a:off x="320040" y="658368"/>
            <a:ext cx="8503920" cy="320040"/>
          </a:xfrm>
          <a:prstGeom prst="rect">
            <a:avLst/>
          </a:prstGeom>
          <a:noFill/>
          <a:ln/>
        </p:spPr>
        <p:txBody>
          <a:bodyPr wrap="square" rtlCol="0" anchor="ctr"/>
          <a:lstStyle/>
          <a:p>
            <a:pPr marL="0" indent="0">
              <a:buNone/>
            </a:pPr>
            <a:r>
              <a:rPr lang="en-US" sz="1200" dirty="0">
                <a:solidFill>
                  <a:srgbClr val="636F86"/>
                </a:solidFill>
              </a:rPr>
              <a:t>Memory-Centric Architectures for LLMs — Track B</a:t>
            </a:r>
            <a:endParaRPr lang="en-US" sz="1200" dirty="0"/>
          </a:p>
        </p:txBody>
      </p:sp>
      <p:sp>
        <p:nvSpPr>
          <p:cNvPr id="5" name="Shape 3"/>
          <p:cNvSpPr/>
          <p:nvPr/>
        </p:nvSpPr>
        <p:spPr>
          <a:xfrm>
            <a:off x="320040" y="1188720"/>
            <a:ext cx="548640" cy="548640"/>
          </a:xfrm>
          <a:prstGeom prst="rect">
            <a:avLst/>
          </a:prstGeom>
          <a:solidFill>
            <a:srgbClr val="EEEAF8"/>
          </a:solidFill>
          <a:ln w="12700">
            <a:solidFill>
              <a:srgbClr val="8A7AC8"/>
            </a:solidFill>
            <a:prstDash val="solid"/>
          </a:ln>
        </p:spPr>
        <p:txBody>
          <a:bodyPr/>
          <a:lstStyle/>
          <a:p>
            <a:endParaRPr/>
          </a:p>
        </p:txBody>
      </p:sp>
      <p:sp>
        <p:nvSpPr>
          <p:cNvPr id="6" name="Text 4"/>
          <p:cNvSpPr/>
          <p:nvPr/>
        </p:nvSpPr>
        <p:spPr>
          <a:xfrm>
            <a:off x="320040" y="1188720"/>
            <a:ext cx="548640" cy="548640"/>
          </a:xfrm>
          <a:prstGeom prst="rect">
            <a:avLst/>
          </a:prstGeom>
          <a:noFill/>
          <a:ln/>
        </p:spPr>
        <p:txBody>
          <a:bodyPr wrap="square" lIns="0" tIns="0" rIns="0" bIns="0" rtlCol="0" anchor="ctr"/>
          <a:lstStyle/>
          <a:p>
            <a:pPr marL="0" indent="0" algn="ctr">
              <a:buNone/>
            </a:pPr>
            <a:r>
              <a:rPr lang="en-US" sz="1400" b="1" dirty="0">
                <a:solidFill>
                  <a:srgbClr val="2D394F"/>
                </a:solidFill>
              </a:rPr>
              <a:t>01</a:t>
            </a:r>
            <a:endParaRPr lang="en-US" sz="1400" dirty="0"/>
          </a:p>
        </p:txBody>
      </p:sp>
      <p:sp>
        <p:nvSpPr>
          <p:cNvPr id="7" name="Text 5"/>
          <p:cNvSpPr/>
          <p:nvPr/>
        </p:nvSpPr>
        <p:spPr>
          <a:xfrm>
            <a:off x="960120" y="1188720"/>
            <a:ext cx="3749040" cy="274320"/>
          </a:xfrm>
          <a:prstGeom prst="rect">
            <a:avLst/>
          </a:prstGeom>
          <a:noFill/>
          <a:ln/>
        </p:spPr>
        <p:txBody>
          <a:bodyPr wrap="square" lIns="0" tIns="0" rIns="0" bIns="0" rtlCol="0" anchor="ctr"/>
          <a:lstStyle/>
          <a:p>
            <a:pPr marL="0" indent="0">
              <a:buNone/>
            </a:pPr>
            <a:r>
              <a:rPr lang="en-US" sz="1200" b="1" dirty="0">
                <a:solidFill>
                  <a:srgbClr val="2D394F"/>
                </a:solidFill>
              </a:rPr>
              <a:t>Why Memory Dominates LLM Inference</a:t>
            </a:r>
            <a:endParaRPr lang="en-US" sz="1200" dirty="0"/>
          </a:p>
        </p:txBody>
      </p:sp>
      <p:sp>
        <p:nvSpPr>
          <p:cNvPr id="8" name="Text 6"/>
          <p:cNvSpPr/>
          <p:nvPr/>
        </p:nvSpPr>
        <p:spPr>
          <a:xfrm>
            <a:off x="960120" y="1463040"/>
            <a:ext cx="3749040" cy="274320"/>
          </a:xfrm>
          <a:prstGeom prst="rect">
            <a:avLst/>
          </a:prstGeom>
          <a:noFill/>
          <a:ln/>
        </p:spPr>
        <p:txBody>
          <a:bodyPr wrap="square" lIns="0" tIns="0" rIns="0" bIns="0" rtlCol="0" anchor="ctr"/>
          <a:lstStyle/>
          <a:p>
            <a:pPr marL="0" indent="0">
              <a:buNone/>
            </a:pPr>
            <a:r>
              <a:rPr lang="en-US" sz="900" dirty="0">
                <a:solidFill>
                  <a:srgbClr val="636F86"/>
                </a:solidFill>
              </a:rPr>
              <a:t>Bandwidth analysis · Arithmetic intensity · Memory-bound reality</a:t>
            </a:r>
            <a:endParaRPr lang="en-US" sz="900" dirty="0"/>
          </a:p>
        </p:txBody>
      </p:sp>
      <p:sp>
        <p:nvSpPr>
          <p:cNvPr id="9" name="Shape 7"/>
          <p:cNvSpPr/>
          <p:nvPr/>
        </p:nvSpPr>
        <p:spPr>
          <a:xfrm>
            <a:off x="320040" y="2103120"/>
            <a:ext cx="548640" cy="548640"/>
          </a:xfrm>
          <a:prstGeom prst="rect">
            <a:avLst/>
          </a:prstGeom>
          <a:solidFill>
            <a:srgbClr val="EEEAF8"/>
          </a:solidFill>
          <a:ln w="12700">
            <a:solidFill>
              <a:srgbClr val="8A7AC8"/>
            </a:solidFill>
            <a:prstDash val="solid"/>
          </a:ln>
        </p:spPr>
        <p:txBody>
          <a:bodyPr/>
          <a:lstStyle/>
          <a:p>
            <a:endParaRPr/>
          </a:p>
        </p:txBody>
      </p:sp>
      <p:sp>
        <p:nvSpPr>
          <p:cNvPr id="10" name="Text 8"/>
          <p:cNvSpPr/>
          <p:nvPr/>
        </p:nvSpPr>
        <p:spPr>
          <a:xfrm>
            <a:off x="320040" y="2103120"/>
            <a:ext cx="548640" cy="548640"/>
          </a:xfrm>
          <a:prstGeom prst="rect">
            <a:avLst/>
          </a:prstGeom>
          <a:noFill/>
          <a:ln/>
        </p:spPr>
        <p:txBody>
          <a:bodyPr wrap="square" lIns="0" tIns="0" rIns="0" bIns="0" rtlCol="0" anchor="ctr"/>
          <a:lstStyle/>
          <a:p>
            <a:pPr marL="0" indent="0" algn="ctr">
              <a:buNone/>
            </a:pPr>
            <a:r>
              <a:rPr lang="en-US" sz="1400" b="1" dirty="0">
                <a:solidFill>
                  <a:srgbClr val="2D394F"/>
                </a:solidFill>
              </a:rPr>
              <a:t>02</a:t>
            </a:r>
            <a:endParaRPr lang="en-US" sz="1400" dirty="0"/>
          </a:p>
        </p:txBody>
      </p:sp>
      <p:sp>
        <p:nvSpPr>
          <p:cNvPr id="11" name="Text 9"/>
          <p:cNvSpPr/>
          <p:nvPr/>
        </p:nvSpPr>
        <p:spPr>
          <a:xfrm>
            <a:off x="960120" y="2103120"/>
            <a:ext cx="3749040" cy="274320"/>
          </a:xfrm>
          <a:prstGeom prst="rect">
            <a:avLst/>
          </a:prstGeom>
          <a:noFill/>
          <a:ln/>
        </p:spPr>
        <p:txBody>
          <a:bodyPr wrap="square" lIns="0" tIns="0" rIns="0" bIns="0" rtlCol="0" anchor="ctr"/>
          <a:lstStyle/>
          <a:p>
            <a:pPr marL="0" indent="0">
              <a:buNone/>
            </a:pPr>
            <a:r>
              <a:rPr lang="en-US" sz="1200" b="1" dirty="0">
                <a:solidFill>
                  <a:srgbClr val="2D394F"/>
                </a:solidFill>
              </a:rPr>
              <a:t>3-Tier Architecture Design</a:t>
            </a:r>
            <a:endParaRPr lang="en-US" sz="1200" dirty="0"/>
          </a:p>
        </p:txBody>
      </p:sp>
      <p:sp>
        <p:nvSpPr>
          <p:cNvPr id="12" name="Text 10"/>
          <p:cNvSpPr/>
          <p:nvPr/>
        </p:nvSpPr>
        <p:spPr>
          <a:xfrm>
            <a:off x="960120" y="2377440"/>
            <a:ext cx="3749040" cy="274320"/>
          </a:xfrm>
          <a:prstGeom prst="rect">
            <a:avLst/>
          </a:prstGeom>
          <a:noFill/>
          <a:ln/>
        </p:spPr>
        <p:txBody>
          <a:bodyPr wrap="square" lIns="0" tIns="0" rIns="0" bIns="0" rtlCol="0" anchor="ctr"/>
          <a:lstStyle/>
          <a:p>
            <a:pPr marL="0" indent="0">
              <a:buNone/>
            </a:pPr>
            <a:r>
              <a:rPr lang="en-US" sz="900" dirty="0">
                <a:solidFill>
                  <a:srgbClr val="636F86"/>
                </a:solidFill>
              </a:rPr>
              <a:t>SRAM · GPU HBM · Host DRAM · Placement rules · Migration policy</a:t>
            </a:r>
            <a:endParaRPr lang="en-US" sz="900" dirty="0"/>
          </a:p>
        </p:txBody>
      </p:sp>
      <p:sp>
        <p:nvSpPr>
          <p:cNvPr id="13" name="Shape 11"/>
          <p:cNvSpPr/>
          <p:nvPr/>
        </p:nvSpPr>
        <p:spPr>
          <a:xfrm>
            <a:off x="320040" y="3017520"/>
            <a:ext cx="548640" cy="548640"/>
          </a:xfrm>
          <a:prstGeom prst="rect">
            <a:avLst/>
          </a:prstGeom>
          <a:solidFill>
            <a:srgbClr val="EEEAF8"/>
          </a:solidFill>
          <a:ln w="12700">
            <a:solidFill>
              <a:srgbClr val="8A7AC8"/>
            </a:solidFill>
            <a:prstDash val="solid"/>
          </a:ln>
        </p:spPr>
        <p:txBody>
          <a:bodyPr/>
          <a:lstStyle/>
          <a:p>
            <a:endParaRPr/>
          </a:p>
        </p:txBody>
      </p:sp>
      <p:sp>
        <p:nvSpPr>
          <p:cNvPr id="14" name="Text 12"/>
          <p:cNvSpPr/>
          <p:nvPr/>
        </p:nvSpPr>
        <p:spPr>
          <a:xfrm>
            <a:off x="320040" y="3017520"/>
            <a:ext cx="548640" cy="548640"/>
          </a:xfrm>
          <a:prstGeom prst="rect">
            <a:avLst/>
          </a:prstGeom>
          <a:noFill/>
          <a:ln/>
        </p:spPr>
        <p:txBody>
          <a:bodyPr wrap="square" lIns="0" tIns="0" rIns="0" bIns="0" rtlCol="0" anchor="ctr"/>
          <a:lstStyle/>
          <a:p>
            <a:pPr marL="0" indent="0" algn="ctr">
              <a:buNone/>
            </a:pPr>
            <a:r>
              <a:rPr lang="en-US" sz="1400" b="1" dirty="0">
                <a:solidFill>
                  <a:srgbClr val="2D394F"/>
                </a:solidFill>
              </a:rPr>
              <a:t>03</a:t>
            </a:r>
            <a:endParaRPr lang="en-US" sz="1400" dirty="0"/>
          </a:p>
        </p:txBody>
      </p:sp>
      <p:sp>
        <p:nvSpPr>
          <p:cNvPr id="15" name="Text 13"/>
          <p:cNvSpPr/>
          <p:nvPr/>
        </p:nvSpPr>
        <p:spPr>
          <a:xfrm>
            <a:off x="960120" y="3017520"/>
            <a:ext cx="3749040" cy="274320"/>
          </a:xfrm>
          <a:prstGeom prst="rect">
            <a:avLst/>
          </a:prstGeom>
          <a:noFill/>
          <a:ln/>
        </p:spPr>
        <p:txBody>
          <a:bodyPr wrap="square" lIns="0" tIns="0" rIns="0" bIns="0" rtlCol="0" anchor="ctr"/>
          <a:lstStyle/>
          <a:p>
            <a:pPr marL="0" indent="0">
              <a:buNone/>
            </a:pPr>
            <a:r>
              <a:rPr lang="en-US" sz="1200" b="1" dirty="0">
                <a:solidFill>
                  <a:srgbClr val="2D394F"/>
                </a:solidFill>
              </a:rPr>
              <a:t>PyTorch Instrumentation &amp; Validation</a:t>
            </a:r>
            <a:endParaRPr lang="en-US" sz="1200" dirty="0"/>
          </a:p>
        </p:txBody>
      </p:sp>
      <p:sp>
        <p:nvSpPr>
          <p:cNvPr id="16" name="Text 14"/>
          <p:cNvSpPr/>
          <p:nvPr/>
        </p:nvSpPr>
        <p:spPr>
          <a:xfrm>
            <a:off x="960120" y="3291840"/>
            <a:ext cx="3749040" cy="274320"/>
          </a:xfrm>
          <a:prstGeom prst="rect">
            <a:avLst/>
          </a:prstGeom>
          <a:noFill/>
          <a:ln/>
        </p:spPr>
        <p:txBody>
          <a:bodyPr wrap="square" lIns="0" tIns="0" rIns="0" bIns="0" rtlCol="0" anchor="ctr"/>
          <a:lstStyle/>
          <a:p>
            <a:pPr marL="0" indent="0">
              <a:buNone/>
            </a:pPr>
            <a:r>
              <a:rPr lang="en-US" sz="900" dirty="0">
                <a:solidFill>
                  <a:srgbClr val="636F86"/>
                </a:solidFill>
              </a:rPr>
              <a:t>Layer-level KV extraction · Formula validation · Real tensor sizes</a:t>
            </a:r>
            <a:endParaRPr lang="en-US" sz="900" dirty="0"/>
          </a:p>
        </p:txBody>
      </p:sp>
      <p:sp>
        <p:nvSpPr>
          <p:cNvPr id="17" name="Shape 15"/>
          <p:cNvSpPr/>
          <p:nvPr/>
        </p:nvSpPr>
        <p:spPr>
          <a:xfrm>
            <a:off x="320040" y="3931920"/>
            <a:ext cx="548640" cy="548640"/>
          </a:xfrm>
          <a:prstGeom prst="rect">
            <a:avLst/>
          </a:prstGeom>
          <a:solidFill>
            <a:srgbClr val="EEEAF8"/>
          </a:solidFill>
          <a:ln w="12700">
            <a:solidFill>
              <a:srgbClr val="8A7AC8"/>
            </a:solidFill>
            <a:prstDash val="solid"/>
          </a:ln>
        </p:spPr>
        <p:txBody>
          <a:bodyPr/>
          <a:lstStyle/>
          <a:p>
            <a:endParaRPr/>
          </a:p>
        </p:txBody>
      </p:sp>
      <p:sp>
        <p:nvSpPr>
          <p:cNvPr id="18" name="Text 16"/>
          <p:cNvSpPr/>
          <p:nvPr/>
        </p:nvSpPr>
        <p:spPr>
          <a:xfrm>
            <a:off x="320040" y="3931920"/>
            <a:ext cx="548640" cy="548640"/>
          </a:xfrm>
          <a:prstGeom prst="rect">
            <a:avLst/>
          </a:prstGeom>
          <a:noFill/>
          <a:ln/>
        </p:spPr>
        <p:txBody>
          <a:bodyPr wrap="square" lIns="0" tIns="0" rIns="0" bIns="0" rtlCol="0" anchor="ctr"/>
          <a:lstStyle/>
          <a:p>
            <a:pPr marL="0" indent="0" algn="ctr">
              <a:buNone/>
            </a:pPr>
            <a:r>
              <a:rPr lang="en-US" sz="1400" b="1" dirty="0">
                <a:solidFill>
                  <a:srgbClr val="2D394F"/>
                </a:solidFill>
              </a:rPr>
              <a:t>04</a:t>
            </a:r>
            <a:endParaRPr lang="en-US" sz="1400" dirty="0"/>
          </a:p>
        </p:txBody>
      </p:sp>
      <p:sp>
        <p:nvSpPr>
          <p:cNvPr id="19" name="Text 17"/>
          <p:cNvSpPr/>
          <p:nvPr/>
        </p:nvSpPr>
        <p:spPr>
          <a:xfrm>
            <a:off x="960120" y="3931920"/>
            <a:ext cx="3749040" cy="274320"/>
          </a:xfrm>
          <a:prstGeom prst="rect">
            <a:avLst/>
          </a:prstGeom>
          <a:noFill/>
          <a:ln/>
        </p:spPr>
        <p:txBody>
          <a:bodyPr wrap="square" lIns="0" tIns="0" rIns="0" bIns="0" rtlCol="0" anchor="ctr"/>
          <a:lstStyle/>
          <a:p>
            <a:pPr marL="0" indent="0">
              <a:buNone/>
            </a:pPr>
            <a:r>
              <a:rPr lang="en-US" sz="1200" b="1" dirty="0">
                <a:solidFill>
                  <a:srgbClr val="2D394F"/>
                </a:solidFill>
              </a:rPr>
              <a:t>ASEP — Our Novel Eviction Policy</a:t>
            </a:r>
            <a:endParaRPr lang="en-US" sz="1200" dirty="0"/>
          </a:p>
        </p:txBody>
      </p:sp>
      <p:sp>
        <p:nvSpPr>
          <p:cNvPr id="20" name="Text 18"/>
          <p:cNvSpPr/>
          <p:nvPr/>
        </p:nvSpPr>
        <p:spPr>
          <a:xfrm>
            <a:off x="960120" y="4206240"/>
            <a:ext cx="3749040" cy="274320"/>
          </a:xfrm>
          <a:prstGeom prst="rect">
            <a:avLst/>
          </a:prstGeom>
          <a:noFill/>
          <a:ln/>
        </p:spPr>
        <p:txBody>
          <a:bodyPr wrap="square" lIns="0" tIns="0" rIns="0" bIns="0" rtlCol="0" anchor="ctr"/>
          <a:lstStyle/>
          <a:p>
            <a:pPr marL="0" indent="0">
              <a:buNone/>
            </a:pPr>
            <a:r>
              <a:rPr lang="en-US" sz="900" dirty="0">
                <a:solidFill>
                  <a:srgbClr val="636F86"/>
                </a:solidFill>
              </a:rPr>
              <a:t>Attention-score-driven eviction · Dynamic vs. LRU comparison</a:t>
            </a:r>
            <a:endParaRPr lang="en-US" sz="900" dirty="0"/>
          </a:p>
        </p:txBody>
      </p:sp>
      <p:sp>
        <p:nvSpPr>
          <p:cNvPr id="21" name="Shape 19"/>
          <p:cNvSpPr/>
          <p:nvPr/>
        </p:nvSpPr>
        <p:spPr>
          <a:xfrm>
            <a:off x="4937760" y="1188720"/>
            <a:ext cx="548640" cy="548640"/>
          </a:xfrm>
          <a:prstGeom prst="rect">
            <a:avLst/>
          </a:prstGeom>
          <a:solidFill>
            <a:srgbClr val="E1F2EF"/>
          </a:solidFill>
          <a:ln w="12700">
            <a:solidFill>
              <a:srgbClr val="2C8C84"/>
            </a:solidFill>
            <a:prstDash val="solid"/>
          </a:ln>
        </p:spPr>
        <p:txBody>
          <a:bodyPr/>
          <a:lstStyle/>
          <a:p>
            <a:endParaRPr/>
          </a:p>
        </p:txBody>
      </p:sp>
      <p:sp>
        <p:nvSpPr>
          <p:cNvPr id="22" name="Text 20"/>
          <p:cNvSpPr/>
          <p:nvPr/>
        </p:nvSpPr>
        <p:spPr>
          <a:xfrm>
            <a:off x="4937760" y="1188720"/>
            <a:ext cx="548640" cy="548640"/>
          </a:xfrm>
          <a:prstGeom prst="rect">
            <a:avLst/>
          </a:prstGeom>
          <a:noFill/>
          <a:ln/>
        </p:spPr>
        <p:txBody>
          <a:bodyPr wrap="square" lIns="0" tIns="0" rIns="0" bIns="0" rtlCol="0" anchor="ctr"/>
          <a:lstStyle/>
          <a:p>
            <a:pPr marL="0" indent="0" algn="ctr">
              <a:buNone/>
            </a:pPr>
            <a:r>
              <a:rPr lang="en-US" sz="1400" b="1" dirty="0">
                <a:solidFill>
                  <a:srgbClr val="2D394F"/>
                </a:solidFill>
              </a:rPr>
              <a:t>05</a:t>
            </a:r>
            <a:endParaRPr lang="en-US" sz="1400" dirty="0"/>
          </a:p>
        </p:txBody>
      </p:sp>
      <p:sp>
        <p:nvSpPr>
          <p:cNvPr id="23" name="Text 21"/>
          <p:cNvSpPr/>
          <p:nvPr/>
        </p:nvSpPr>
        <p:spPr>
          <a:xfrm>
            <a:off x="5577840" y="1188720"/>
            <a:ext cx="3383280" cy="274320"/>
          </a:xfrm>
          <a:prstGeom prst="rect">
            <a:avLst/>
          </a:prstGeom>
          <a:noFill/>
          <a:ln/>
        </p:spPr>
        <p:txBody>
          <a:bodyPr wrap="square" lIns="0" tIns="0" rIns="0" bIns="0" rtlCol="0" anchor="ctr"/>
          <a:lstStyle/>
          <a:p>
            <a:pPr marL="0" indent="0">
              <a:buNone/>
            </a:pPr>
            <a:r>
              <a:rPr lang="en-US" sz="1200" b="1" dirty="0">
                <a:solidFill>
                  <a:srgbClr val="2D394F"/>
                </a:solidFill>
              </a:rPr>
              <a:t>Memory-Centric Optimizations (×3)</a:t>
            </a:r>
            <a:endParaRPr lang="en-US" sz="1200" dirty="0"/>
          </a:p>
        </p:txBody>
      </p:sp>
      <p:sp>
        <p:nvSpPr>
          <p:cNvPr id="24" name="Text 22"/>
          <p:cNvSpPr/>
          <p:nvPr/>
        </p:nvSpPr>
        <p:spPr>
          <a:xfrm>
            <a:off x="5577840" y="1463040"/>
            <a:ext cx="3383280" cy="274320"/>
          </a:xfrm>
          <a:prstGeom prst="rect">
            <a:avLst/>
          </a:prstGeom>
          <a:noFill/>
          <a:ln/>
        </p:spPr>
        <p:txBody>
          <a:bodyPr wrap="square" lIns="0" tIns="0" rIns="0" bIns="0" rtlCol="0" anchor="ctr"/>
          <a:lstStyle/>
          <a:p>
            <a:pPr marL="0" indent="0">
              <a:buNone/>
            </a:pPr>
            <a:r>
              <a:rPr lang="en-US" sz="900" dirty="0">
                <a:solidFill>
                  <a:srgbClr val="636F86"/>
                </a:solidFill>
              </a:rPr>
              <a:t>KV compression · Attention windowing · Operator fusion</a:t>
            </a:r>
            <a:endParaRPr lang="en-US" sz="900" dirty="0"/>
          </a:p>
        </p:txBody>
      </p:sp>
      <p:sp>
        <p:nvSpPr>
          <p:cNvPr id="25" name="Shape 23"/>
          <p:cNvSpPr/>
          <p:nvPr/>
        </p:nvSpPr>
        <p:spPr>
          <a:xfrm>
            <a:off x="4937760" y="2103120"/>
            <a:ext cx="548640" cy="548640"/>
          </a:xfrm>
          <a:prstGeom prst="rect">
            <a:avLst/>
          </a:prstGeom>
          <a:solidFill>
            <a:srgbClr val="E1F2EF"/>
          </a:solidFill>
          <a:ln w="12700">
            <a:solidFill>
              <a:srgbClr val="2C8C84"/>
            </a:solidFill>
            <a:prstDash val="solid"/>
          </a:ln>
        </p:spPr>
        <p:txBody>
          <a:bodyPr/>
          <a:lstStyle/>
          <a:p>
            <a:endParaRPr/>
          </a:p>
        </p:txBody>
      </p:sp>
      <p:sp>
        <p:nvSpPr>
          <p:cNvPr id="26" name="Text 24"/>
          <p:cNvSpPr/>
          <p:nvPr/>
        </p:nvSpPr>
        <p:spPr>
          <a:xfrm>
            <a:off x="4937760" y="2103120"/>
            <a:ext cx="548640" cy="548640"/>
          </a:xfrm>
          <a:prstGeom prst="rect">
            <a:avLst/>
          </a:prstGeom>
          <a:noFill/>
          <a:ln/>
        </p:spPr>
        <p:txBody>
          <a:bodyPr wrap="square" lIns="0" tIns="0" rIns="0" bIns="0" rtlCol="0" anchor="ctr"/>
          <a:lstStyle/>
          <a:p>
            <a:pPr marL="0" indent="0" algn="ctr">
              <a:buNone/>
            </a:pPr>
            <a:r>
              <a:rPr lang="en-US" sz="1400" b="1" dirty="0">
                <a:solidFill>
                  <a:srgbClr val="2D394F"/>
                </a:solidFill>
              </a:rPr>
              <a:t>06</a:t>
            </a:r>
            <a:endParaRPr lang="en-US" sz="1400" dirty="0"/>
          </a:p>
        </p:txBody>
      </p:sp>
      <p:sp>
        <p:nvSpPr>
          <p:cNvPr id="27" name="Text 25"/>
          <p:cNvSpPr/>
          <p:nvPr/>
        </p:nvSpPr>
        <p:spPr>
          <a:xfrm>
            <a:off x="5577840" y="2103120"/>
            <a:ext cx="3383280" cy="274320"/>
          </a:xfrm>
          <a:prstGeom prst="rect">
            <a:avLst/>
          </a:prstGeom>
          <a:noFill/>
          <a:ln/>
        </p:spPr>
        <p:txBody>
          <a:bodyPr wrap="square" lIns="0" tIns="0" rIns="0" bIns="0" rtlCol="0" anchor="ctr"/>
          <a:lstStyle/>
          <a:p>
            <a:pPr marL="0" indent="0">
              <a:buNone/>
            </a:pPr>
            <a:r>
              <a:rPr lang="en-US" sz="1200" b="1" dirty="0">
                <a:solidFill>
                  <a:srgbClr val="2D394F"/>
                </a:solidFill>
              </a:rPr>
              <a:t>Performance &amp; Energy Modeling</a:t>
            </a:r>
            <a:endParaRPr lang="en-US" sz="1200" dirty="0"/>
          </a:p>
        </p:txBody>
      </p:sp>
      <p:sp>
        <p:nvSpPr>
          <p:cNvPr id="28" name="Text 26"/>
          <p:cNvSpPr/>
          <p:nvPr/>
        </p:nvSpPr>
        <p:spPr>
          <a:xfrm>
            <a:off x="5577840" y="2377440"/>
            <a:ext cx="3383280" cy="274320"/>
          </a:xfrm>
          <a:prstGeom prst="rect">
            <a:avLst/>
          </a:prstGeom>
          <a:noFill/>
          <a:ln/>
        </p:spPr>
        <p:txBody>
          <a:bodyPr wrap="square" lIns="0" tIns="0" rIns="0" bIns="0" rtlCol="0" anchor="ctr"/>
          <a:lstStyle/>
          <a:p>
            <a:pPr marL="0" indent="0">
              <a:buNone/>
            </a:pPr>
            <a:r>
              <a:rPr lang="en-US" sz="900" dirty="0">
                <a:solidFill>
                  <a:srgbClr val="636F86"/>
                </a:solidFill>
              </a:rPr>
              <a:t>Roofline model · Energy per token · Controlled experiment results</a:t>
            </a:r>
            <a:endParaRPr lang="en-US" sz="900" dirty="0"/>
          </a:p>
        </p:txBody>
      </p:sp>
      <p:sp>
        <p:nvSpPr>
          <p:cNvPr id="29" name="Shape 27"/>
          <p:cNvSpPr/>
          <p:nvPr/>
        </p:nvSpPr>
        <p:spPr>
          <a:xfrm>
            <a:off x="4937760" y="3017520"/>
            <a:ext cx="548640" cy="548640"/>
          </a:xfrm>
          <a:prstGeom prst="rect">
            <a:avLst/>
          </a:prstGeom>
          <a:solidFill>
            <a:srgbClr val="E1F2EF"/>
          </a:solidFill>
          <a:ln w="12700">
            <a:solidFill>
              <a:srgbClr val="2C8C84"/>
            </a:solidFill>
            <a:prstDash val="solid"/>
          </a:ln>
        </p:spPr>
        <p:txBody>
          <a:bodyPr/>
          <a:lstStyle/>
          <a:p>
            <a:endParaRPr/>
          </a:p>
        </p:txBody>
      </p:sp>
      <p:sp>
        <p:nvSpPr>
          <p:cNvPr id="30" name="Text 28"/>
          <p:cNvSpPr/>
          <p:nvPr/>
        </p:nvSpPr>
        <p:spPr>
          <a:xfrm>
            <a:off x="4937760" y="3017520"/>
            <a:ext cx="548640" cy="548640"/>
          </a:xfrm>
          <a:prstGeom prst="rect">
            <a:avLst/>
          </a:prstGeom>
          <a:noFill/>
          <a:ln/>
        </p:spPr>
        <p:txBody>
          <a:bodyPr wrap="square" lIns="0" tIns="0" rIns="0" bIns="0" rtlCol="0" anchor="ctr"/>
          <a:lstStyle/>
          <a:p>
            <a:pPr marL="0" indent="0" algn="ctr">
              <a:buNone/>
            </a:pPr>
            <a:r>
              <a:rPr lang="en-US" sz="1400" b="1" dirty="0">
                <a:solidFill>
                  <a:srgbClr val="2D394F"/>
                </a:solidFill>
              </a:rPr>
              <a:t>07</a:t>
            </a:r>
            <a:endParaRPr lang="en-US" sz="1400" dirty="0"/>
          </a:p>
        </p:txBody>
      </p:sp>
      <p:sp>
        <p:nvSpPr>
          <p:cNvPr id="31" name="Text 29"/>
          <p:cNvSpPr/>
          <p:nvPr/>
        </p:nvSpPr>
        <p:spPr>
          <a:xfrm>
            <a:off x="5577840" y="3017520"/>
            <a:ext cx="3383280" cy="274320"/>
          </a:xfrm>
          <a:prstGeom prst="rect">
            <a:avLst/>
          </a:prstGeom>
          <a:noFill/>
          <a:ln/>
        </p:spPr>
        <p:txBody>
          <a:bodyPr wrap="square" lIns="0" tIns="0" rIns="0" bIns="0" rtlCol="0" anchor="ctr"/>
          <a:lstStyle/>
          <a:p>
            <a:pPr marL="0" indent="0">
              <a:buNone/>
            </a:pPr>
            <a:r>
              <a:rPr lang="en-US" sz="1200" b="1" dirty="0">
                <a:solidFill>
                  <a:srgbClr val="2D394F"/>
                </a:solidFill>
              </a:rPr>
              <a:t>Conclusions &amp; Future Work</a:t>
            </a:r>
            <a:endParaRPr lang="en-US" sz="1200" dirty="0"/>
          </a:p>
        </p:txBody>
      </p:sp>
      <p:sp>
        <p:nvSpPr>
          <p:cNvPr id="32" name="Text 30"/>
          <p:cNvSpPr/>
          <p:nvPr/>
        </p:nvSpPr>
        <p:spPr>
          <a:xfrm>
            <a:off x="5577840" y="3291840"/>
            <a:ext cx="3383280" cy="274320"/>
          </a:xfrm>
          <a:prstGeom prst="rect">
            <a:avLst/>
          </a:prstGeom>
          <a:noFill/>
          <a:ln/>
        </p:spPr>
        <p:txBody>
          <a:bodyPr wrap="square" lIns="0" tIns="0" rIns="0" bIns="0" rtlCol="0" anchor="ctr"/>
          <a:lstStyle/>
          <a:p>
            <a:pPr marL="0" indent="0">
              <a:buNone/>
            </a:pPr>
            <a:r>
              <a:rPr lang="en-US" sz="900" dirty="0">
                <a:solidFill>
                  <a:srgbClr val="636F86"/>
                </a:solidFill>
              </a:rPr>
              <a:t>Contributions · Limitations · Hardware validation path</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4A256"/>
          </a:solidFill>
          <a:ln/>
        </p:spPr>
        <p:txBody>
          <a:bodyPr/>
          <a:lstStyle/>
          <a:p>
            <a:endParaRPr/>
          </a:p>
        </p:txBody>
      </p:sp>
      <p:sp>
        <p:nvSpPr>
          <p:cNvPr id="3" name="Text 1"/>
          <p:cNvSpPr/>
          <p:nvPr/>
        </p:nvSpPr>
        <p:spPr>
          <a:xfrm>
            <a:off x="320040" y="164592"/>
            <a:ext cx="8503920" cy="411480"/>
          </a:xfrm>
          <a:prstGeom prst="rect">
            <a:avLst/>
          </a:prstGeom>
          <a:noFill/>
          <a:ln/>
        </p:spPr>
        <p:txBody>
          <a:bodyPr wrap="square" rtlCol="0" anchor="ctr"/>
          <a:lstStyle/>
          <a:p>
            <a:pPr marL="0" indent="0">
              <a:buNone/>
            </a:pPr>
            <a:r>
              <a:rPr lang="en-US" sz="2000" b="1" kern="0" spc="200" dirty="0">
                <a:solidFill>
                  <a:srgbClr val="D4A256"/>
                </a:solidFill>
              </a:rPr>
              <a:t>WHY MEMORY DOMINATES LLM INFERENCE</a:t>
            </a:r>
            <a:endParaRPr lang="en-US" sz="2000" dirty="0"/>
          </a:p>
        </p:txBody>
      </p:sp>
      <p:sp>
        <p:nvSpPr>
          <p:cNvPr id="4" name="Text 2"/>
          <p:cNvSpPr/>
          <p:nvPr/>
        </p:nvSpPr>
        <p:spPr>
          <a:xfrm>
            <a:off x="320040" y="548640"/>
            <a:ext cx="8503920" cy="256032"/>
          </a:xfrm>
          <a:prstGeom prst="rect">
            <a:avLst/>
          </a:prstGeom>
          <a:noFill/>
          <a:ln/>
        </p:spPr>
        <p:txBody>
          <a:bodyPr wrap="square" rtlCol="0" anchor="ctr"/>
          <a:lstStyle/>
          <a:p>
            <a:pPr marL="0" indent="0">
              <a:buNone/>
            </a:pPr>
            <a:r>
              <a:rPr lang="en-US" sz="1000" dirty="0">
                <a:solidFill>
                  <a:srgbClr val="636F86"/>
                </a:solidFill>
              </a:rPr>
              <a:t>01 — Background &amp; Motivation</a:t>
            </a:r>
            <a:endParaRPr lang="en-US" sz="1000" dirty="0"/>
          </a:p>
        </p:txBody>
      </p:sp>
      <p:sp>
        <p:nvSpPr>
          <p:cNvPr id="5" name="Shape 3"/>
          <p:cNvSpPr/>
          <p:nvPr/>
        </p:nvSpPr>
        <p:spPr>
          <a:xfrm>
            <a:off x="274320" y="960120"/>
            <a:ext cx="2743200" cy="1874520"/>
          </a:xfrm>
          <a:prstGeom prst="rect">
            <a:avLst/>
          </a:prstGeom>
          <a:solidFill>
            <a:srgbClr val="FFFFFF"/>
          </a:solidFill>
          <a:ln w="19050">
            <a:solidFill>
              <a:srgbClr val="D4A256"/>
            </a:solidFill>
            <a:prstDash val="solid"/>
          </a:ln>
        </p:spPr>
        <p:txBody>
          <a:bodyPr/>
          <a:lstStyle/>
          <a:p>
            <a:endParaRPr/>
          </a:p>
        </p:txBody>
      </p:sp>
      <p:sp>
        <p:nvSpPr>
          <p:cNvPr id="6" name="Shape 4"/>
          <p:cNvSpPr/>
          <p:nvPr/>
        </p:nvSpPr>
        <p:spPr>
          <a:xfrm>
            <a:off x="274320" y="960120"/>
            <a:ext cx="2743200" cy="411480"/>
          </a:xfrm>
          <a:prstGeom prst="rect">
            <a:avLst/>
          </a:prstGeom>
          <a:solidFill>
            <a:srgbClr val="F7ECDA"/>
          </a:solidFill>
          <a:ln/>
        </p:spPr>
        <p:txBody>
          <a:bodyPr/>
          <a:lstStyle/>
          <a:p>
            <a:endParaRPr/>
          </a:p>
        </p:txBody>
      </p:sp>
      <p:sp>
        <p:nvSpPr>
          <p:cNvPr id="7" name="Text 5"/>
          <p:cNvSpPr/>
          <p:nvPr/>
        </p:nvSpPr>
        <p:spPr>
          <a:xfrm>
            <a:off x="274320" y="960120"/>
            <a:ext cx="2743200" cy="411480"/>
          </a:xfrm>
          <a:prstGeom prst="rect">
            <a:avLst/>
          </a:prstGeom>
          <a:noFill/>
          <a:ln/>
        </p:spPr>
        <p:txBody>
          <a:bodyPr wrap="square" lIns="0" tIns="0" rIns="0" bIns="0" rtlCol="0" anchor="ctr"/>
          <a:lstStyle/>
          <a:p>
            <a:pPr marL="0" indent="0" algn="ctr">
              <a:buNone/>
            </a:pPr>
            <a:r>
              <a:rPr lang="en-US" sz="1300" b="1" dirty="0">
                <a:solidFill>
                  <a:srgbClr val="2D394F"/>
                </a:solidFill>
              </a:rPr>
              <a:t>WEIGHTS</a:t>
            </a:r>
            <a:endParaRPr lang="en-US" sz="1300" dirty="0"/>
          </a:p>
        </p:txBody>
      </p:sp>
      <p:sp>
        <p:nvSpPr>
          <p:cNvPr id="8" name="Text 6"/>
          <p:cNvSpPr/>
          <p:nvPr/>
        </p:nvSpPr>
        <p:spPr>
          <a:xfrm>
            <a:off x="365760" y="1435608"/>
            <a:ext cx="2560320" cy="1325880"/>
          </a:xfrm>
          <a:prstGeom prst="rect">
            <a:avLst/>
          </a:prstGeom>
          <a:noFill/>
          <a:ln/>
        </p:spPr>
        <p:txBody>
          <a:bodyPr wrap="square" rtlCol="0" anchor="ctr"/>
          <a:lstStyle/>
          <a:p>
            <a:pPr marL="0" indent="0">
              <a:buNone/>
            </a:pPr>
            <a:r>
              <a:rPr lang="en-US" sz="1050" dirty="0">
                <a:solidFill>
                  <a:srgbClr val="2D394F"/>
                </a:solidFill>
              </a:rPr>
              <a:t>Billions of parameters re-read from HBM on every decode step.</a:t>
            </a:r>
            <a:endParaRPr lang="en-US" sz="1050" dirty="0"/>
          </a:p>
          <a:p>
            <a:pPr marL="0" indent="0">
              <a:buNone/>
            </a:pPr>
            <a:r>
              <a:rPr lang="en-US" sz="1050" dirty="0">
                <a:solidFill>
                  <a:srgbClr val="2D394F"/>
                </a:solidFill>
              </a:rPr>
              <a:t>Read-only but always freshly fetched — 576 MB/step for GPT-2 Medium.</a:t>
            </a:r>
            <a:endParaRPr lang="en-US" sz="1050" dirty="0"/>
          </a:p>
        </p:txBody>
      </p:sp>
      <p:sp>
        <p:nvSpPr>
          <p:cNvPr id="9" name="Shape 7"/>
          <p:cNvSpPr/>
          <p:nvPr/>
        </p:nvSpPr>
        <p:spPr>
          <a:xfrm>
            <a:off x="3200400" y="960120"/>
            <a:ext cx="2743200" cy="1874520"/>
          </a:xfrm>
          <a:prstGeom prst="rect">
            <a:avLst/>
          </a:prstGeom>
          <a:solidFill>
            <a:srgbClr val="FFFFFF"/>
          </a:solidFill>
          <a:ln w="19050">
            <a:solidFill>
              <a:srgbClr val="D4A256"/>
            </a:solidFill>
            <a:prstDash val="solid"/>
          </a:ln>
        </p:spPr>
        <p:txBody>
          <a:bodyPr/>
          <a:lstStyle/>
          <a:p>
            <a:endParaRPr/>
          </a:p>
        </p:txBody>
      </p:sp>
      <p:sp>
        <p:nvSpPr>
          <p:cNvPr id="10" name="Shape 8"/>
          <p:cNvSpPr/>
          <p:nvPr/>
        </p:nvSpPr>
        <p:spPr>
          <a:xfrm>
            <a:off x="3200400" y="960120"/>
            <a:ext cx="2743200" cy="411480"/>
          </a:xfrm>
          <a:prstGeom prst="rect">
            <a:avLst/>
          </a:prstGeom>
          <a:solidFill>
            <a:srgbClr val="F7ECDA"/>
          </a:solidFill>
          <a:ln/>
        </p:spPr>
        <p:txBody>
          <a:bodyPr/>
          <a:lstStyle/>
          <a:p>
            <a:endParaRPr/>
          </a:p>
        </p:txBody>
      </p:sp>
      <p:sp>
        <p:nvSpPr>
          <p:cNvPr id="11" name="Text 9"/>
          <p:cNvSpPr/>
          <p:nvPr/>
        </p:nvSpPr>
        <p:spPr>
          <a:xfrm>
            <a:off x="3200400" y="960120"/>
            <a:ext cx="2743200" cy="411480"/>
          </a:xfrm>
          <a:prstGeom prst="rect">
            <a:avLst/>
          </a:prstGeom>
          <a:noFill/>
          <a:ln/>
        </p:spPr>
        <p:txBody>
          <a:bodyPr wrap="square" lIns="0" tIns="0" rIns="0" bIns="0" rtlCol="0" anchor="ctr"/>
          <a:lstStyle/>
          <a:p>
            <a:pPr marL="0" indent="0" algn="ctr">
              <a:buNone/>
            </a:pPr>
            <a:r>
              <a:rPr lang="en-US" sz="1300" b="1" dirty="0">
                <a:solidFill>
                  <a:srgbClr val="2D394F"/>
                </a:solidFill>
              </a:rPr>
              <a:t>KV CACHE</a:t>
            </a:r>
            <a:endParaRPr lang="en-US" sz="1300" dirty="0"/>
          </a:p>
        </p:txBody>
      </p:sp>
      <p:sp>
        <p:nvSpPr>
          <p:cNvPr id="12" name="Text 10"/>
          <p:cNvSpPr/>
          <p:nvPr/>
        </p:nvSpPr>
        <p:spPr>
          <a:xfrm>
            <a:off x="3291840" y="1435608"/>
            <a:ext cx="2560320" cy="1325880"/>
          </a:xfrm>
          <a:prstGeom prst="rect">
            <a:avLst/>
          </a:prstGeom>
          <a:noFill/>
          <a:ln/>
        </p:spPr>
        <p:txBody>
          <a:bodyPr wrap="square" rtlCol="0" anchor="ctr"/>
          <a:lstStyle/>
          <a:p>
            <a:pPr marL="0" indent="0">
              <a:buNone/>
            </a:pPr>
            <a:r>
              <a:rPr lang="en-US" sz="1050" dirty="0">
                <a:solidFill>
                  <a:srgbClr val="2D394F"/>
                </a:solidFill>
              </a:rPr>
              <a:t>Grows linearly: context length × layers × heads × 2.</a:t>
            </a:r>
            <a:endParaRPr lang="en-US" sz="1050" dirty="0"/>
          </a:p>
          <a:p>
            <a:pPr marL="0" indent="0">
              <a:buNone/>
            </a:pPr>
            <a:r>
              <a:rPr lang="en-US" sz="1050" dirty="0">
                <a:solidFill>
                  <a:srgbClr val="2D394F"/>
                </a:solidFill>
              </a:rPr>
              <a:t>GPT-2 Medium: 96 KB/token → 96 MB at seq=1024.</a:t>
            </a:r>
            <a:endParaRPr lang="en-US" sz="1050" dirty="0"/>
          </a:p>
        </p:txBody>
      </p:sp>
      <p:sp>
        <p:nvSpPr>
          <p:cNvPr id="13" name="Shape 11"/>
          <p:cNvSpPr/>
          <p:nvPr/>
        </p:nvSpPr>
        <p:spPr>
          <a:xfrm>
            <a:off x="6126480" y="960120"/>
            <a:ext cx="2743200" cy="1874520"/>
          </a:xfrm>
          <a:prstGeom prst="rect">
            <a:avLst/>
          </a:prstGeom>
          <a:solidFill>
            <a:srgbClr val="FFFFFF"/>
          </a:solidFill>
          <a:ln w="19050">
            <a:solidFill>
              <a:srgbClr val="2C8C84"/>
            </a:solidFill>
            <a:prstDash val="solid"/>
          </a:ln>
        </p:spPr>
        <p:txBody>
          <a:bodyPr/>
          <a:lstStyle/>
          <a:p>
            <a:endParaRPr/>
          </a:p>
        </p:txBody>
      </p:sp>
      <p:sp>
        <p:nvSpPr>
          <p:cNvPr id="14" name="Shape 12"/>
          <p:cNvSpPr/>
          <p:nvPr/>
        </p:nvSpPr>
        <p:spPr>
          <a:xfrm>
            <a:off x="6126480" y="960120"/>
            <a:ext cx="2743200" cy="411480"/>
          </a:xfrm>
          <a:prstGeom prst="rect">
            <a:avLst/>
          </a:prstGeom>
          <a:solidFill>
            <a:srgbClr val="E1F2EF"/>
          </a:solidFill>
          <a:ln/>
        </p:spPr>
        <p:txBody>
          <a:bodyPr/>
          <a:lstStyle/>
          <a:p>
            <a:endParaRPr/>
          </a:p>
        </p:txBody>
      </p:sp>
      <p:sp>
        <p:nvSpPr>
          <p:cNvPr id="15" name="Text 13"/>
          <p:cNvSpPr/>
          <p:nvPr/>
        </p:nvSpPr>
        <p:spPr>
          <a:xfrm>
            <a:off x="6126480" y="960120"/>
            <a:ext cx="2743200" cy="411480"/>
          </a:xfrm>
          <a:prstGeom prst="rect">
            <a:avLst/>
          </a:prstGeom>
          <a:noFill/>
          <a:ln/>
        </p:spPr>
        <p:txBody>
          <a:bodyPr wrap="square" lIns="0" tIns="0" rIns="0" bIns="0" rtlCol="0" anchor="ctr"/>
          <a:lstStyle/>
          <a:p>
            <a:pPr marL="0" indent="0" algn="ctr">
              <a:buNone/>
            </a:pPr>
            <a:r>
              <a:rPr lang="en-US" sz="1300" b="1" dirty="0">
                <a:solidFill>
                  <a:srgbClr val="2D394F"/>
                </a:solidFill>
              </a:rPr>
              <a:t>ACTIVATIONS</a:t>
            </a:r>
            <a:endParaRPr lang="en-US" sz="1300" dirty="0"/>
          </a:p>
        </p:txBody>
      </p:sp>
      <p:sp>
        <p:nvSpPr>
          <p:cNvPr id="16" name="Text 14"/>
          <p:cNvSpPr/>
          <p:nvPr/>
        </p:nvSpPr>
        <p:spPr>
          <a:xfrm>
            <a:off x="6217920" y="1435608"/>
            <a:ext cx="2560320" cy="1325880"/>
          </a:xfrm>
          <a:prstGeom prst="rect">
            <a:avLst/>
          </a:prstGeom>
          <a:noFill/>
          <a:ln/>
        </p:spPr>
        <p:txBody>
          <a:bodyPr wrap="square" rtlCol="0" anchor="ctr"/>
          <a:lstStyle/>
          <a:p>
            <a:pPr marL="0" indent="0">
              <a:buNone/>
            </a:pPr>
            <a:r>
              <a:rPr lang="en-US" sz="1050" dirty="0">
                <a:solidFill>
                  <a:srgbClr val="2D394F"/>
                </a:solidFill>
              </a:rPr>
              <a:t>Short-lived but bandwidth-heavy.</a:t>
            </a:r>
            <a:endParaRPr lang="en-US" sz="1050" dirty="0"/>
          </a:p>
          <a:p>
            <a:pPr marL="0" indent="0">
              <a:buNone/>
            </a:pPr>
            <a:r>
              <a:rPr lang="en-US" sz="1050" dirty="0">
                <a:solidFill>
                  <a:srgbClr val="2D394F"/>
                </a:solidFill>
              </a:rPr>
              <a:t>Born and die within one forward pass — primary SRAM consumers.</a:t>
            </a:r>
            <a:endParaRPr lang="en-US" sz="1050" dirty="0"/>
          </a:p>
        </p:txBody>
      </p:sp>
      <p:sp>
        <p:nvSpPr>
          <p:cNvPr id="17" name="Shape 15"/>
          <p:cNvSpPr/>
          <p:nvPr/>
        </p:nvSpPr>
        <p:spPr>
          <a:xfrm>
            <a:off x="274320" y="2971800"/>
            <a:ext cx="8595360" cy="548640"/>
          </a:xfrm>
          <a:prstGeom prst="rect">
            <a:avLst/>
          </a:prstGeom>
          <a:solidFill>
            <a:srgbClr val="F7F1E8"/>
          </a:solidFill>
          <a:ln w="19050">
            <a:solidFill>
              <a:srgbClr val="2C8C84"/>
            </a:solidFill>
            <a:prstDash val="solid"/>
          </a:ln>
        </p:spPr>
        <p:txBody>
          <a:bodyPr/>
          <a:lstStyle/>
          <a:p>
            <a:endParaRPr/>
          </a:p>
        </p:txBody>
      </p:sp>
      <p:sp>
        <p:nvSpPr>
          <p:cNvPr id="18" name="Text 16"/>
          <p:cNvSpPr/>
          <p:nvPr/>
        </p:nvSpPr>
        <p:spPr>
          <a:xfrm>
            <a:off x="457200" y="3035808"/>
            <a:ext cx="1188720" cy="411480"/>
          </a:xfrm>
          <a:prstGeom prst="rect">
            <a:avLst/>
          </a:prstGeom>
          <a:noFill/>
          <a:ln/>
        </p:spPr>
        <p:txBody>
          <a:bodyPr wrap="square" lIns="0" tIns="0" rIns="0" bIns="0" rtlCol="0" anchor="ctr"/>
          <a:lstStyle/>
          <a:p>
            <a:pPr marL="0" indent="0">
              <a:buNone/>
            </a:pPr>
            <a:r>
              <a:rPr lang="en-US" sz="1100" b="1" dirty="0">
                <a:solidFill>
                  <a:srgbClr val="2C8C84"/>
                </a:solidFill>
              </a:rPr>
              <a:t>KEY INSIGHT: </a:t>
            </a:r>
            <a:endParaRPr lang="en-US" sz="1100" dirty="0"/>
          </a:p>
        </p:txBody>
      </p:sp>
      <p:sp>
        <p:nvSpPr>
          <p:cNvPr id="19" name="Text 17"/>
          <p:cNvSpPr/>
          <p:nvPr/>
        </p:nvSpPr>
        <p:spPr>
          <a:xfrm>
            <a:off x="1600200" y="3035808"/>
            <a:ext cx="7040880" cy="411480"/>
          </a:xfrm>
          <a:prstGeom prst="rect">
            <a:avLst/>
          </a:prstGeom>
          <a:noFill/>
          <a:ln/>
        </p:spPr>
        <p:txBody>
          <a:bodyPr wrap="square" lIns="0" tIns="0" rIns="0" bIns="0" rtlCol="0" anchor="ctr"/>
          <a:lstStyle/>
          <a:p>
            <a:pPr marL="0" indent="0">
              <a:buNone/>
            </a:pPr>
            <a:r>
              <a:rPr lang="en-US" sz="1100" i="1" dirty="0">
                <a:solidFill>
                  <a:srgbClr val="2D394F"/>
                </a:solidFill>
              </a:rPr>
              <a:t>Inference performance depends less on raw FLOPs and more on WHERE model state lives and HOW OFTEN it moves.</a:t>
            </a:r>
            <a:endParaRPr lang="en-US" sz="1100" dirty="0"/>
          </a:p>
        </p:txBody>
      </p:sp>
      <p:sp>
        <p:nvSpPr>
          <p:cNvPr id="20" name="Shape 18"/>
          <p:cNvSpPr/>
          <p:nvPr/>
        </p:nvSpPr>
        <p:spPr>
          <a:xfrm>
            <a:off x="274320" y="3657600"/>
            <a:ext cx="2057400" cy="1234440"/>
          </a:xfrm>
          <a:prstGeom prst="rect">
            <a:avLst/>
          </a:prstGeom>
          <a:solidFill>
            <a:srgbClr val="F7F1E8"/>
          </a:solidFill>
          <a:ln w="12700">
            <a:solidFill>
              <a:srgbClr val="B8BFD1"/>
            </a:solidFill>
            <a:prstDash val="solid"/>
          </a:ln>
        </p:spPr>
        <p:txBody>
          <a:bodyPr/>
          <a:lstStyle/>
          <a:p>
            <a:endParaRPr/>
          </a:p>
        </p:txBody>
      </p:sp>
      <p:sp>
        <p:nvSpPr>
          <p:cNvPr id="21" name="Text 19"/>
          <p:cNvSpPr/>
          <p:nvPr/>
        </p:nvSpPr>
        <p:spPr>
          <a:xfrm>
            <a:off x="274320" y="3730752"/>
            <a:ext cx="2057400" cy="502920"/>
          </a:xfrm>
          <a:prstGeom prst="rect">
            <a:avLst/>
          </a:prstGeom>
          <a:noFill/>
          <a:ln/>
        </p:spPr>
        <p:txBody>
          <a:bodyPr wrap="square" lIns="0" tIns="0" rIns="0" bIns="0" rtlCol="0" anchor="ctr"/>
          <a:lstStyle/>
          <a:p>
            <a:pPr marL="0" indent="0" algn="ctr">
              <a:buNone/>
            </a:pPr>
            <a:r>
              <a:rPr lang="en-US" sz="2600" b="1" dirty="0">
                <a:solidFill>
                  <a:srgbClr val="2C8C84"/>
                </a:solidFill>
              </a:rPr>
              <a:t>~31</a:t>
            </a:r>
            <a:endParaRPr lang="en-US" sz="2600" dirty="0"/>
          </a:p>
        </p:txBody>
      </p:sp>
      <p:sp>
        <p:nvSpPr>
          <p:cNvPr id="22" name="Text 20"/>
          <p:cNvSpPr/>
          <p:nvPr/>
        </p:nvSpPr>
        <p:spPr>
          <a:xfrm>
            <a:off x="274320" y="4206240"/>
            <a:ext cx="2057400" cy="201168"/>
          </a:xfrm>
          <a:prstGeom prst="rect">
            <a:avLst/>
          </a:prstGeom>
          <a:noFill/>
          <a:ln/>
        </p:spPr>
        <p:txBody>
          <a:bodyPr wrap="square" lIns="0" tIns="0" rIns="0" bIns="0" rtlCol="0" anchor="ctr"/>
          <a:lstStyle/>
          <a:p>
            <a:pPr marL="0" indent="0" algn="ctr">
              <a:buNone/>
            </a:pPr>
            <a:r>
              <a:rPr lang="en-US" sz="900" dirty="0">
                <a:solidFill>
                  <a:srgbClr val="D4A256"/>
                </a:solidFill>
              </a:rPr>
              <a:t>FLOP/byte</a:t>
            </a:r>
            <a:endParaRPr lang="en-US" sz="900" dirty="0"/>
          </a:p>
        </p:txBody>
      </p:sp>
      <p:sp>
        <p:nvSpPr>
          <p:cNvPr id="23" name="Text 21"/>
          <p:cNvSpPr/>
          <p:nvPr/>
        </p:nvSpPr>
        <p:spPr>
          <a:xfrm>
            <a:off x="274320" y="4416552"/>
            <a:ext cx="2057400" cy="365760"/>
          </a:xfrm>
          <a:prstGeom prst="rect">
            <a:avLst/>
          </a:prstGeom>
          <a:noFill/>
          <a:ln/>
        </p:spPr>
        <p:txBody>
          <a:bodyPr wrap="square" lIns="0" tIns="0" rIns="0" bIns="0" rtlCol="0" anchor="ctr"/>
          <a:lstStyle/>
          <a:p>
            <a:pPr marL="0" indent="0" algn="ctr">
              <a:buNone/>
            </a:pPr>
            <a:r>
              <a:rPr lang="en-US" sz="800" dirty="0">
                <a:solidFill>
                  <a:srgbClr val="636F86"/>
                </a:solidFill>
              </a:rPr>
              <a:t>Attention arithmetic</a:t>
            </a:r>
            <a:endParaRPr lang="en-US" sz="800" dirty="0"/>
          </a:p>
          <a:p>
            <a:pPr marL="0" indent="0" algn="ctr">
              <a:buNone/>
            </a:pPr>
            <a:r>
              <a:rPr lang="en-US" sz="800" dirty="0">
                <a:solidFill>
                  <a:srgbClr val="636F86"/>
                </a:solidFill>
              </a:rPr>
              <a:t>intensity (memory-bound)</a:t>
            </a:r>
            <a:endParaRPr lang="en-US" sz="800" dirty="0"/>
          </a:p>
        </p:txBody>
      </p:sp>
      <p:sp>
        <p:nvSpPr>
          <p:cNvPr id="24" name="Shape 22"/>
          <p:cNvSpPr/>
          <p:nvPr/>
        </p:nvSpPr>
        <p:spPr>
          <a:xfrm>
            <a:off x="2468880" y="3657600"/>
            <a:ext cx="2057400" cy="1234440"/>
          </a:xfrm>
          <a:prstGeom prst="rect">
            <a:avLst/>
          </a:prstGeom>
          <a:solidFill>
            <a:srgbClr val="F7F1E8"/>
          </a:solidFill>
          <a:ln w="12700">
            <a:solidFill>
              <a:srgbClr val="B8BFD1"/>
            </a:solidFill>
            <a:prstDash val="solid"/>
          </a:ln>
        </p:spPr>
        <p:txBody>
          <a:bodyPr/>
          <a:lstStyle/>
          <a:p>
            <a:endParaRPr/>
          </a:p>
        </p:txBody>
      </p:sp>
      <p:sp>
        <p:nvSpPr>
          <p:cNvPr id="25" name="Text 23"/>
          <p:cNvSpPr/>
          <p:nvPr/>
        </p:nvSpPr>
        <p:spPr>
          <a:xfrm>
            <a:off x="2468880" y="3730752"/>
            <a:ext cx="2057400" cy="502920"/>
          </a:xfrm>
          <a:prstGeom prst="rect">
            <a:avLst/>
          </a:prstGeom>
          <a:noFill/>
          <a:ln/>
        </p:spPr>
        <p:txBody>
          <a:bodyPr wrap="square" lIns="0" tIns="0" rIns="0" bIns="0" rtlCol="0" anchor="ctr"/>
          <a:lstStyle/>
          <a:p>
            <a:pPr marL="0" indent="0" algn="ctr">
              <a:buNone/>
            </a:pPr>
            <a:r>
              <a:rPr lang="en-US" sz="2600" b="1" dirty="0">
                <a:solidFill>
                  <a:srgbClr val="2C8C84"/>
                </a:solidFill>
              </a:rPr>
              <a:t>38×</a:t>
            </a:r>
            <a:endParaRPr lang="en-US" sz="2600" dirty="0"/>
          </a:p>
        </p:txBody>
      </p:sp>
      <p:sp>
        <p:nvSpPr>
          <p:cNvPr id="26" name="Text 24"/>
          <p:cNvSpPr/>
          <p:nvPr/>
        </p:nvSpPr>
        <p:spPr>
          <a:xfrm>
            <a:off x="2468880" y="4206240"/>
            <a:ext cx="2057400" cy="201168"/>
          </a:xfrm>
          <a:prstGeom prst="rect">
            <a:avLst/>
          </a:prstGeom>
          <a:noFill/>
          <a:ln/>
        </p:spPr>
        <p:txBody>
          <a:bodyPr wrap="square" lIns="0" tIns="0" rIns="0" bIns="0" rtlCol="0" anchor="ctr"/>
          <a:lstStyle/>
          <a:p>
            <a:pPr marL="0" indent="0" algn="ctr">
              <a:buNone/>
            </a:pPr>
            <a:r>
              <a:rPr lang="en-US" sz="900" dirty="0">
                <a:solidFill>
                  <a:srgbClr val="D4A256"/>
                </a:solidFill>
              </a:rPr>
              <a:t>more energy</a:t>
            </a:r>
            <a:endParaRPr lang="en-US" sz="900" dirty="0"/>
          </a:p>
        </p:txBody>
      </p:sp>
      <p:sp>
        <p:nvSpPr>
          <p:cNvPr id="27" name="Text 25"/>
          <p:cNvSpPr/>
          <p:nvPr/>
        </p:nvSpPr>
        <p:spPr>
          <a:xfrm>
            <a:off x="2468880" y="4416552"/>
            <a:ext cx="2057400" cy="365760"/>
          </a:xfrm>
          <a:prstGeom prst="rect">
            <a:avLst/>
          </a:prstGeom>
          <a:noFill/>
          <a:ln/>
        </p:spPr>
        <p:txBody>
          <a:bodyPr wrap="square" lIns="0" tIns="0" rIns="0" bIns="0" rtlCol="0" anchor="ctr"/>
          <a:lstStyle/>
          <a:p>
            <a:pPr marL="0" indent="0" algn="ctr">
              <a:buNone/>
            </a:pPr>
            <a:r>
              <a:rPr lang="en-US" sz="800" dirty="0">
                <a:solidFill>
                  <a:srgbClr val="636F86"/>
                </a:solidFill>
              </a:rPr>
              <a:t>Memory vs compute</a:t>
            </a:r>
            <a:endParaRPr lang="en-US" sz="800" dirty="0"/>
          </a:p>
          <a:p>
            <a:pPr marL="0" indent="0" algn="ctr">
              <a:buNone/>
            </a:pPr>
            <a:r>
              <a:rPr lang="en-US" sz="800" dirty="0">
                <a:solidFill>
                  <a:srgbClr val="636F86"/>
                </a:solidFill>
              </a:rPr>
              <a:t>per decode step</a:t>
            </a:r>
            <a:endParaRPr lang="en-US" sz="800" dirty="0"/>
          </a:p>
        </p:txBody>
      </p:sp>
      <p:sp>
        <p:nvSpPr>
          <p:cNvPr id="28" name="Shape 26"/>
          <p:cNvSpPr/>
          <p:nvPr/>
        </p:nvSpPr>
        <p:spPr>
          <a:xfrm>
            <a:off x="4663440" y="3657600"/>
            <a:ext cx="2057400" cy="1234440"/>
          </a:xfrm>
          <a:prstGeom prst="rect">
            <a:avLst/>
          </a:prstGeom>
          <a:solidFill>
            <a:srgbClr val="F7F1E8"/>
          </a:solidFill>
          <a:ln w="12700">
            <a:solidFill>
              <a:srgbClr val="B8BFD1"/>
            </a:solidFill>
            <a:prstDash val="solid"/>
          </a:ln>
        </p:spPr>
        <p:txBody>
          <a:bodyPr/>
          <a:lstStyle/>
          <a:p>
            <a:endParaRPr/>
          </a:p>
        </p:txBody>
      </p:sp>
      <p:sp>
        <p:nvSpPr>
          <p:cNvPr id="29" name="Text 27"/>
          <p:cNvSpPr/>
          <p:nvPr/>
        </p:nvSpPr>
        <p:spPr>
          <a:xfrm>
            <a:off x="4663440" y="3730752"/>
            <a:ext cx="2057400" cy="502920"/>
          </a:xfrm>
          <a:prstGeom prst="rect">
            <a:avLst/>
          </a:prstGeom>
          <a:noFill/>
          <a:ln/>
        </p:spPr>
        <p:txBody>
          <a:bodyPr wrap="square" lIns="0" tIns="0" rIns="0" bIns="0" rtlCol="0" anchor="ctr"/>
          <a:lstStyle/>
          <a:p>
            <a:pPr marL="0" indent="0" algn="ctr">
              <a:buNone/>
            </a:pPr>
            <a:r>
              <a:rPr lang="en-US" sz="2600" b="1" dirty="0">
                <a:solidFill>
                  <a:srgbClr val="2C8C84"/>
                </a:solidFill>
              </a:rPr>
              <a:t>96 KB</a:t>
            </a:r>
            <a:endParaRPr lang="en-US" sz="2600" dirty="0"/>
          </a:p>
        </p:txBody>
      </p:sp>
      <p:sp>
        <p:nvSpPr>
          <p:cNvPr id="30" name="Text 28"/>
          <p:cNvSpPr/>
          <p:nvPr/>
        </p:nvSpPr>
        <p:spPr>
          <a:xfrm>
            <a:off x="4663440" y="4206240"/>
            <a:ext cx="2057400" cy="201168"/>
          </a:xfrm>
          <a:prstGeom prst="rect">
            <a:avLst/>
          </a:prstGeom>
          <a:noFill/>
          <a:ln/>
        </p:spPr>
        <p:txBody>
          <a:bodyPr wrap="square" lIns="0" tIns="0" rIns="0" bIns="0" rtlCol="0" anchor="ctr"/>
          <a:lstStyle/>
          <a:p>
            <a:pPr marL="0" indent="0" algn="ctr">
              <a:buNone/>
            </a:pPr>
            <a:r>
              <a:rPr lang="en-US" sz="900" dirty="0">
                <a:solidFill>
                  <a:srgbClr val="D4A256"/>
                </a:solidFill>
              </a:rPr>
              <a:t>per token</a:t>
            </a:r>
            <a:endParaRPr lang="en-US" sz="900" dirty="0"/>
          </a:p>
        </p:txBody>
      </p:sp>
      <p:sp>
        <p:nvSpPr>
          <p:cNvPr id="31" name="Text 29"/>
          <p:cNvSpPr/>
          <p:nvPr/>
        </p:nvSpPr>
        <p:spPr>
          <a:xfrm>
            <a:off x="4663440" y="4416552"/>
            <a:ext cx="2057400" cy="365760"/>
          </a:xfrm>
          <a:prstGeom prst="rect">
            <a:avLst/>
          </a:prstGeom>
          <a:noFill/>
          <a:ln/>
        </p:spPr>
        <p:txBody>
          <a:bodyPr wrap="square" lIns="0" tIns="0" rIns="0" bIns="0" rtlCol="0" anchor="ctr"/>
          <a:lstStyle/>
          <a:p>
            <a:pPr marL="0" indent="0" algn="ctr">
              <a:buNone/>
            </a:pPr>
            <a:r>
              <a:rPr lang="en-US" sz="800" dirty="0">
                <a:solidFill>
                  <a:srgbClr val="636F86"/>
                </a:solidFill>
              </a:rPr>
              <a:t>KV cache growth rate</a:t>
            </a:r>
            <a:endParaRPr lang="en-US" sz="800" dirty="0"/>
          </a:p>
          <a:p>
            <a:pPr marL="0" indent="0" algn="ctr">
              <a:buNone/>
            </a:pPr>
            <a:r>
              <a:rPr lang="en-US" sz="800" dirty="0">
                <a:solidFill>
                  <a:srgbClr val="636F86"/>
                </a:solidFill>
              </a:rPr>
              <a:t>(GPT-2 Medium, all layers)</a:t>
            </a:r>
            <a:endParaRPr lang="en-US" sz="800" dirty="0"/>
          </a:p>
        </p:txBody>
      </p:sp>
      <p:sp>
        <p:nvSpPr>
          <p:cNvPr id="32" name="Shape 30"/>
          <p:cNvSpPr/>
          <p:nvPr/>
        </p:nvSpPr>
        <p:spPr>
          <a:xfrm>
            <a:off x="6858000" y="3657600"/>
            <a:ext cx="2057400" cy="1234440"/>
          </a:xfrm>
          <a:prstGeom prst="rect">
            <a:avLst/>
          </a:prstGeom>
          <a:solidFill>
            <a:srgbClr val="F7F1E8"/>
          </a:solidFill>
          <a:ln w="12700">
            <a:solidFill>
              <a:srgbClr val="B8BFD1"/>
            </a:solidFill>
            <a:prstDash val="solid"/>
          </a:ln>
        </p:spPr>
        <p:txBody>
          <a:bodyPr/>
          <a:lstStyle/>
          <a:p>
            <a:endParaRPr/>
          </a:p>
        </p:txBody>
      </p:sp>
      <p:sp>
        <p:nvSpPr>
          <p:cNvPr id="33" name="Text 31"/>
          <p:cNvSpPr/>
          <p:nvPr/>
        </p:nvSpPr>
        <p:spPr>
          <a:xfrm>
            <a:off x="6858000" y="3730752"/>
            <a:ext cx="2057400" cy="502920"/>
          </a:xfrm>
          <a:prstGeom prst="rect">
            <a:avLst/>
          </a:prstGeom>
          <a:noFill/>
          <a:ln/>
        </p:spPr>
        <p:txBody>
          <a:bodyPr wrap="square" lIns="0" tIns="0" rIns="0" bIns="0" rtlCol="0" anchor="ctr"/>
          <a:lstStyle/>
          <a:p>
            <a:pPr marL="0" indent="0" algn="ctr">
              <a:buNone/>
            </a:pPr>
            <a:r>
              <a:rPr lang="en-US" sz="2600" b="1" dirty="0">
                <a:solidFill>
                  <a:srgbClr val="2C8C84"/>
                </a:solidFill>
              </a:rPr>
              <a:t>100%</a:t>
            </a:r>
            <a:endParaRPr lang="en-US" sz="2600" dirty="0"/>
          </a:p>
        </p:txBody>
      </p:sp>
      <p:sp>
        <p:nvSpPr>
          <p:cNvPr id="34" name="Text 32"/>
          <p:cNvSpPr/>
          <p:nvPr/>
        </p:nvSpPr>
        <p:spPr>
          <a:xfrm>
            <a:off x="6858000" y="4206240"/>
            <a:ext cx="2057400" cy="201168"/>
          </a:xfrm>
          <a:prstGeom prst="rect">
            <a:avLst/>
          </a:prstGeom>
          <a:noFill/>
          <a:ln/>
        </p:spPr>
        <p:txBody>
          <a:bodyPr wrap="square" lIns="0" tIns="0" rIns="0" bIns="0" rtlCol="0" anchor="ctr"/>
          <a:lstStyle/>
          <a:p>
            <a:pPr marL="0" indent="0" algn="ctr">
              <a:buNone/>
            </a:pPr>
            <a:r>
              <a:rPr lang="en-US" sz="900" dirty="0">
                <a:solidFill>
                  <a:srgbClr val="D4A256"/>
                </a:solidFill>
              </a:rPr>
              <a:t>bandwidth-limited</a:t>
            </a:r>
            <a:endParaRPr lang="en-US" sz="900" dirty="0"/>
          </a:p>
        </p:txBody>
      </p:sp>
      <p:sp>
        <p:nvSpPr>
          <p:cNvPr id="35" name="Text 33"/>
          <p:cNvSpPr/>
          <p:nvPr/>
        </p:nvSpPr>
        <p:spPr>
          <a:xfrm>
            <a:off x="6858000" y="4416552"/>
            <a:ext cx="2057400" cy="365760"/>
          </a:xfrm>
          <a:prstGeom prst="rect">
            <a:avLst/>
          </a:prstGeom>
          <a:noFill/>
          <a:ln/>
        </p:spPr>
        <p:txBody>
          <a:bodyPr wrap="square" lIns="0" tIns="0" rIns="0" bIns="0" rtlCol="0" anchor="ctr"/>
          <a:lstStyle/>
          <a:p>
            <a:pPr marL="0" indent="0" algn="ctr">
              <a:buNone/>
            </a:pPr>
            <a:r>
              <a:rPr lang="en-US" sz="800" dirty="0">
                <a:solidFill>
                  <a:srgbClr val="636F86"/>
                </a:solidFill>
              </a:rPr>
              <a:t>Attention stage across all</a:t>
            </a:r>
            <a:endParaRPr lang="en-US" sz="800" dirty="0"/>
          </a:p>
          <a:p>
            <a:pPr marL="0" indent="0" algn="ctr">
              <a:buNone/>
            </a:pPr>
            <a:r>
              <a:rPr lang="en-US" sz="800" dirty="0">
                <a:solidFill>
                  <a:srgbClr val="636F86"/>
                </a:solidFill>
              </a:rPr>
              <a:t>sequence lengths tested</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F3F73"/>
          </a:solidFill>
          <a:ln/>
        </p:spPr>
        <p:txBody>
          <a:bodyPr/>
          <a:lstStyle/>
          <a:p>
            <a:endParaRPr/>
          </a:p>
        </p:txBody>
      </p:sp>
      <p:sp>
        <p:nvSpPr>
          <p:cNvPr id="3" name="Text 1"/>
          <p:cNvSpPr/>
          <p:nvPr/>
        </p:nvSpPr>
        <p:spPr>
          <a:xfrm>
            <a:off x="320040" y="164592"/>
            <a:ext cx="8503920" cy="411480"/>
          </a:xfrm>
          <a:prstGeom prst="rect">
            <a:avLst/>
          </a:prstGeom>
          <a:noFill/>
          <a:ln/>
        </p:spPr>
        <p:txBody>
          <a:bodyPr wrap="square" rtlCol="0" anchor="ctr"/>
          <a:lstStyle/>
          <a:p>
            <a:pPr marL="0" indent="0">
              <a:buNone/>
            </a:pPr>
            <a:r>
              <a:rPr lang="en-US" sz="2000" b="1" kern="0" spc="200" dirty="0">
                <a:solidFill>
                  <a:srgbClr val="2F3F73"/>
                </a:solidFill>
              </a:rPr>
              <a:t>METHODOLOGY — HOW WE DIFFER</a:t>
            </a:r>
            <a:endParaRPr lang="en-US" sz="2000" dirty="0"/>
          </a:p>
        </p:txBody>
      </p:sp>
      <p:sp>
        <p:nvSpPr>
          <p:cNvPr id="4" name="Text 2"/>
          <p:cNvSpPr/>
          <p:nvPr/>
        </p:nvSpPr>
        <p:spPr>
          <a:xfrm>
            <a:off x="320040" y="548640"/>
            <a:ext cx="8503920" cy="256032"/>
          </a:xfrm>
          <a:prstGeom prst="rect">
            <a:avLst/>
          </a:prstGeom>
          <a:noFill/>
          <a:ln/>
        </p:spPr>
        <p:txBody>
          <a:bodyPr wrap="square" rtlCol="0" anchor="ctr"/>
          <a:lstStyle/>
          <a:p>
            <a:pPr marL="0" indent="0">
              <a:buNone/>
            </a:pPr>
            <a:r>
              <a:rPr lang="en-US" sz="1000" dirty="0">
                <a:solidFill>
                  <a:srgbClr val="636F86"/>
                </a:solidFill>
              </a:rPr>
              <a:t>12 — Our contribution vs. prior work in this class</a:t>
            </a:r>
            <a:endParaRPr lang="en-US" sz="1000" dirty="0"/>
          </a:p>
        </p:txBody>
      </p:sp>
      <p:sp>
        <p:nvSpPr>
          <p:cNvPr id="5" name="Shape 3"/>
          <p:cNvSpPr/>
          <p:nvPr/>
        </p:nvSpPr>
        <p:spPr>
          <a:xfrm>
            <a:off x="288036" y="914400"/>
            <a:ext cx="1600200" cy="2194560"/>
          </a:xfrm>
          <a:prstGeom prst="rect">
            <a:avLst/>
          </a:prstGeom>
          <a:solidFill>
            <a:srgbClr val="FFFFFF"/>
          </a:solidFill>
          <a:ln w="19050">
            <a:solidFill>
              <a:srgbClr val="2C8C84"/>
            </a:solidFill>
            <a:prstDash val="solid"/>
          </a:ln>
        </p:spPr>
        <p:txBody>
          <a:bodyPr/>
          <a:lstStyle/>
          <a:p>
            <a:endParaRPr/>
          </a:p>
        </p:txBody>
      </p:sp>
      <p:sp>
        <p:nvSpPr>
          <p:cNvPr id="6" name="Shape 4"/>
          <p:cNvSpPr/>
          <p:nvPr/>
        </p:nvSpPr>
        <p:spPr>
          <a:xfrm>
            <a:off x="822960" y="804672"/>
            <a:ext cx="502920" cy="502920"/>
          </a:xfrm>
          <a:prstGeom prst="ellipse">
            <a:avLst/>
          </a:prstGeom>
          <a:solidFill>
            <a:srgbClr val="E1F2EF"/>
          </a:solidFill>
          <a:ln/>
        </p:spPr>
        <p:txBody>
          <a:bodyPr/>
          <a:lstStyle/>
          <a:p>
            <a:endParaRPr/>
          </a:p>
        </p:txBody>
      </p:sp>
      <p:sp>
        <p:nvSpPr>
          <p:cNvPr id="7" name="Text 5"/>
          <p:cNvSpPr/>
          <p:nvPr/>
        </p:nvSpPr>
        <p:spPr>
          <a:xfrm>
            <a:off x="822960" y="804672"/>
            <a:ext cx="502920" cy="502920"/>
          </a:xfrm>
          <a:prstGeom prst="rect">
            <a:avLst/>
          </a:prstGeom>
          <a:noFill/>
          <a:ln/>
        </p:spPr>
        <p:txBody>
          <a:bodyPr wrap="square" lIns="0" tIns="0" rIns="0" bIns="0" rtlCol="0" anchor="ctr"/>
          <a:lstStyle/>
          <a:p>
            <a:pPr marL="0" indent="0" algn="ctr">
              <a:buNone/>
            </a:pPr>
            <a:r>
              <a:rPr lang="en-US" sz="1500" b="1" dirty="0">
                <a:solidFill>
                  <a:srgbClr val="2D394F"/>
                </a:solidFill>
              </a:rPr>
              <a:t>1</a:t>
            </a:r>
            <a:endParaRPr lang="en-US" sz="1500" dirty="0"/>
          </a:p>
        </p:txBody>
      </p:sp>
      <p:sp>
        <p:nvSpPr>
          <p:cNvPr id="8" name="Text 6"/>
          <p:cNvSpPr/>
          <p:nvPr/>
        </p:nvSpPr>
        <p:spPr>
          <a:xfrm>
            <a:off x="288036" y="1257300"/>
            <a:ext cx="1600200" cy="365760"/>
          </a:xfrm>
          <a:prstGeom prst="rect">
            <a:avLst/>
          </a:prstGeom>
          <a:noFill/>
          <a:ln/>
        </p:spPr>
        <p:txBody>
          <a:bodyPr wrap="square" lIns="0" tIns="0" rIns="0" bIns="0" rtlCol="0" anchor="ctr"/>
          <a:lstStyle/>
          <a:p>
            <a:pPr marL="0" indent="0" algn="ctr">
              <a:buNone/>
            </a:pPr>
            <a:r>
              <a:rPr lang="en-US" sz="1100" b="1" dirty="0">
                <a:solidFill>
                  <a:srgbClr val="2C8C84"/>
                </a:solidFill>
              </a:rPr>
              <a:t>Characterize</a:t>
            </a:r>
            <a:endParaRPr lang="en-US" sz="1100" dirty="0"/>
          </a:p>
        </p:txBody>
      </p:sp>
      <p:sp>
        <p:nvSpPr>
          <p:cNvPr id="9" name="Text 7"/>
          <p:cNvSpPr/>
          <p:nvPr/>
        </p:nvSpPr>
        <p:spPr>
          <a:xfrm>
            <a:off x="347472" y="1371600"/>
            <a:ext cx="1463040" cy="777240"/>
          </a:xfrm>
          <a:prstGeom prst="rect">
            <a:avLst/>
          </a:prstGeom>
          <a:noFill/>
          <a:ln/>
        </p:spPr>
        <p:txBody>
          <a:bodyPr wrap="square" lIns="0" tIns="0" rIns="0" bIns="0" rtlCol="0" anchor="ctr"/>
          <a:lstStyle/>
          <a:p>
            <a:pPr marL="0" indent="0" algn="ctr">
              <a:buNone/>
            </a:pPr>
            <a:r>
              <a:rPr lang="en-US" sz="950" dirty="0">
                <a:solidFill>
                  <a:srgbClr val="2D394F"/>
                </a:solidFill>
              </a:rPr>
              <a:t>Layer-level GPT-2</a:t>
            </a:r>
            <a:endParaRPr lang="en-US" sz="950" dirty="0"/>
          </a:p>
          <a:p>
            <a:pPr marL="0" indent="0" algn="ctr">
              <a:buNone/>
            </a:pPr>
            <a:r>
              <a:rPr lang="en-US" sz="950" dirty="0">
                <a:solidFill>
                  <a:srgbClr val="2D394F"/>
                </a:solidFill>
              </a:rPr>
              <a:t>instrumentation</a:t>
            </a:r>
            <a:endParaRPr lang="en-US" sz="950" dirty="0"/>
          </a:p>
          <a:p>
            <a:pPr marL="0" indent="0" algn="ctr">
              <a:buNone/>
            </a:pPr>
            <a:r>
              <a:rPr lang="en-US" sz="950" dirty="0">
                <a:solidFill>
                  <a:srgbClr val="2D394F"/>
                </a:solidFill>
              </a:rPr>
              <a:t>±0.01 MB accuracy</a:t>
            </a:r>
            <a:endParaRPr lang="en-US" sz="950" dirty="0"/>
          </a:p>
        </p:txBody>
      </p:sp>
      <p:sp>
        <p:nvSpPr>
          <p:cNvPr id="10" name="Text 8"/>
          <p:cNvSpPr/>
          <p:nvPr/>
        </p:nvSpPr>
        <p:spPr>
          <a:xfrm>
            <a:off x="1874520" y="1691640"/>
            <a:ext cx="182880" cy="274320"/>
          </a:xfrm>
          <a:prstGeom prst="rect">
            <a:avLst/>
          </a:prstGeom>
          <a:noFill/>
          <a:ln/>
        </p:spPr>
        <p:txBody>
          <a:bodyPr wrap="square" lIns="0" tIns="0" rIns="0" bIns="0" rtlCol="0" anchor="ctr"/>
          <a:lstStyle/>
          <a:p>
            <a:pPr marL="0" indent="0" algn="ctr">
              <a:buNone/>
            </a:pPr>
            <a:r>
              <a:rPr lang="en-US" sz="1400" b="1" dirty="0">
                <a:solidFill>
                  <a:srgbClr val="636F86"/>
                </a:solidFill>
              </a:rPr>
              <a:t>→</a:t>
            </a:r>
            <a:endParaRPr lang="en-US" sz="1400" dirty="0"/>
          </a:p>
        </p:txBody>
      </p:sp>
      <p:sp>
        <p:nvSpPr>
          <p:cNvPr id="11" name="Shape 9"/>
          <p:cNvSpPr/>
          <p:nvPr/>
        </p:nvSpPr>
        <p:spPr>
          <a:xfrm>
            <a:off x="2025396" y="903522"/>
            <a:ext cx="1600200" cy="2194560"/>
          </a:xfrm>
          <a:prstGeom prst="rect">
            <a:avLst/>
          </a:prstGeom>
          <a:solidFill>
            <a:srgbClr val="FFFFFF"/>
          </a:solidFill>
          <a:ln w="19050">
            <a:solidFill>
              <a:srgbClr val="D4A256"/>
            </a:solidFill>
            <a:prstDash val="solid"/>
          </a:ln>
        </p:spPr>
        <p:txBody>
          <a:bodyPr/>
          <a:lstStyle/>
          <a:p>
            <a:endParaRPr/>
          </a:p>
        </p:txBody>
      </p:sp>
      <p:sp>
        <p:nvSpPr>
          <p:cNvPr id="12" name="Shape 10"/>
          <p:cNvSpPr/>
          <p:nvPr/>
        </p:nvSpPr>
        <p:spPr>
          <a:xfrm>
            <a:off x="2560320" y="804672"/>
            <a:ext cx="502920" cy="502920"/>
          </a:xfrm>
          <a:prstGeom prst="ellipse">
            <a:avLst/>
          </a:prstGeom>
          <a:solidFill>
            <a:srgbClr val="F7ECDA"/>
          </a:solidFill>
          <a:ln/>
        </p:spPr>
        <p:txBody>
          <a:bodyPr/>
          <a:lstStyle/>
          <a:p>
            <a:endParaRPr/>
          </a:p>
        </p:txBody>
      </p:sp>
      <p:sp>
        <p:nvSpPr>
          <p:cNvPr id="13" name="Text 11"/>
          <p:cNvSpPr/>
          <p:nvPr/>
        </p:nvSpPr>
        <p:spPr>
          <a:xfrm>
            <a:off x="2560320" y="804672"/>
            <a:ext cx="502920" cy="502920"/>
          </a:xfrm>
          <a:prstGeom prst="rect">
            <a:avLst/>
          </a:prstGeom>
          <a:noFill/>
          <a:ln/>
        </p:spPr>
        <p:txBody>
          <a:bodyPr wrap="square" lIns="0" tIns="0" rIns="0" bIns="0" rtlCol="0" anchor="ctr"/>
          <a:lstStyle/>
          <a:p>
            <a:pPr marL="0" indent="0" algn="ctr">
              <a:buNone/>
            </a:pPr>
            <a:r>
              <a:rPr lang="en-US" sz="1500" b="1" dirty="0">
                <a:solidFill>
                  <a:srgbClr val="2D394F"/>
                </a:solidFill>
              </a:rPr>
              <a:t>2</a:t>
            </a:r>
            <a:endParaRPr lang="en-US" sz="1500" dirty="0"/>
          </a:p>
        </p:txBody>
      </p:sp>
      <p:sp>
        <p:nvSpPr>
          <p:cNvPr id="14" name="Text 12"/>
          <p:cNvSpPr/>
          <p:nvPr/>
        </p:nvSpPr>
        <p:spPr>
          <a:xfrm>
            <a:off x="1997964" y="1223562"/>
            <a:ext cx="1600200" cy="365760"/>
          </a:xfrm>
          <a:prstGeom prst="rect">
            <a:avLst/>
          </a:prstGeom>
          <a:noFill/>
          <a:ln/>
        </p:spPr>
        <p:txBody>
          <a:bodyPr wrap="square" lIns="0" tIns="0" rIns="0" bIns="0" rtlCol="0" anchor="ctr"/>
          <a:lstStyle/>
          <a:p>
            <a:pPr marL="0" indent="0" algn="ctr">
              <a:buNone/>
            </a:pPr>
            <a:r>
              <a:rPr lang="en-US" sz="1100" b="1" dirty="0">
                <a:solidFill>
                  <a:srgbClr val="D4A256"/>
                </a:solidFill>
              </a:rPr>
              <a:t>Design Policy</a:t>
            </a:r>
            <a:endParaRPr lang="en-US" sz="1100" dirty="0"/>
          </a:p>
        </p:txBody>
      </p:sp>
      <p:sp>
        <p:nvSpPr>
          <p:cNvPr id="15" name="Text 13"/>
          <p:cNvSpPr/>
          <p:nvPr/>
        </p:nvSpPr>
        <p:spPr>
          <a:xfrm>
            <a:off x="2084832" y="1371600"/>
            <a:ext cx="1463040" cy="777240"/>
          </a:xfrm>
          <a:prstGeom prst="rect">
            <a:avLst/>
          </a:prstGeom>
          <a:noFill/>
          <a:ln/>
        </p:spPr>
        <p:txBody>
          <a:bodyPr wrap="square" lIns="0" tIns="0" rIns="0" bIns="0" rtlCol="0" anchor="ctr"/>
          <a:lstStyle/>
          <a:p>
            <a:pPr marL="0" indent="0" algn="ctr">
              <a:buNone/>
            </a:pPr>
            <a:r>
              <a:rPr lang="en-US" sz="950" dirty="0">
                <a:solidFill>
                  <a:srgbClr val="2D394F"/>
                </a:solidFill>
              </a:rPr>
              <a:t>Block-level tracker</a:t>
            </a:r>
            <a:endParaRPr lang="en-US" sz="950" dirty="0"/>
          </a:p>
          <a:p>
            <a:pPr marL="0" indent="0" algn="ctr">
              <a:buNone/>
            </a:pPr>
            <a:r>
              <a:rPr lang="en-US" sz="950" dirty="0">
                <a:solidFill>
                  <a:srgbClr val="2D394F"/>
                </a:solidFill>
              </a:rPr>
              <a:t>Per-block metadata:</a:t>
            </a:r>
            <a:endParaRPr lang="en-US" sz="950" dirty="0"/>
          </a:p>
          <a:p>
            <a:pPr marL="0" indent="0" algn="ctr">
              <a:buNone/>
            </a:pPr>
            <a:r>
              <a:rPr lang="en-US" sz="950" dirty="0">
                <a:solidFill>
                  <a:srgbClr val="2D394F"/>
                </a:solidFill>
              </a:rPr>
              <a:t>tier, access, score</a:t>
            </a:r>
            <a:endParaRPr lang="en-US" sz="950" dirty="0"/>
          </a:p>
        </p:txBody>
      </p:sp>
      <p:sp>
        <p:nvSpPr>
          <p:cNvPr id="16" name="Text 14"/>
          <p:cNvSpPr/>
          <p:nvPr/>
        </p:nvSpPr>
        <p:spPr>
          <a:xfrm>
            <a:off x="3611880" y="1691640"/>
            <a:ext cx="182880" cy="274320"/>
          </a:xfrm>
          <a:prstGeom prst="rect">
            <a:avLst/>
          </a:prstGeom>
          <a:noFill/>
          <a:ln/>
        </p:spPr>
        <p:txBody>
          <a:bodyPr wrap="square" lIns="0" tIns="0" rIns="0" bIns="0" rtlCol="0" anchor="ctr"/>
          <a:lstStyle/>
          <a:p>
            <a:pPr marL="0" indent="0" algn="ctr">
              <a:buNone/>
            </a:pPr>
            <a:r>
              <a:rPr lang="en-US" sz="1400" b="1" dirty="0">
                <a:solidFill>
                  <a:srgbClr val="636F86"/>
                </a:solidFill>
              </a:rPr>
              <a:t>→</a:t>
            </a:r>
            <a:endParaRPr lang="en-US" sz="1400" dirty="0"/>
          </a:p>
        </p:txBody>
      </p:sp>
      <p:sp>
        <p:nvSpPr>
          <p:cNvPr id="17" name="Shape 15"/>
          <p:cNvSpPr/>
          <p:nvPr/>
        </p:nvSpPr>
        <p:spPr>
          <a:xfrm>
            <a:off x="3749040" y="914400"/>
            <a:ext cx="1600200" cy="2194560"/>
          </a:xfrm>
          <a:prstGeom prst="rect">
            <a:avLst/>
          </a:prstGeom>
          <a:solidFill>
            <a:srgbClr val="FFFFFF"/>
          </a:solidFill>
          <a:ln w="19050">
            <a:solidFill>
              <a:srgbClr val="8A7AC8"/>
            </a:solidFill>
            <a:prstDash val="solid"/>
          </a:ln>
        </p:spPr>
        <p:txBody>
          <a:bodyPr/>
          <a:lstStyle/>
          <a:p>
            <a:endParaRPr/>
          </a:p>
        </p:txBody>
      </p:sp>
      <p:sp>
        <p:nvSpPr>
          <p:cNvPr id="18" name="Shape 16"/>
          <p:cNvSpPr/>
          <p:nvPr/>
        </p:nvSpPr>
        <p:spPr>
          <a:xfrm>
            <a:off x="4297680" y="804672"/>
            <a:ext cx="502920" cy="502920"/>
          </a:xfrm>
          <a:prstGeom prst="ellipse">
            <a:avLst/>
          </a:prstGeom>
          <a:solidFill>
            <a:srgbClr val="EEEAF8"/>
          </a:solidFill>
          <a:ln/>
        </p:spPr>
        <p:txBody>
          <a:bodyPr/>
          <a:lstStyle/>
          <a:p>
            <a:endParaRPr/>
          </a:p>
        </p:txBody>
      </p:sp>
      <p:sp>
        <p:nvSpPr>
          <p:cNvPr id="19" name="Text 17"/>
          <p:cNvSpPr/>
          <p:nvPr/>
        </p:nvSpPr>
        <p:spPr>
          <a:xfrm>
            <a:off x="4297680" y="804672"/>
            <a:ext cx="502920" cy="502920"/>
          </a:xfrm>
          <a:prstGeom prst="rect">
            <a:avLst/>
          </a:prstGeom>
          <a:noFill/>
          <a:ln/>
        </p:spPr>
        <p:txBody>
          <a:bodyPr wrap="square" lIns="0" tIns="0" rIns="0" bIns="0" rtlCol="0" anchor="ctr"/>
          <a:lstStyle/>
          <a:p>
            <a:pPr marL="0" indent="0" algn="ctr">
              <a:buNone/>
            </a:pPr>
            <a:r>
              <a:rPr lang="en-US" sz="1500" b="1" dirty="0">
                <a:solidFill>
                  <a:srgbClr val="2D394F"/>
                </a:solidFill>
              </a:rPr>
              <a:t>3</a:t>
            </a:r>
            <a:endParaRPr lang="en-US" sz="1500" dirty="0"/>
          </a:p>
        </p:txBody>
      </p:sp>
      <p:sp>
        <p:nvSpPr>
          <p:cNvPr id="20" name="Text 18"/>
          <p:cNvSpPr/>
          <p:nvPr/>
        </p:nvSpPr>
        <p:spPr>
          <a:xfrm>
            <a:off x="3781044" y="1257458"/>
            <a:ext cx="1600200" cy="365760"/>
          </a:xfrm>
          <a:prstGeom prst="rect">
            <a:avLst/>
          </a:prstGeom>
          <a:noFill/>
          <a:ln/>
        </p:spPr>
        <p:txBody>
          <a:bodyPr wrap="square" lIns="0" tIns="0" rIns="0" bIns="0" rtlCol="0" anchor="ctr"/>
          <a:lstStyle/>
          <a:p>
            <a:pPr marL="0" indent="0" algn="ctr">
              <a:buNone/>
            </a:pPr>
            <a:r>
              <a:rPr lang="en-US" sz="1100" b="1" dirty="0">
                <a:solidFill>
                  <a:srgbClr val="2F3F73"/>
                </a:solidFill>
              </a:rPr>
              <a:t>Implement ASEP</a:t>
            </a:r>
            <a:endParaRPr lang="en-US" sz="1100" dirty="0"/>
          </a:p>
        </p:txBody>
      </p:sp>
      <p:sp>
        <p:nvSpPr>
          <p:cNvPr id="21" name="Text 19"/>
          <p:cNvSpPr/>
          <p:nvPr/>
        </p:nvSpPr>
        <p:spPr>
          <a:xfrm>
            <a:off x="3822192" y="1371600"/>
            <a:ext cx="1463040" cy="777240"/>
          </a:xfrm>
          <a:prstGeom prst="rect">
            <a:avLst/>
          </a:prstGeom>
          <a:noFill/>
          <a:ln/>
        </p:spPr>
        <p:txBody>
          <a:bodyPr wrap="square" lIns="0" tIns="0" rIns="0" bIns="0" rtlCol="0" anchor="ctr"/>
          <a:lstStyle/>
          <a:p>
            <a:pPr marL="0" indent="0" algn="ctr">
              <a:buNone/>
            </a:pPr>
            <a:r>
              <a:rPr lang="en-US" sz="950" dirty="0">
                <a:solidFill>
                  <a:srgbClr val="2D394F"/>
                </a:solidFill>
              </a:rPr>
              <a:t>Attention-score</a:t>
            </a:r>
            <a:endParaRPr lang="en-US" sz="950" dirty="0"/>
          </a:p>
          <a:p>
            <a:pPr marL="0" indent="0" algn="ctr">
              <a:buNone/>
            </a:pPr>
            <a:r>
              <a:rPr lang="en-US" sz="950" dirty="0">
                <a:solidFill>
                  <a:srgbClr val="2D394F"/>
                </a:solidFill>
              </a:rPr>
              <a:t>eviction replaces</a:t>
            </a:r>
            <a:endParaRPr lang="en-US" sz="950" dirty="0"/>
          </a:p>
          <a:p>
            <a:pPr marL="0" indent="0" algn="ctr">
              <a:buNone/>
            </a:pPr>
            <a:r>
              <a:rPr lang="en-US" sz="950" dirty="0">
                <a:solidFill>
                  <a:srgbClr val="2D394F"/>
                </a:solidFill>
              </a:rPr>
              <a:t>LRU assumption</a:t>
            </a:r>
            <a:endParaRPr lang="en-US" sz="950" dirty="0"/>
          </a:p>
        </p:txBody>
      </p:sp>
      <p:sp>
        <p:nvSpPr>
          <p:cNvPr id="22" name="Text 20"/>
          <p:cNvSpPr/>
          <p:nvPr/>
        </p:nvSpPr>
        <p:spPr>
          <a:xfrm>
            <a:off x="5349240" y="1691640"/>
            <a:ext cx="182880" cy="274320"/>
          </a:xfrm>
          <a:prstGeom prst="rect">
            <a:avLst/>
          </a:prstGeom>
          <a:noFill/>
          <a:ln/>
        </p:spPr>
        <p:txBody>
          <a:bodyPr wrap="square" lIns="0" tIns="0" rIns="0" bIns="0" rtlCol="0" anchor="ctr"/>
          <a:lstStyle/>
          <a:p>
            <a:pPr marL="0" indent="0" algn="ctr">
              <a:buNone/>
            </a:pPr>
            <a:r>
              <a:rPr lang="en-US" sz="1400" b="1" dirty="0">
                <a:solidFill>
                  <a:srgbClr val="636F86"/>
                </a:solidFill>
              </a:rPr>
              <a:t>→</a:t>
            </a:r>
            <a:endParaRPr lang="en-US" sz="1400" dirty="0"/>
          </a:p>
        </p:txBody>
      </p:sp>
      <p:sp>
        <p:nvSpPr>
          <p:cNvPr id="23" name="Shape 21"/>
          <p:cNvSpPr/>
          <p:nvPr/>
        </p:nvSpPr>
        <p:spPr>
          <a:xfrm>
            <a:off x="5486400" y="914400"/>
            <a:ext cx="1600200" cy="2194560"/>
          </a:xfrm>
          <a:prstGeom prst="rect">
            <a:avLst/>
          </a:prstGeom>
          <a:solidFill>
            <a:srgbClr val="FFFFFF"/>
          </a:solidFill>
          <a:ln w="19050">
            <a:solidFill>
              <a:srgbClr val="2C8C84"/>
            </a:solidFill>
            <a:prstDash val="solid"/>
          </a:ln>
        </p:spPr>
        <p:txBody>
          <a:bodyPr/>
          <a:lstStyle/>
          <a:p>
            <a:endParaRPr/>
          </a:p>
        </p:txBody>
      </p:sp>
      <p:sp>
        <p:nvSpPr>
          <p:cNvPr id="24" name="Shape 22"/>
          <p:cNvSpPr/>
          <p:nvPr/>
        </p:nvSpPr>
        <p:spPr>
          <a:xfrm>
            <a:off x="6035040" y="804672"/>
            <a:ext cx="502920" cy="502920"/>
          </a:xfrm>
          <a:prstGeom prst="ellipse">
            <a:avLst/>
          </a:prstGeom>
          <a:solidFill>
            <a:srgbClr val="E1F2EF"/>
          </a:solidFill>
          <a:ln/>
        </p:spPr>
        <p:txBody>
          <a:bodyPr/>
          <a:lstStyle/>
          <a:p>
            <a:endParaRPr/>
          </a:p>
        </p:txBody>
      </p:sp>
      <p:sp>
        <p:nvSpPr>
          <p:cNvPr id="25" name="Text 23"/>
          <p:cNvSpPr/>
          <p:nvPr/>
        </p:nvSpPr>
        <p:spPr>
          <a:xfrm>
            <a:off x="6035040" y="804672"/>
            <a:ext cx="502920" cy="502920"/>
          </a:xfrm>
          <a:prstGeom prst="rect">
            <a:avLst/>
          </a:prstGeom>
          <a:noFill/>
          <a:ln/>
        </p:spPr>
        <p:txBody>
          <a:bodyPr wrap="square" lIns="0" tIns="0" rIns="0" bIns="0" rtlCol="0" anchor="ctr"/>
          <a:lstStyle/>
          <a:p>
            <a:pPr marL="0" indent="0" algn="ctr">
              <a:buNone/>
            </a:pPr>
            <a:r>
              <a:rPr lang="en-US" sz="1500" b="1" dirty="0">
                <a:solidFill>
                  <a:srgbClr val="2D394F"/>
                </a:solidFill>
              </a:rPr>
              <a:t>4</a:t>
            </a:r>
            <a:endParaRPr lang="en-US" sz="1500" dirty="0"/>
          </a:p>
        </p:txBody>
      </p:sp>
      <p:sp>
        <p:nvSpPr>
          <p:cNvPr id="26" name="Text 24"/>
          <p:cNvSpPr/>
          <p:nvPr/>
        </p:nvSpPr>
        <p:spPr>
          <a:xfrm>
            <a:off x="5513832" y="1223562"/>
            <a:ext cx="1600200" cy="365760"/>
          </a:xfrm>
          <a:prstGeom prst="rect">
            <a:avLst/>
          </a:prstGeom>
          <a:noFill/>
          <a:ln/>
        </p:spPr>
        <p:txBody>
          <a:bodyPr wrap="square" lIns="0" tIns="0" rIns="0" bIns="0" rtlCol="0" anchor="ctr"/>
          <a:lstStyle/>
          <a:p>
            <a:pPr marL="0" indent="0" algn="ctr">
              <a:buNone/>
            </a:pPr>
            <a:r>
              <a:rPr lang="en-US" sz="1100" b="1" dirty="0">
                <a:solidFill>
                  <a:srgbClr val="2C8C84"/>
                </a:solidFill>
              </a:rPr>
              <a:t>Experiment</a:t>
            </a:r>
            <a:endParaRPr lang="en-US" sz="1100" dirty="0"/>
          </a:p>
        </p:txBody>
      </p:sp>
      <p:sp>
        <p:nvSpPr>
          <p:cNvPr id="27" name="Text 25"/>
          <p:cNvSpPr/>
          <p:nvPr/>
        </p:nvSpPr>
        <p:spPr>
          <a:xfrm>
            <a:off x="5559552" y="1371600"/>
            <a:ext cx="1463040" cy="777240"/>
          </a:xfrm>
          <a:prstGeom prst="rect">
            <a:avLst/>
          </a:prstGeom>
          <a:noFill/>
          <a:ln/>
        </p:spPr>
        <p:txBody>
          <a:bodyPr wrap="square" lIns="0" tIns="0" rIns="0" bIns="0" rtlCol="0" anchor="ctr"/>
          <a:lstStyle/>
          <a:p>
            <a:pPr marL="0" indent="0" algn="ctr">
              <a:buNone/>
            </a:pPr>
            <a:r>
              <a:rPr lang="en-US" sz="950" dirty="0">
                <a:solidFill>
                  <a:srgbClr val="2D394F"/>
                </a:solidFill>
              </a:rPr>
              <a:t>Controlled: same</a:t>
            </a:r>
            <a:endParaRPr lang="en-US" sz="950" dirty="0"/>
          </a:p>
          <a:p>
            <a:pPr marL="0" indent="0" algn="ctr">
              <a:buNone/>
            </a:pPr>
            <a:r>
              <a:rPr lang="en-US" sz="950" dirty="0">
                <a:solidFill>
                  <a:srgbClr val="2D394F"/>
                </a:solidFill>
              </a:rPr>
              <a:t>inputs, isolate policy</a:t>
            </a:r>
            <a:endParaRPr lang="en-US" sz="950" dirty="0"/>
          </a:p>
          <a:p>
            <a:pPr marL="0" indent="0" algn="ctr">
              <a:buNone/>
            </a:pPr>
            <a:r>
              <a:rPr lang="en-US" sz="950" dirty="0">
                <a:solidFill>
                  <a:srgbClr val="2D394F"/>
                </a:solidFill>
              </a:rPr>
              <a:t>as single variable</a:t>
            </a:r>
            <a:endParaRPr lang="en-US" sz="950" dirty="0"/>
          </a:p>
        </p:txBody>
      </p:sp>
      <p:sp>
        <p:nvSpPr>
          <p:cNvPr id="28" name="Text 26"/>
          <p:cNvSpPr/>
          <p:nvPr/>
        </p:nvSpPr>
        <p:spPr>
          <a:xfrm>
            <a:off x="7086600" y="1691640"/>
            <a:ext cx="182880" cy="274320"/>
          </a:xfrm>
          <a:prstGeom prst="rect">
            <a:avLst/>
          </a:prstGeom>
          <a:noFill/>
          <a:ln/>
        </p:spPr>
        <p:txBody>
          <a:bodyPr wrap="square" lIns="0" tIns="0" rIns="0" bIns="0" rtlCol="0" anchor="ctr"/>
          <a:lstStyle/>
          <a:p>
            <a:pPr marL="0" indent="0" algn="ctr">
              <a:buNone/>
            </a:pPr>
            <a:r>
              <a:rPr lang="en-US" sz="1400" b="1" dirty="0">
                <a:solidFill>
                  <a:srgbClr val="636F86"/>
                </a:solidFill>
              </a:rPr>
              <a:t>→</a:t>
            </a:r>
            <a:endParaRPr lang="en-US" sz="1400" dirty="0"/>
          </a:p>
        </p:txBody>
      </p:sp>
      <p:sp>
        <p:nvSpPr>
          <p:cNvPr id="29" name="Shape 27"/>
          <p:cNvSpPr/>
          <p:nvPr/>
        </p:nvSpPr>
        <p:spPr>
          <a:xfrm>
            <a:off x="7223760" y="914400"/>
            <a:ext cx="1600200" cy="2194560"/>
          </a:xfrm>
          <a:prstGeom prst="rect">
            <a:avLst/>
          </a:prstGeom>
          <a:solidFill>
            <a:srgbClr val="FFFFFF"/>
          </a:solidFill>
          <a:ln w="19050">
            <a:solidFill>
              <a:srgbClr val="D4A256"/>
            </a:solidFill>
            <a:prstDash val="solid"/>
          </a:ln>
        </p:spPr>
        <p:txBody>
          <a:bodyPr/>
          <a:lstStyle/>
          <a:p>
            <a:endParaRPr/>
          </a:p>
        </p:txBody>
      </p:sp>
      <p:sp>
        <p:nvSpPr>
          <p:cNvPr id="30" name="Shape 28"/>
          <p:cNvSpPr/>
          <p:nvPr/>
        </p:nvSpPr>
        <p:spPr>
          <a:xfrm>
            <a:off x="7772400" y="804672"/>
            <a:ext cx="502920" cy="502920"/>
          </a:xfrm>
          <a:prstGeom prst="ellipse">
            <a:avLst/>
          </a:prstGeom>
          <a:solidFill>
            <a:srgbClr val="F7ECDA"/>
          </a:solidFill>
          <a:ln/>
        </p:spPr>
        <p:txBody>
          <a:bodyPr/>
          <a:lstStyle/>
          <a:p>
            <a:endParaRPr/>
          </a:p>
        </p:txBody>
      </p:sp>
      <p:sp>
        <p:nvSpPr>
          <p:cNvPr id="31" name="Text 29"/>
          <p:cNvSpPr/>
          <p:nvPr/>
        </p:nvSpPr>
        <p:spPr>
          <a:xfrm>
            <a:off x="7772400" y="804672"/>
            <a:ext cx="502920" cy="502920"/>
          </a:xfrm>
          <a:prstGeom prst="rect">
            <a:avLst/>
          </a:prstGeom>
          <a:noFill/>
          <a:ln/>
        </p:spPr>
        <p:txBody>
          <a:bodyPr wrap="square" lIns="0" tIns="0" rIns="0" bIns="0" rtlCol="0" anchor="ctr"/>
          <a:lstStyle/>
          <a:p>
            <a:pPr marL="0" indent="0" algn="ctr">
              <a:buNone/>
            </a:pPr>
            <a:r>
              <a:rPr lang="en-US" sz="1500" b="1" dirty="0">
                <a:solidFill>
                  <a:srgbClr val="2D394F"/>
                </a:solidFill>
              </a:rPr>
              <a:t>5</a:t>
            </a:r>
            <a:endParaRPr lang="en-US" sz="1500" dirty="0"/>
          </a:p>
        </p:txBody>
      </p:sp>
      <p:sp>
        <p:nvSpPr>
          <p:cNvPr id="32" name="Text 30"/>
          <p:cNvSpPr/>
          <p:nvPr/>
        </p:nvSpPr>
        <p:spPr>
          <a:xfrm>
            <a:off x="7255764" y="1188720"/>
            <a:ext cx="1600200" cy="365760"/>
          </a:xfrm>
          <a:prstGeom prst="rect">
            <a:avLst/>
          </a:prstGeom>
          <a:noFill/>
          <a:ln/>
        </p:spPr>
        <p:txBody>
          <a:bodyPr wrap="square" lIns="0" tIns="0" rIns="0" bIns="0" rtlCol="0" anchor="ctr"/>
          <a:lstStyle/>
          <a:p>
            <a:pPr marL="0" indent="0" algn="ctr">
              <a:buNone/>
            </a:pPr>
            <a:r>
              <a:rPr lang="en-US" sz="1100" b="1" dirty="0">
                <a:solidFill>
                  <a:srgbClr val="D4A256"/>
                </a:solidFill>
              </a:rPr>
              <a:t>Prove Improvement</a:t>
            </a:r>
            <a:endParaRPr lang="en-US" sz="1100" dirty="0"/>
          </a:p>
        </p:txBody>
      </p:sp>
      <p:sp>
        <p:nvSpPr>
          <p:cNvPr id="33" name="Text 31"/>
          <p:cNvSpPr/>
          <p:nvPr/>
        </p:nvSpPr>
        <p:spPr>
          <a:xfrm>
            <a:off x="7296912" y="1371600"/>
            <a:ext cx="1463040" cy="777240"/>
          </a:xfrm>
          <a:prstGeom prst="rect">
            <a:avLst/>
          </a:prstGeom>
          <a:noFill/>
          <a:ln/>
        </p:spPr>
        <p:txBody>
          <a:bodyPr wrap="square" lIns="0" tIns="0" rIns="0" bIns="0" rtlCol="0" anchor="ctr"/>
          <a:lstStyle/>
          <a:p>
            <a:pPr marL="0" indent="0" algn="ctr">
              <a:buNone/>
            </a:pPr>
            <a:r>
              <a:rPr lang="en-US" sz="950" dirty="0">
                <a:solidFill>
                  <a:srgbClr val="2D394F"/>
                </a:solidFill>
              </a:rPr>
              <a:t>40% fewer wasted</a:t>
            </a:r>
            <a:endParaRPr lang="en-US" sz="950" dirty="0"/>
          </a:p>
          <a:p>
            <a:pPr marL="0" indent="0" algn="ctr">
              <a:buNone/>
            </a:pPr>
            <a:r>
              <a:rPr lang="en-US" sz="950" dirty="0">
                <a:solidFill>
                  <a:srgbClr val="2D394F"/>
                </a:solidFill>
              </a:rPr>
              <a:t>evictions, 57% lower</a:t>
            </a:r>
            <a:endParaRPr lang="en-US" sz="950" dirty="0"/>
          </a:p>
          <a:p>
            <a:pPr marL="0" indent="0" algn="ctr">
              <a:buNone/>
            </a:pPr>
            <a:r>
              <a:rPr lang="en-US" sz="950" dirty="0">
                <a:solidFill>
                  <a:srgbClr val="2D394F"/>
                </a:solidFill>
              </a:rPr>
              <a:t>promotion cost</a:t>
            </a:r>
            <a:endParaRPr lang="en-US" sz="950" dirty="0"/>
          </a:p>
        </p:txBody>
      </p:sp>
      <p:sp>
        <p:nvSpPr>
          <p:cNvPr id="34" name="Shape 32"/>
          <p:cNvSpPr/>
          <p:nvPr/>
        </p:nvSpPr>
        <p:spPr>
          <a:xfrm>
            <a:off x="2103120" y="3246120"/>
            <a:ext cx="1417320" cy="274320"/>
          </a:xfrm>
          <a:prstGeom prst="rect">
            <a:avLst/>
          </a:prstGeom>
          <a:solidFill>
            <a:srgbClr val="F7ECDA"/>
          </a:solidFill>
          <a:ln/>
        </p:spPr>
        <p:txBody>
          <a:bodyPr/>
          <a:lstStyle/>
          <a:p>
            <a:endParaRPr/>
          </a:p>
        </p:txBody>
      </p:sp>
      <p:sp>
        <p:nvSpPr>
          <p:cNvPr id="35" name="Text 33"/>
          <p:cNvSpPr/>
          <p:nvPr/>
        </p:nvSpPr>
        <p:spPr>
          <a:xfrm>
            <a:off x="2103120" y="3246120"/>
            <a:ext cx="1417320" cy="274320"/>
          </a:xfrm>
          <a:prstGeom prst="rect">
            <a:avLst/>
          </a:prstGeom>
          <a:noFill/>
          <a:ln/>
        </p:spPr>
        <p:txBody>
          <a:bodyPr wrap="square" lIns="0" tIns="0" rIns="0" bIns="0" rtlCol="0" anchor="ctr"/>
          <a:lstStyle/>
          <a:p>
            <a:pPr marL="0" indent="0" algn="ctr">
              <a:buNone/>
            </a:pPr>
            <a:r>
              <a:rPr lang="en-US" sz="800" b="1" dirty="0">
                <a:solidFill>
                  <a:srgbClr val="2D394F"/>
                </a:solidFill>
              </a:rPr>
              <a:t>UNIQUE TO US</a:t>
            </a:r>
            <a:endParaRPr lang="en-US" sz="800" dirty="0"/>
          </a:p>
        </p:txBody>
      </p:sp>
      <p:sp>
        <p:nvSpPr>
          <p:cNvPr id="36" name="Shape 34"/>
          <p:cNvSpPr/>
          <p:nvPr/>
        </p:nvSpPr>
        <p:spPr>
          <a:xfrm>
            <a:off x="3840480" y="3246120"/>
            <a:ext cx="1417320" cy="274320"/>
          </a:xfrm>
          <a:prstGeom prst="rect">
            <a:avLst/>
          </a:prstGeom>
          <a:solidFill>
            <a:srgbClr val="EEEAF8"/>
          </a:solidFill>
          <a:ln/>
        </p:spPr>
        <p:txBody>
          <a:bodyPr/>
          <a:lstStyle/>
          <a:p>
            <a:endParaRPr/>
          </a:p>
        </p:txBody>
      </p:sp>
      <p:sp>
        <p:nvSpPr>
          <p:cNvPr id="37" name="Text 35"/>
          <p:cNvSpPr/>
          <p:nvPr/>
        </p:nvSpPr>
        <p:spPr>
          <a:xfrm>
            <a:off x="3840480" y="3246120"/>
            <a:ext cx="1417320" cy="274320"/>
          </a:xfrm>
          <a:prstGeom prst="rect">
            <a:avLst/>
          </a:prstGeom>
          <a:noFill/>
          <a:ln/>
        </p:spPr>
        <p:txBody>
          <a:bodyPr wrap="square" lIns="0" tIns="0" rIns="0" bIns="0" rtlCol="0" anchor="ctr"/>
          <a:lstStyle/>
          <a:p>
            <a:pPr marL="0" indent="0" algn="ctr">
              <a:buNone/>
            </a:pPr>
            <a:r>
              <a:rPr lang="en-US" sz="800" b="1" dirty="0">
                <a:solidFill>
                  <a:srgbClr val="2D394F"/>
                </a:solidFill>
              </a:rPr>
              <a:t>UNIQUE TO US</a:t>
            </a:r>
            <a:endParaRPr lang="en-US" sz="800" dirty="0"/>
          </a:p>
        </p:txBody>
      </p:sp>
      <p:sp>
        <p:nvSpPr>
          <p:cNvPr id="38" name="Shape 36"/>
          <p:cNvSpPr/>
          <p:nvPr/>
        </p:nvSpPr>
        <p:spPr>
          <a:xfrm>
            <a:off x="5577840" y="3246120"/>
            <a:ext cx="1417320" cy="274320"/>
          </a:xfrm>
          <a:prstGeom prst="rect">
            <a:avLst/>
          </a:prstGeom>
          <a:solidFill>
            <a:srgbClr val="E1F2EF"/>
          </a:solidFill>
          <a:ln/>
        </p:spPr>
        <p:txBody>
          <a:bodyPr/>
          <a:lstStyle/>
          <a:p>
            <a:endParaRPr/>
          </a:p>
        </p:txBody>
      </p:sp>
      <p:sp>
        <p:nvSpPr>
          <p:cNvPr id="39" name="Text 37"/>
          <p:cNvSpPr/>
          <p:nvPr/>
        </p:nvSpPr>
        <p:spPr>
          <a:xfrm>
            <a:off x="5577840" y="3246120"/>
            <a:ext cx="1417320" cy="274320"/>
          </a:xfrm>
          <a:prstGeom prst="rect">
            <a:avLst/>
          </a:prstGeom>
          <a:noFill/>
          <a:ln/>
        </p:spPr>
        <p:txBody>
          <a:bodyPr wrap="square" lIns="0" tIns="0" rIns="0" bIns="0" rtlCol="0" anchor="ctr"/>
          <a:lstStyle/>
          <a:p>
            <a:pPr marL="0" indent="0" algn="ctr">
              <a:buNone/>
            </a:pPr>
            <a:r>
              <a:rPr lang="en-US" sz="800" b="1" dirty="0">
                <a:solidFill>
                  <a:srgbClr val="2D394F"/>
                </a:solidFill>
              </a:rPr>
              <a:t>UNIQUE TO US</a:t>
            </a:r>
            <a:endParaRPr lang="en-US" sz="800" dirty="0"/>
          </a:p>
        </p:txBody>
      </p:sp>
      <p:sp>
        <p:nvSpPr>
          <p:cNvPr id="40" name="Shape 38"/>
          <p:cNvSpPr/>
          <p:nvPr/>
        </p:nvSpPr>
        <p:spPr>
          <a:xfrm>
            <a:off x="7315200" y="3246120"/>
            <a:ext cx="1417320" cy="274320"/>
          </a:xfrm>
          <a:prstGeom prst="rect">
            <a:avLst/>
          </a:prstGeom>
          <a:solidFill>
            <a:srgbClr val="F7ECDA"/>
          </a:solidFill>
          <a:ln/>
        </p:spPr>
        <p:txBody>
          <a:bodyPr/>
          <a:lstStyle/>
          <a:p>
            <a:endParaRPr/>
          </a:p>
        </p:txBody>
      </p:sp>
      <p:sp>
        <p:nvSpPr>
          <p:cNvPr id="41" name="Text 39"/>
          <p:cNvSpPr/>
          <p:nvPr/>
        </p:nvSpPr>
        <p:spPr>
          <a:xfrm>
            <a:off x="7315200" y="3246120"/>
            <a:ext cx="1417320" cy="274320"/>
          </a:xfrm>
          <a:prstGeom prst="rect">
            <a:avLst/>
          </a:prstGeom>
          <a:noFill/>
          <a:ln/>
        </p:spPr>
        <p:txBody>
          <a:bodyPr wrap="square" lIns="0" tIns="0" rIns="0" bIns="0" rtlCol="0" anchor="ctr"/>
          <a:lstStyle/>
          <a:p>
            <a:pPr marL="0" indent="0" algn="ctr">
              <a:buNone/>
            </a:pPr>
            <a:r>
              <a:rPr lang="en-US" sz="800" b="1" dirty="0">
                <a:solidFill>
                  <a:srgbClr val="2D394F"/>
                </a:solidFill>
              </a:rPr>
              <a:t>UNIQUE TO US</a:t>
            </a:r>
            <a:endParaRPr lang="en-US" sz="800" dirty="0"/>
          </a:p>
        </p:txBody>
      </p:sp>
      <p:sp>
        <p:nvSpPr>
          <p:cNvPr id="42" name="Shape 40"/>
          <p:cNvSpPr/>
          <p:nvPr/>
        </p:nvSpPr>
        <p:spPr>
          <a:xfrm>
            <a:off x="365760" y="3246120"/>
            <a:ext cx="1417320" cy="274320"/>
          </a:xfrm>
          <a:prstGeom prst="rect">
            <a:avLst/>
          </a:prstGeom>
          <a:solidFill>
            <a:srgbClr val="E7EBF5"/>
          </a:solidFill>
          <a:ln/>
        </p:spPr>
        <p:txBody>
          <a:bodyPr/>
          <a:lstStyle/>
          <a:p>
            <a:endParaRPr/>
          </a:p>
        </p:txBody>
      </p:sp>
      <p:sp>
        <p:nvSpPr>
          <p:cNvPr id="43" name="Text 41"/>
          <p:cNvSpPr/>
          <p:nvPr/>
        </p:nvSpPr>
        <p:spPr>
          <a:xfrm>
            <a:off x="365760" y="3246120"/>
            <a:ext cx="1417320" cy="274320"/>
          </a:xfrm>
          <a:prstGeom prst="rect">
            <a:avLst/>
          </a:prstGeom>
          <a:noFill/>
          <a:ln/>
        </p:spPr>
        <p:txBody>
          <a:bodyPr wrap="square" lIns="0" tIns="0" rIns="0" bIns="0" rtlCol="0" anchor="ctr"/>
          <a:lstStyle/>
          <a:p>
            <a:pPr marL="0" indent="0" algn="ctr">
              <a:buNone/>
            </a:pPr>
            <a:r>
              <a:rPr lang="en-US" sz="800" b="1" dirty="0">
                <a:solidFill>
                  <a:srgbClr val="2D394F"/>
                </a:solidFill>
              </a:rPr>
              <a:t>SHARED APPROACH</a:t>
            </a:r>
            <a:endParaRPr lang="en-US" sz="800" dirty="0"/>
          </a:p>
        </p:txBody>
      </p:sp>
      <p:graphicFrame>
        <p:nvGraphicFramePr>
          <p:cNvPr id="45" name="Table 0"/>
          <p:cNvGraphicFramePr>
            <a:graphicFrameLocks noGrp="1"/>
          </p:cNvGraphicFramePr>
          <p:nvPr>
            <p:extLst>
              <p:ext uri="{D42A27DB-BD31-4B8C-83A1-F6EECF244321}">
                <p14:modId xmlns:p14="http://schemas.microsoft.com/office/powerpoint/2010/main" val="1459723062"/>
              </p:ext>
            </p:extLst>
          </p:nvPr>
        </p:nvGraphicFramePr>
        <p:xfrm>
          <a:off x="1568670" y="3710730"/>
          <a:ext cx="6243144" cy="1371600"/>
        </p:xfrm>
        <a:graphic>
          <a:graphicData uri="http://schemas.openxmlformats.org/drawingml/2006/table">
            <a:tbl>
              <a:tblPr/>
              <a:tblGrid>
                <a:gridCol w="2327952">
                  <a:extLst>
                    <a:ext uri="{9D8B030D-6E8A-4147-A177-3AD203B41FA5}">
                      <a16:colId xmlns:a16="http://schemas.microsoft.com/office/drawing/2014/main" val="20000"/>
                    </a:ext>
                  </a:extLst>
                </a:gridCol>
                <a:gridCol w="3915192">
                  <a:extLst>
                    <a:ext uri="{9D8B030D-6E8A-4147-A177-3AD203B41FA5}">
                      <a16:colId xmlns:a16="http://schemas.microsoft.com/office/drawing/2014/main" val="20002"/>
                    </a:ext>
                  </a:extLst>
                </a:gridCol>
              </a:tblGrid>
              <a:tr h="213360">
                <a:tc>
                  <a:txBody>
                    <a:bodyPr/>
                    <a:lstStyle/>
                    <a:p>
                      <a:pPr marL="0" indent="0" algn="l">
                        <a:buNone/>
                      </a:pPr>
                      <a:r>
                        <a:rPr lang="en-US" sz="900" b="1" dirty="0">
                          <a:solidFill>
                            <a:srgbClr val="2D394F"/>
                          </a:solidFill>
                        </a:rPr>
                        <a:t>Contribution</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EEEAF8"/>
                    </a:solidFill>
                  </a:tcPr>
                </a:tc>
                <a:tc>
                  <a:txBody>
                    <a:bodyPr/>
                    <a:lstStyle/>
                    <a:p>
                      <a:pPr marL="0" indent="0" algn="l">
                        <a:buNone/>
                      </a:pPr>
                      <a:r>
                        <a:rPr lang="en-US" sz="900" b="1" dirty="0">
                          <a:solidFill>
                            <a:srgbClr val="2D394F"/>
                          </a:solidFill>
                        </a:rPr>
                        <a:t>Our Team</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EEEAF8"/>
                    </a:solidFill>
                  </a:tcPr>
                </a:tc>
                <a:extLst>
                  <a:ext uri="{0D108BD9-81ED-4DB2-BD59-A6C34878D82A}">
                    <a16:rowId xmlns:a16="http://schemas.microsoft.com/office/drawing/2014/main" val="10000"/>
                  </a:ext>
                </a:extLst>
              </a:tr>
              <a:tr h="213360">
                <a:tc>
                  <a:txBody>
                    <a:bodyPr/>
                    <a:lstStyle/>
                    <a:p>
                      <a:pPr marL="0" indent="0" algn="l">
                        <a:buNone/>
                      </a:pPr>
                      <a:r>
                        <a:rPr lang="en-US" sz="900" b="1" dirty="0">
                          <a:solidFill>
                            <a:srgbClr val="2D394F"/>
                          </a:solidFill>
                        </a:rPr>
                        <a:t>Hardware</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tc>
                  <a:txBody>
                    <a:bodyPr/>
                    <a:lstStyle/>
                    <a:p>
                      <a:pPr marL="0" indent="0" algn="l">
                        <a:buNone/>
                      </a:pPr>
                      <a:r>
                        <a:rPr lang="en-US" sz="900" dirty="0">
                          <a:solidFill>
                            <a:srgbClr val="2C8C84"/>
                          </a:solidFill>
                        </a:rPr>
                        <a:t>CPU Colab — GPT-2 Medium</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extLst>
                  <a:ext uri="{0D108BD9-81ED-4DB2-BD59-A6C34878D82A}">
                    <a16:rowId xmlns:a16="http://schemas.microsoft.com/office/drawing/2014/main" val="10001"/>
                  </a:ext>
                </a:extLst>
              </a:tr>
              <a:tr h="213360">
                <a:tc>
                  <a:txBody>
                    <a:bodyPr/>
                    <a:lstStyle/>
                    <a:p>
                      <a:pPr marL="0" indent="0" algn="l">
                        <a:buNone/>
                      </a:pPr>
                      <a:r>
                        <a:rPr lang="en-US" sz="900" b="1" dirty="0">
                          <a:solidFill>
                            <a:srgbClr val="2D394F"/>
                          </a:solidFill>
                        </a:rPr>
                        <a:t>Dynamic Eviction Policy</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tc>
                  <a:txBody>
                    <a:bodyPr/>
                    <a:lstStyle/>
                    <a:p>
                      <a:pPr marL="0" indent="0" algn="l">
                        <a:buNone/>
                      </a:pPr>
                      <a:r>
                        <a:rPr lang="en-US" sz="900" dirty="0">
                          <a:solidFill>
                            <a:srgbClr val="2C8C84"/>
                          </a:solidFill>
                        </a:rPr>
                        <a:t>✓ ASEP (our contribution)</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3360">
                <a:tc>
                  <a:txBody>
                    <a:bodyPr/>
                    <a:lstStyle/>
                    <a:p>
                      <a:pPr marL="0" indent="0" algn="l">
                        <a:buNone/>
                      </a:pPr>
                      <a:r>
                        <a:rPr lang="en-US" sz="900" b="1" dirty="0">
                          <a:solidFill>
                            <a:srgbClr val="2D394F"/>
                          </a:solidFill>
                        </a:rPr>
                        <a:t>Full Conversation Simulator</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tc>
                  <a:txBody>
                    <a:bodyPr/>
                    <a:lstStyle/>
                    <a:p>
                      <a:pPr marL="0" indent="0" algn="l">
                        <a:buNone/>
                      </a:pPr>
                      <a:r>
                        <a:rPr lang="en-US" sz="900" dirty="0">
                          <a:solidFill>
                            <a:srgbClr val="2C8C84"/>
                          </a:solidFill>
                        </a:rPr>
                        <a:t>✓ 1000-token trace, per-block tracking</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extLst>
                  <a:ext uri="{0D108BD9-81ED-4DB2-BD59-A6C34878D82A}">
                    <a16:rowId xmlns:a16="http://schemas.microsoft.com/office/drawing/2014/main" val="10003"/>
                  </a:ext>
                </a:extLst>
              </a:tr>
              <a:tr h="213360">
                <a:tc>
                  <a:txBody>
                    <a:bodyPr/>
                    <a:lstStyle/>
                    <a:p>
                      <a:pPr marL="0" indent="0" algn="l">
                        <a:buNone/>
                      </a:pPr>
                      <a:r>
                        <a:rPr lang="en-US" sz="900" b="1" dirty="0">
                          <a:solidFill>
                            <a:srgbClr val="2D394F"/>
                          </a:solidFill>
                        </a:rPr>
                        <a:t>Controlled Policy Experiment</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tc>
                  <a:txBody>
                    <a:bodyPr/>
                    <a:lstStyle/>
                    <a:p>
                      <a:pPr marL="0" indent="0" algn="l">
                        <a:buNone/>
                      </a:pPr>
                      <a:r>
                        <a:rPr lang="en-US" sz="900" dirty="0">
                          <a:solidFill>
                            <a:srgbClr val="2C8C84"/>
                          </a:solidFill>
                        </a:rPr>
                        <a:t>✓ LRU vs ASEP — same inputs, isolated variable</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3360">
                <a:tc>
                  <a:txBody>
                    <a:bodyPr/>
                    <a:lstStyle/>
                    <a:p>
                      <a:pPr marL="0" indent="0" algn="l">
                        <a:buNone/>
                      </a:pPr>
                      <a:r>
                        <a:rPr lang="en-US" sz="900" b="1" dirty="0">
                          <a:solidFill>
                            <a:srgbClr val="2D394F"/>
                          </a:solidFill>
                        </a:rPr>
                        <a:t>Quantified Policy Improvement</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tc>
                  <a:txBody>
                    <a:bodyPr/>
                    <a:lstStyle/>
                    <a:p>
                      <a:pPr marL="0" indent="0" algn="l">
                        <a:buNone/>
                      </a:pPr>
                      <a:r>
                        <a:rPr lang="en-US" sz="900" dirty="0">
                          <a:solidFill>
                            <a:srgbClr val="2C8C84"/>
                          </a:solidFill>
                        </a:rPr>
                        <a:t>✓ 40% fewer wasted evictions, 57% less promotion</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F3F73"/>
          </a:solidFill>
          <a:ln/>
        </p:spPr>
        <p:txBody>
          <a:bodyPr/>
          <a:lstStyle/>
          <a:p>
            <a:endParaRPr/>
          </a:p>
        </p:txBody>
      </p:sp>
      <p:sp>
        <p:nvSpPr>
          <p:cNvPr id="3" name="Text 1"/>
          <p:cNvSpPr/>
          <p:nvPr/>
        </p:nvSpPr>
        <p:spPr>
          <a:xfrm>
            <a:off x="320040" y="164592"/>
            <a:ext cx="8503920" cy="411480"/>
          </a:xfrm>
          <a:prstGeom prst="rect">
            <a:avLst/>
          </a:prstGeom>
          <a:noFill/>
          <a:ln/>
        </p:spPr>
        <p:txBody>
          <a:bodyPr wrap="square" rtlCol="0" anchor="ctr"/>
          <a:lstStyle/>
          <a:p>
            <a:pPr marL="0" indent="0">
              <a:buNone/>
            </a:pPr>
            <a:r>
              <a:rPr lang="en-US" sz="2000" b="1" kern="0" spc="200" dirty="0">
                <a:solidFill>
                  <a:srgbClr val="2F3F73"/>
                </a:solidFill>
              </a:rPr>
              <a:t>3-TIER MEMORY ARCHITECTURE</a:t>
            </a:r>
            <a:endParaRPr lang="en-US" sz="2000" dirty="0"/>
          </a:p>
        </p:txBody>
      </p:sp>
      <p:sp>
        <p:nvSpPr>
          <p:cNvPr id="4" name="Text 2"/>
          <p:cNvSpPr/>
          <p:nvPr/>
        </p:nvSpPr>
        <p:spPr>
          <a:xfrm>
            <a:off x="320040" y="548640"/>
            <a:ext cx="8503920" cy="256032"/>
          </a:xfrm>
          <a:prstGeom prst="rect">
            <a:avLst/>
          </a:prstGeom>
          <a:noFill/>
          <a:ln/>
        </p:spPr>
        <p:txBody>
          <a:bodyPr wrap="square" rtlCol="0" anchor="ctr"/>
          <a:lstStyle/>
          <a:p>
            <a:pPr marL="0" indent="0">
              <a:buNone/>
            </a:pPr>
            <a:r>
              <a:rPr lang="en-US" sz="1000" dirty="0">
                <a:solidFill>
                  <a:srgbClr val="636F86"/>
                </a:solidFill>
              </a:rPr>
              <a:t>02 — Track B: Hierarchical &amp; Tiered Memory for LLMs</a:t>
            </a:r>
            <a:endParaRPr lang="en-US" sz="1000" dirty="0"/>
          </a:p>
        </p:txBody>
      </p:sp>
      <p:sp>
        <p:nvSpPr>
          <p:cNvPr id="5" name="Shape 3"/>
          <p:cNvSpPr/>
          <p:nvPr/>
        </p:nvSpPr>
        <p:spPr>
          <a:xfrm>
            <a:off x="274320" y="960120"/>
            <a:ext cx="4846320" cy="822960"/>
          </a:xfrm>
          <a:prstGeom prst="rect">
            <a:avLst/>
          </a:prstGeom>
          <a:solidFill>
            <a:srgbClr val="FFFFFF"/>
          </a:solidFill>
          <a:ln w="25400">
            <a:solidFill>
              <a:srgbClr val="2C8C84"/>
            </a:solidFill>
            <a:prstDash val="solid"/>
          </a:ln>
        </p:spPr>
        <p:txBody>
          <a:bodyPr/>
          <a:lstStyle/>
          <a:p>
            <a:endParaRPr/>
          </a:p>
        </p:txBody>
      </p:sp>
      <p:sp>
        <p:nvSpPr>
          <p:cNvPr id="6" name="Shape 4"/>
          <p:cNvSpPr/>
          <p:nvPr/>
        </p:nvSpPr>
        <p:spPr>
          <a:xfrm>
            <a:off x="274320" y="960120"/>
            <a:ext cx="1645920" cy="822960"/>
          </a:xfrm>
          <a:prstGeom prst="rect">
            <a:avLst/>
          </a:prstGeom>
          <a:solidFill>
            <a:srgbClr val="E1F2EF"/>
          </a:solidFill>
          <a:ln/>
        </p:spPr>
        <p:txBody>
          <a:bodyPr/>
          <a:lstStyle/>
          <a:p>
            <a:endParaRPr/>
          </a:p>
        </p:txBody>
      </p:sp>
      <p:sp>
        <p:nvSpPr>
          <p:cNvPr id="7" name="Text 5"/>
          <p:cNvSpPr/>
          <p:nvPr/>
        </p:nvSpPr>
        <p:spPr>
          <a:xfrm>
            <a:off x="274320" y="960120"/>
            <a:ext cx="1645920" cy="411480"/>
          </a:xfrm>
          <a:prstGeom prst="rect">
            <a:avLst/>
          </a:prstGeom>
          <a:noFill/>
          <a:ln/>
        </p:spPr>
        <p:txBody>
          <a:bodyPr wrap="square" lIns="0" tIns="0" rIns="0" bIns="0" rtlCol="0" anchor="ctr"/>
          <a:lstStyle/>
          <a:p>
            <a:pPr marL="0" indent="0" algn="ctr">
              <a:buNone/>
            </a:pPr>
            <a:r>
              <a:rPr lang="en-US" sz="950" b="1" dirty="0">
                <a:solidFill>
                  <a:srgbClr val="2D394F"/>
                </a:solidFill>
              </a:rPr>
              <a:t>TIER 1 — SRAM</a:t>
            </a:r>
            <a:endParaRPr lang="en-US" sz="950" dirty="0"/>
          </a:p>
        </p:txBody>
      </p:sp>
      <p:sp>
        <p:nvSpPr>
          <p:cNvPr id="8" name="Text 6"/>
          <p:cNvSpPr/>
          <p:nvPr/>
        </p:nvSpPr>
        <p:spPr>
          <a:xfrm>
            <a:off x="274320" y="1371600"/>
            <a:ext cx="1645920" cy="411480"/>
          </a:xfrm>
          <a:prstGeom prst="rect">
            <a:avLst/>
          </a:prstGeom>
          <a:noFill/>
          <a:ln/>
        </p:spPr>
        <p:txBody>
          <a:bodyPr wrap="square" lIns="0" tIns="0" rIns="0" bIns="0" rtlCol="0" anchor="ctr"/>
          <a:lstStyle/>
          <a:p>
            <a:pPr marL="0" indent="0" algn="ctr">
              <a:buNone/>
            </a:pPr>
            <a:r>
              <a:rPr lang="en-US" sz="800" dirty="0">
                <a:solidFill>
                  <a:srgbClr val="2D394F"/>
                </a:solidFill>
              </a:rPr>
              <a:t>4 MB · 10 TB/s · 1 ns</a:t>
            </a:r>
            <a:endParaRPr lang="en-US" sz="800" dirty="0"/>
          </a:p>
        </p:txBody>
      </p:sp>
      <p:sp>
        <p:nvSpPr>
          <p:cNvPr id="9" name="Text 7"/>
          <p:cNvSpPr/>
          <p:nvPr/>
        </p:nvSpPr>
        <p:spPr>
          <a:xfrm>
            <a:off x="2011680" y="1143000"/>
            <a:ext cx="3017520" cy="457200"/>
          </a:xfrm>
          <a:prstGeom prst="rect">
            <a:avLst/>
          </a:prstGeom>
          <a:noFill/>
          <a:ln/>
        </p:spPr>
        <p:txBody>
          <a:bodyPr wrap="square" lIns="0" tIns="0" rIns="0" bIns="0" rtlCol="0" anchor="ctr"/>
          <a:lstStyle/>
          <a:p>
            <a:pPr marL="0" indent="0">
              <a:buNone/>
            </a:pPr>
            <a:r>
              <a:rPr lang="en-US" sz="1000" dirty="0">
                <a:solidFill>
                  <a:srgbClr val="2D394F"/>
                </a:solidFill>
              </a:rPr>
              <a:t>Attention tiles · Hot activations · Compute buffer</a:t>
            </a:r>
            <a:endParaRPr lang="en-US" sz="1000" dirty="0"/>
          </a:p>
        </p:txBody>
      </p:sp>
      <p:sp>
        <p:nvSpPr>
          <p:cNvPr id="10" name="Shape 8"/>
          <p:cNvSpPr/>
          <p:nvPr/>
        </p:nvSpPr>
        <p:spPr>
          <a:xfrm>
            <a:off x="274320" y="1965960"/>
            <a:ext cx="4846320" cy="822960"/>
          </a:xfrm>
          <a:prstGeom prst="rect">
            <a:avLst/>
          </a:prstGeom>
          <a:solidFill>
            <a:srgbClr val="FFFFFF"/>
          </a:solidFill>
          <a:ln w="25400">
            <a:solidFill>
              <a:srgbClr val="D4A256"/>
            </a:solidFill>
            <a:prstDash val="solid"/>
          </a:ln>
        </p:spPr>
        <p:txBody>
          <a:bodyPr/>
          <a:lstStyle/>
          <a:p>
            <a:endParaRPr/>
          </a:p>
        </p:txBody>
      </p:sp>
      <p:sp>
        <p:nvSpPr>
          <p:cNvPr id="11" name="Shape 9"/>
          <p:cNvSpPr/>
          <p:nvPr/>
        </p:nvSpPr>
        <p:spPr>
          <a:xfrm>
            <a:off x="274320" y="1965960"/>
            <a:ext cx="1645920" cy="822960"/>
          </a:xfrm>
          <a:prstGeom prst="rect">
            <a:avLst/>
          </a:prstGeom>
          <a:solidFill>
            <a:srgbClr val="F7ECDA"/>
          </a:solidFill>
          <a:ln/>
        </p:spPr>
        <p:txBody>
          <a:bodyPr/>
          <a:lstStyle/>
          <a:p>
            <a:endParaRPr/>
          </a:p>
        </p:txBody>
      </p:sp>
      <p:sp>
        <p:nvSpPr>
          <p:cNvPr id="12" name="Text 10"/>
          <p:cNvSpPr/>
          <p:nvPr/>
        </p:nvSpPr>
        <p:spPr>
          <a:xfrm>
            <a:off x="274320" y="1965960"/>
            <a:ext cx="1645920" cy="411480"/>
          </a:xfrm>
          <a:prstGeom prst="rect">
            <a:avLst/>
          </a:prstGeom>
          <a:noFill/>
          <a:ln/>
        </p:spPr>
        <p:txBody>
          <a:bodyPr wrap="square" lIns="0" tIns="0" rIns="0" bIns="0" rtlCol="0" anchor="ctr"/>
          <a:lstStyle/>
          <a:p>
            <a:pPr marL="0" indent="0" algn="ctr">
              <a:buNone/>
            </a:pPr>
            <a:r>
              <a:rPr lang="en-US" sz="950" b="1" dirty="0">
                <a:solidFill>
                  <a:srgbClr val="2D394F"/>
                </a:solidFill>
              </a:rPr>
              <a:t>TIER 2 — GPU HBM</a:t>
            </a:r>
            <a:endParaRPr lang="en-US" sz="950" dirty="0"/>
          </a:p>
        </p:txBody>
      </p:sp>
      <p:sp>
        <p:nvSpPr>
          <p:cNvPr id="13" name="Text 11"/>
          <p:cNvSpPr/>
          <p:nvPr/>
        </p:nvSpPr>
        <p:spPr>
          <a:xfrm>
            <a:off x="274320" y="2377440"/>
            <a:ext cx="1645920" cy="411480"/>
          </a:xfrm>
          <a:prstGeom prst="rect">
            <a:avLst/>
          </a:prstGeom>
          <a:noFill/>
          <a:ln/>
        </p:spPr>
        <p:txBody>
          <a:bodyPr wrap="square" lIns="0" tIns="0" rIns="0" bIns="0" rtlCol="0" anchor="ctr"/>
          <a:lstStyle/>
          <a:p>
            <a:pPr marL="0" indent="0" algn="ctr">
              <a:buNone/>
            </a:pPr>
            <a:r>
              <a:rPr lang="en-US" sz="800" dirty="0">
                <a:solidFill>
                  <a:srgbClr val="2D394F"/>
                </a:solidFill>
              </a:rPr>
              <a:t>48 MB* · 3.35 TB/s · 10 ns</a:t>
            </a:r>
            <a:endParaRPr lang="en-US" sz="800" dirty="0"/>
          </a:p>
        </p:txBody>
      </p:sp>
      <p:sp>
        <p:nvSpPr>
          <p:cNvPr id="14" name="Text 12"/>
          <p:cNvSpPr/>
          <p:nvPr/>
        </p:nvSpPr>
        <p:spPr>
          <a:xfrm>
            <a:off x="2011680" y="2148840"/>
            <a:ext cx="3017520" cy="457200"/>
          </a:xfrm>
          <a:prstGeom prst="rect">
            <a:avLst/>
          </a:prstGeom>
          <a:noFill/>
          <a:ln/>
        </p:spPr>
        <p:txBody>
          <a:bodyPr wrap="square" lIns="0" tIns="0" rIns="0" bIns="0" rtlCol="0" anchor="ctr"/>
          <a:lstStyle/>
          <a:p>
            <a:pPr marL="0" indent="0">
              <a:buNone/>
            </a:pPr>
            <a:r>
              <a:rPr lang="en-US" sz="1000" dirty="0">
                <a:solidFill>
                  <a:srgbClr val="2D394F"/>
                </a:solidFill>
              </a:rPr>
              <a:t>Active KV blocks · Model weights · Recent context</a:t>
            </a:r>
            <a:endParaRPr lang="en-US" sz="1000" dirty="0"/>
          </a:p>
        </p:txBody>
      </p:sp>
      <p:sp>
        <p:nvSpPr>
          <p:cNvPr id="15" name="Shape 13"/>
          <p:cNvSpPr/>
          <p:nvPr/>
        </p:nvSpPr>
        <p:spPr>
          <a:xfrm>
            <a:off x="274320" y="2971800"/>
            <a:ext cx="4846320" cy="822960"/>
          </a:xfrm>
          <a:prstGeom prst="rect">
            <a:avLst/>
          </a:prstGeom>
          <a:solidFill>
            <a:srgbClr val="FFFFFF"/>
          </a:solidFill>
          <a:ln w="25400">
            <a:solidFill>
              <a:srgbClr val="D4A256"/>
            </a:solidFill>
            <a:prstDash val="solid"/>
          </a:ln>
        </p:spPr>
        <p:txBody>
          <a:bodyPr/>
          <a:lstStyle/>
          <a:p>
            <a:endParaRPr/>
          </a:p>
        </p:txBody>
      </p:sp>
      <p:sp>
        <p:nvSpPr>
          <p:cNvPr id="16" name="Shape 14"/>
          <p:cNvSpPr/>
          <p:nvPr/>
        </p:nvSpPr>
        <p:spPr>
          <a:xfrm>
            <a:off x="274320" y="2971800"/>
            <a:ext cx="1645920" cy="822960"/>
          </a:xfrm>
          <a:prstGeom prst="rect">
            <a:avLst/>
          </a:prstGeom>
          <a:solidFill>
            <a:srgbClr val="F7ECDA"/>
          </a:solidFill>
          <a:ln/>
        </p:spPr>
        <p:txBody>
          <a:bodyPr/>
          <a:lstStyle/>
          <a:p>
            <a:endParaRPr/>
          </a:p>
        </p:txBody>
      </p:sp>
      <p:sp>
        <p:nvSpPr>
          <p:cNvPr id="17" name="Text 15"/>
          <p:cNvSpPr/>
          <p:nvPr/>
        </p:nvSpPr>
        <p:spPr>
          <a:xfrm>
            <a:off x="274320" y="2971800"/>
            <a:ext cx="1645920" cy="411480"/>
          </a:xfrm>
          <a:prstGeom prst="rect">
            <a:avLst/>
          </a:prstGeom>
          <a:noFill/>
          <a:ln/>
        </p:spPr>
        <p:txBody>
          <a:bodyPr wrap="square" lIns="0" tIns="0" rIns="0" bIns="0" rtlCol="0" anchor="ctr"/>
          <a:lstStyle/>
          <a:p>
            <a:pPr marL="0" indent="0" algn="ctr">
              <a:buNone/>
            </a:pPr>
            <a:r>
              <a:rPr lang="en-US" sz="950" b="1" dirty="0">
                <a:solidFill>
                  <a:srgbClr val="2D394F"/>
                </a:solidFill>
              </a:rPr>
              <a:t>TIER 3 — HOST DRAM</a:t>
            </a:r>
            <a:endParaRPr lang="en-US" sz="950" dirty="0"/>
          </a:p>
        </p:txBody>
      </p:sp>
      <p:sp>
        <p:nvSpPr>
          <p:cNvPr id="18" name="Text 16"/>
          <p:cNvSpPr/>
          <p:nvPr/>
        </p:nvSpPr>
        <p:spPr>
          <a:xfrm>
            <a:off x="274320" y="3383280"/>
            <a:ext cx="1645920" cy="411480"/>
          </a:xfrm>
          <a:prstGeom prst="rect">
            <a:avLst/>
          </a:prstGeom>
          <a:noFill/>
          <a:ln/>
        </p:spPr>
        <p:txBody>
          <a:bodyPr wrap="square" lIns="0" tIns="0" rIns="0" bIns="0" rtlCol="0" anchor="ctr"/>
          <a:lstStyle/>
          <a:p>
            <a:pPr marL="0" indent="0" algn="ctr">
              <a:buNone/>
            </a:pPr>
            <a:r>
              <a:rPr lang="en-US" sz="800" dirty="0">
                <a:solidFill>
                  <a:srgbClr val="2D394F"/>
                </a:solidFill>
              </a:rPr>
              <a:t>512 GB · 68 GB/s · 80 ns</a:t>
            </a:r>
            <a:endParaRPr lang="en-US" sz="800" dirty="0"/>
          </a:p>
        </p:txBody>
      </p:sp>
      <p:sp>
        <p:nvSpPr>
          <p:cNvPr id="19" name="Text 17"/>
          <p:cNvSpPr/>
          <p:nvPr/>
        </p:nvSpPr>
        <p:spPr>
          <a:xfrm>
            <a:off x="2011680" y="3154680"/>
            <a:ext cx="3017520" cy="457200"/>
          </a:xfrm>
          <a:prstGeom prst="rect">
            <a:avLst/>
          </a:prstGeom>
          <a:noFill/>
          <a:ln/>
        </p:spPr>
        <p:txBody>
          <a:bodyPr wrap="square" lIns="0" tIns="0" rIns="0" bIns="0" rtlCol="0" anchor="ctr"/>
          <a:lstStyle/>
          <a:p>
            <a:pPr marL="0" indent="0">
              <a:buNone/>
            </a:pPr>
            <a:r>
              <a:rPr lang="en-US" sz="1000" dirty="0">
                <a:solidFill>
                  <a:srgbClr val="2D394F"/>
                </a:solidFill>
              </a:rPr>
              <a:t>Cold KV (INT4 compressed) · Archived context</a:t>
            </a:r>
            <a:endParaRPr lang="en-US" sz="1000" dirty="0"/>
          </a:p>
        </p:txBody>
      </p:sp>
      <p:sp>
        <p:nvSpPr>
          <p:cNvPr id="20" name="Shape 18"/>
          <p:cNvSpPr/>
          <p:nvPr/>
        </p:nvSpPr>
        <p:spPr>
          <a:xfrm>
            <a:off x="1371600" y="1792224"/>
            <a:ext cx="0" cy="155448"/>
          </a:xfrm>
          <a:prstGeom prst="line">
            <a:avLst/>
          </a:prstGeom>
          <a:noFill/>
          <a:ln w="19050">
            <a:solidFill>
              <a:srgbClr val="B8BFD1"/>
            </a:solidFill>
            <a:prstDash val="solid"/>
          </a:ln>
        </p:spPr>
        <p:txBody>
          <a:bodyPr/>
          <a:lstStyle/>
          <a:p>
            <a:endParaRPr/>
          </a:p>
        </p:txBody>
      </p:sp>
      <p:sp>
        <p:nvSpPr>
          <p:cNvPr id="21" name="Text 19"/>
          <p:cNvSpPr/>
          <p:nvPr/>
        </p:nvSpPr>
        <p:spPr>
          <a:xfrm>
            <a:off x="1463040" y="1810512"/>
            <a:ext cx="1371600" cy="164592"/>
          </a:xfrm>
          <a:prstGeom prst="rect">
            <a:avLst/>
          </a:prstGeom>
          <a:noFill/>
          <a:ln/>
        </p:spPr>
        <p:txBody>
          <a:bodyPr wrap="square" lIns="0" tIns="0" rIns="0" bIns="0" rtlCol="0" anchor="ctr"/>
          <a:lstStyle/>
          <a:p>
            <a:pPr marL="0" indent="0">
              <a:buNone/>
            </a:pPr>
            <a:r>
              <a:rPr lang="en-US" sz="800" i="1" dirty="0">
                <a:solidFill>
                  <a:srgbClr val="636F86"/>
                </a:solidFill>
              </a:rPr>
              <a:t>↕ prefetch / evict</a:t>
            </a:r>
            <a:endParaRPr lang="en-US" sz="800" dirty="0"/>
          </a:p>
        </p:txBody>
      </p:sp>
      <p:sp>
        <p:nvSpPr>
          <p:cNvPr id="22" name="Shape 20"/>
          <p:cNvSpPr/>
          <p:nvPr/>
        </p:nvSpPr>
        <p:spPr>
          <a:xfrm>
            <a:off x="1371600" y="2798064"/>
            <a:ext cx="0" cy="155448"/>
          </a:xfrm>
          <a:prstGeom prst="line">
            <a:avLst/>
          </a:prstGeom>
          <a:noFill/>
          <a:ln w="19050">
            <a:solidFill>
              <a:srgbClr val="B8BFD1"/>
            </a:solidFill>
            <a:prstDash val="solid"/>
          </a:ln>
        </p:spPr>
        <p:txBody>
          <a:bodyPr/>
          <a:lstStyle/>
          <a:p>
            <a:endParaRPr/>
          </a:p>
        </p:txBody>
      </p:sp>
      <p:sp>
        <p:nvSpPr>
          <p:cNvPr id="23" name="Text 21"/>
          <p:cNvSpPr/>
          <p:nvPr/>
        </p:nvSpPr>
        <p:spPr>
          <a:xfrm>
            <a:off x="1463040" y="2816352"/>
            <a:ext cx="1371600" cy="164592"/>
          </a:xfrm>
          <a:prstGeom prst="rect">
            <a:avLst/>
          </a:prstGeom>
          <a:noFill/>
          <a:ln/>
        </p:spPr>
        <p:txBody>
          <a:bodyPr wrap="square" lIns="0" tIns="0" rIns="0" bIns="0" rtlCol="0" anchor="ctr"/>
          <a:lstStyle/>
          <a:p>
            <a:pPr marL="0" indent="0">
              <a:buNone/>
            </a:pPr>
            <a:r>
              <a:rPr lang="en-US" sz="800" i="1" dirty="0">
                <a:solidFill>
                  <a:srgbClr val="636F86"/>
                </a:solidFill>
              </a:rPr>
              <a:t>↕ evict / promote</a:t>
            </a:r>
            <a:endParaRPr lang="en-US" sz="800" dirty="0"/>
          </a:p>
        </p:txBody>
      </p:sp>
      <p:sp>
        <p:nvSpPr>
          <p:cNvPr id="24" name="Shape 22"/>
          <p:cNvSpPr/>
          <p:nvPr/>
        </p:nvSpPr>
        <p:spPr>
          <a:xfrm>
            <a:off x="5486400" y="914400"/>
            <a:ext cx="3383280" cy="3063240"/>
          </a:xfrm>
          <a:prstGeom prst="rect">
            <a:avLst/>
          </a:prstGeom>
          <a:solidFill>
            <a:srgbClr val="F7F1E8"/>
          </a:solidFill>
          <a:ln w="12700">
            <a:solidFill>
              <a:srgbClr val="B8BFD1"/>
            </a:solidFill>
            <a:prstDash val="solid"/>
          </a:ln>
        </p:spPr>
        <p:txBody>
          <a:bodyPr/>
          <a:lstStyle/>
          <a:p>
            <a:endParaRPr/>
          </a:p>
        </p:txBody>
      </p:sp>
      <p:sp>
        <p:nvSpPr>
          <p:cNvPr id="25" name="Text 23"/>
          <p:cNvSpPr/>
          <p:nvPr/>
        </p:nvSpPr>
        <p:spPr>
          <a:xfrm>
            <a:off x="5577840" y="987552"/>
            <a:ext cx="3200400" cy="320040"/>
          </a:xfrm>
          <a:prstGeom prst="rect">
            <a:avLst/>
          </a:prstGeom>
          <a:noFill/>
          <a:ln/>
        </p:spPr>
        <p:txBody>
          <a:bodyPr wrap="square" lIns="0" tIns="0" rIns="0" bIns="0" rtlCol="0" anchor="ctr"/>
          <a:lstStyle/>
          <a:p>
            <a:pPr marL="0" indent="0">
              <a:buNone/>
            </a:pPr>
            <a:r>
              <a:rPr lang="en-US" sz="1100" b="1" dirty="0">
                <a:solidFill>
                  <a:srgbClr val="2C8C84"/>
                </a:solidFill>
              </a:rPr>
              <a:t>DESIGN GOALS</a:t>
            </a:r>
            <a:endParaRPr lang="en-US" sz="1100" dirty="0"/>
          </a:p>
        </p:txBody>
      </p:sp>
      <p:sp>
        <p:nvSpPr>
          <p:cNvPr id="26" name="Shape 24"/>
          <p:cNvSpPr/>
          <p:nvPr/>
        </p:nvSpPr>
        <p:spPr>
          <a:xfrm>
            <a:off x="5577840" y="1389888"/>
            <a:ext cx="146304" cy="146304"/>
          </a:xfrm>
          <a:prstGeom prst="ellipse">
            <a:avLst/>
          </a:prstGeom>
          <a:solidFill>
            <a:srgbClr val="E1F2EF"/>
          </a:solidFill>
          <a:ln/>
        </p:spPr>
        <p:txBody>
          <a:bodyPr/>
          <a:lstStyle/>
          <a:p>
            <a:endParaRPr/>
          </a:p>
        </p:txBody>
      </p:sp>
      <p:sp>
        <p:nvSpPr>
          <p:cNvPr id="27" name="Text 25"/>
          <p:cNvSpPr/>
          <p:nvPr/>
        </p:nvSpPr>
        <p:spPr>
          <a:xfrm>
            <a:off x="5806440" y="1362456"/>
            <a:ext cx="2971800" cy="274320"/>
          </a:xfrm>
          <a:prstGeom prst="rect">
            <a:avLst/>
          </a:prstGeom>
          <a:noFill/>
          <a:ln/>
        </p:spPr>
        <p:txBody>
          <a:bodyPr wrap="square" lIns="0" tIns="0" rIns="0" bIns="0" rtlCol="0" anchor="ctr"/>
          <a:lstStyle/>
          <a:p>
            <a:pPr marL="0" indent="0">
              <a:buNone/>
            </a:pPr>
            <a:r>
              <a:rPr lang="en-US" sz="950" dirty="0">
                <a:solidFill>
                  <a:srgbClr val="2D394F"/>
                </a:solidFill>
              </a:rPr>
              <a:t>Keep latency-critical data close to compute</a:t>
            </a:r>
            <a:endParaRPr lang="en-US" sz="950" dirty="0"/>
          </a:p>
        </p:txBody>
      </p:sp>
      <p:sp>
        <p:nvSpPr>
          <p:cNvPr id="28" name="Shape 26"/>
          <p:cNvSpPr/>
          <p:nvPr/>
        </p:nvSpPr>
        <p:spPr>
          <a:xfrm>
            <a:off x="5577840" y="1737360"/>
            <a:ext cx="146304" cy="146304"/>
          </a:xfrm>
          <a:prstGeom prst="ellipse">
            <a:avLst/>
          </a:prstGeom>
          <a:solidFill>
            <a:srgbClr val="E1F2EF"/>
          </a:solidFill>
          <a:ln/>
        </p:spPr>
        <p:txBody>
          <a:bodyPr/>
          <a:lstStyle/>
          <a:p>
            <a:endParaRPr/>
          </a:p>
        </p:txBody>
      </p:sp>
      <p:sp>
        <p:nvSpPr>
          <p:cNvPr id="29" name="Text 27"/>
          <p:cNvSpPr/>
          <p:nvPr/>
        </p:nvSpPr>
        <p:spPr>
          <a:xfrm>
            <a:off x="5806440" y="1709928"/>
            <a:ext cx="2971800" cy="274320"/>
          </a:xfrm>
          <a:prstGeom prst="rect">
            <a:avLst/>
          </a:prstGeom>
          <a:noFill/>
          <a:ln/>
        </p:spPr>
        <p:txBody>
          <a:bodyPr wrap="square" lIns="0" tIns="0" rIns="0" bIns="0" rtlCol="0" anchor="ctr"/>
          <a:lstStyle/>
          <a:p>
            <a:pPr marL="0" indent="0">
              <a:buNone/>
            </a:pPr>
            <a:r>
              <a:rPr lang="en-US" sz="950" dirty="0">
                <a:solidFill>
                  <a:srgbClr val="2D394F"/>
                </a:solidFill>
              </a:rPr>
              <a:t>Use cheap large memory for cold state</a:t>
            </a:r>
            <a:endParaRPr lang="en-US" sz="950" dirty="0"/>
          </a:p>
        </p:txBody>
      </p:sp>
      <p:sp>
        <p:nvSpPr>
          <p:cNvPr id="30" name="Shape 28"/>
          <p:cNvSpPr/>
          <p:nvPr/>
        </p:nvSpPr>
        <p:spPr>
          <a:xfrm>
            <a:off x="5577840" y="2084832"/>
            <a:ext cx="146304" cy="146304"/>
          </a:xfrm>
          <a:prstGeom prst="ellipse">
            <a:avLst/>
          </a:prstGeom>
          <a:solidFill>
            <a:srgbClr val="E1F2EF"/>
          </a:solidFill>
          <a:ln/>
        </p:spPr>
        <p:txBody>
          <a:bodyPr/>
          <a:lstStyle/>
          <a:p>
            <a:endParaRPr/>
          </a:p>
        </p:txBody>
      </p:sp>
      <p:sp>
        <p:nvSpPr>
          <p:cNvPr id="31" name="Text 29"/>
          <p:cNvSpPr/>
          <p:nvPr/>
        </p:nvSpPr>
        <p:spPr>
          <a:xfrm>
            <a:off x="5806440" y="2057400"/>
            <a:ext cx="2971800" cy="274320"/>
          </a:xfrm>
          <a:prstGeom prst="rect">
            <a:avLst/>
          </a:prstGeom>
          <a:noFill/>
          <a:ln/>
        </p:spPr>
        <p:txBody>
          <a:bodyPr wrap="square" lIns="0" tIns="0" rIns="0" bIns="0" rtlCol="0" anchor="ctr"/>
          <a:lstStyle/>
          <a:p>
            <a:pPr marL="0" indent="0">
              <a:buNone/>
            </a:pPr>
            <a:r>
              <a:rPr lang="en-US" sz="950" dirty="0">
                <a:solidFill>
                  <a:srgbClr val="2D394F"/>
                </a:solidFill>
              </a:rPr>
              <a:t>Never let capacity become a hard failure</a:t>
            </a:r>
            <a:endParaRPr lang="en-US" sz="950" dirty="0"/>
          </a:p>
        </p:txBody>
      </p:sp>
      <p:sp>
        <p:nvSpPr>
          <p:cNvPr id="32" name="Shape 30"/>
          <p:cNvSpPr/>
          <p:nvPr/>
        </p:nvSpPr>
        <p:spPr>
          <a:xfrm>
            <a:off x="5577840" y="2432304"/>
            <a:ext cx="146304" cy="146304"/>
          </a:xfrm>
          <a:prstGeom prst="ellipse">
            <a:avLst/>
          </a:prstGeom>
          <a:solidFill>
            <a:srgbClr val="E1F2EF"/>
          </a:solidFill>
          <a:ln/>
        </p:spPr>
        <p:txBody>
          <a:bodyPr/>
          <a:lstStyle/>
          <a:p>
            <a:endParaRPr/>
          </a:p>
        </p:txBody>
      </p:sp>
      <p:sp>
        <p:nvSpPr>
          <p:cNvPr id="33" name="Text 31"/>
          <p:cNvSpPr/>
          <p:nvPr/>
        </p:nvSpPr>
        <p:spPr>
          <a:xfrm>
            <a:off x="5806440" y="2404872"/>
            <a:ext cx="2971800" cy="274320"/>
          </a:xfrm>
          <a:prstGeom prst="rect">
            <a:avLst/>
          </a:prstGeom>
          <a:noFill/>
          <a:ln/>
        </p:spPr>
        <p:txBody>
          <a:bodyPr wrap="square" lIns="0" tIns="0" rIns="0" bIns="0" rtlCol="0" anchor="ctr"/>
          <a:lstStyle/>
          <a:p>
            <a:pPr marL="0" indent="0">
              <a:buNone/>
            </a:pPr>
            <a:r>
              <a:rPr lang="en-US" sz="950" dirty="0">
                <a:solidFill>
                  <a:srgbClr val="2D394F"/>
                </a:solidFill>
              </a:rPr>
              <a:t>INT4 compression before DRAM eviction (4× capacity)</a:t>
            </a:r>
            <a:endParaRPr lang="en-US" sz="950" dirty="0"/>
          </a:p>
        </p:txBody>
      </p:sp>
      <p:sp>
        <p:nvSpPr>
          <p:cNvPr id="34" name="Shape 32"/>
          <p:cNvSpPr/>
          <p:nvPr/>
        </p:nvSpPr>
        <p:spPr>
          <a:xfrm>
            <a:off x="5577840" y="2779776"/>
            <a:ext cx="146304" cy="146304"/>
          </a:xfrm>
          <a:prstGeom prst="ellipse">
            <a:avLst/>
          </a:prstGeom>
          <a:solidFill>
            <a:srgbClr val="E1F2EF"/>
          </a:solidFill>
          <a:ln/>
        </p:spPr>
        <p:txBody>
          <a:bodyPr/>
          <a:lstStyle/>
          <a:p>
            <a:endParaRPr/>
          </a:p>
        </p:txBody>
      </p:sp>
      <p:sp>
        <p:nvSpPr>
          <p:cNvPr id="35" name="Text 33"/>
          <p:cNvSpPr/>
          <p:nvPr/>
        </p:nvSpPr>
        <p:spPr>
          <a:xfrm>
            <a:off x="5806440" y="2752344"/>
            <a:ext cx="2971800" cy="274320"/>
          </a:xfrm>
          <a:prstGeom prst="rect">
            <a:avLst/>
          </a:prstGeom>
          <a:noFill/>
          <a:ln/>
        </p:spPr>
        <p:txBody>
          <a:bodyPr wrap="square" lIns="0" tIns="0" rIns="0" bIns="0" rtlCol="0" anchor="ctr"/>
          <a:lstStyle/>
          <a:p>
            <a:pPr marL="0" indent="0">
              <a:buNone/>
            </a:pPr>
            <a:r>
              <a:rPr lang="en-US" sz="950" dirty="0">
                <a:solidFill>
                  <a:srgbClr val="2D394F"/>
                </a:solidFill>
              </a:rPr>
              <a:t>80% HBM threshold triggers eviction</a:t>
            </a:r>
            <a:endParaRPr lang="en-US" sz="950" dirty="0"/>
          </a:p>
        </p:txBody>
      </p:sp>
      <p:sp>
        <p:nvSpPr>
          <p:cNvPr id="36" name="Shape 34"/>
          <p:cNvSpPr/>
          <p:nvPr/>
        </p:nvSpPr>
        <p:spPr>
          <a:xfrm>
            <a:off x="5577840" y="3127248"/>
            <a:ext cx="146304" cy="146304"/>
          </a:xfrm>
          <a:prstGeom prst="ellipse">
            <a:avLst/>
          </a:prstGeom>
          <a:solidFill>
            <a:srgbClr val="E1F2EF"/>
          </a:solidFill>
          <a:ln/>
        </p:spPr>
        <p:txBody>
          <a:bodyPr/>
          <a:lstStyle/>
          <a:p>
            <a:endParaRPr/>
          </a:p>
        </p:txBody>
      </p:sp>
      <p:sp>
        <p:nvSpPr>
          <p:cNvPr id="37" name="Text 35"/>
          <p:cNvSpPr/>
          <p:nvPr/>
        </p:nvSpPr>
        <p:spPr>
          <a:xfrm>
            <a:off x="5806440" y="3099816"/>
            <a:ext cx="2971800" cy="274320"/>
          </a:xfrm>
          <a:prstGeom prst="rect">
            <a:avLst/>
          </a:prstGeom>
          <a:noFill/>
          <a:ln/>
        </p:spPr>
        <p:txBody>
          <a:bodyPr wrap="square" lIns="0" tIns="0" rIns="0" bIns="0" rtlCol="0" anchor="ctr"/>
          <a:lstStyle/>
          <a:p>
            <a:pPr marL="0" indent="0">
              <a:buNone/>
            </a:pPr>
            <a:r>
              <a:rPr lang="en-US" sz="950" dirty="0">
                <a:solidFill>
                  <a:srgbClr val="2D394F"/>
                </a:solidFill>
              </a:rPr>
              <a:t>ASEP replaces LRU for smarter eviction</a:t>
            </a:r>
            <a:endParaRPr lang="en-US" sz="950" dirty="0"/>
          </a:p>
        </p:txBody>
      </p:sp>
      <p:sp>
        <p:nvSpPr>
          <p:cNvPr id="38" name="Shape 36"/>
          <p:cNvSpPr/>
          <p:nvPr/>
        </p:nvSpPr>
        <p:spPr>
          <a:xfrm>
            <a:off x="274320" y="3931920"/>
            <a:ext cx="8595360" cy="411480"/>
          </a:xfrm>
          <a:prstGeom prst="rect">
            <a:avLst/>
          </a:prstGeom>
          <a:solidFill>
            <a:srgbClr val="FFFFFF"/>
          </a:solidFill>
          <a:ln w="12700">
            <a:solidFill>
              <a:srgbClr val="D4A256"/>
            </a:solidFill>
            <a:prstDash val="solid"/>
          </a:ln>
        </p:spPr>
        <p:txBody>
          <a:bodyPr/>
          <a:lstStyle/>
          <a:p>
            <a:endParaRPr/>
          </a:p>
        </p:txBody>
      </p:sp>
      <p:sp>
        <p:nvSpPr>
          <p:cNvPr id="39" name="Text 37"/>
          <p:cNvSpPr/>
          <p:nvPr/>
        </p:nvSpPr>
        <p:spPr>
          <a:xfrm>
            <a:off x="411480" y="3986784"/>
            <a:ext cx="8321040" cy="292608"/>
          </a:xfrm>
          <a:prstGeom prst="rect">
            <a:avLst/>
          </a:prstGeom>
          <a:noFill/>
          <a:ln/>
        </p:spPr>
        <p:txBody>
          <a:bodyPr wrap="square" lIns="0" tIns="0" rIns="0" bIns="0" rtlCol="0" anchor="ctr"/>
          <a:lstStyle/>
          <a:p>
            <a:pPr marL="0" indent="0">
              <a:buNone/>
            </a:pPr>
            <a:r>
              <a:rPr lang="en-US" sz="900" i="1" dirty="0">
                <a:solidFill>
                  <a:srgbClr val="636F86"/>
                </a:solidFill>
              </a:rPr>
              <a:t>* 48 MB = modeled per-user HBM allocation on a shared GPU serving multiple concurrent inference requests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201168"/>
            <a:ext cx="2468880" cy="256032"/>
          </a:xfrm>
          <a:prstGeom prst="roundRect">
            <a:avLst>
              <a:gd name="adj" fmla="val 17857"/>
            </a:avLst>
          </a:prstGeom>
          <a:solidFill>
            <a:srgbClr val="E1F2EF"/>
          </a:solidFill>
          <a:ln w="6350">
            <a:solidFill>
              <a:srgbClr val="2C8C84"/>
            </a:solidFill>
            <a:prstDash val="solid"/>
          </a:ln>
        </p:spPr>
        <p:txBody>
          <a:bodyPr/>
          <a:lstStyle/>
          <a:p>
            <a:endParaRPr lang="en-US"/>
          </a:p>
        </p:txBody>
      </p:sp>
      <p:sp>
        <p:nvSpPr>
          <p:cNvPr id="3" name="Text 1"/>
          <p:cNvSpPr/>
          <p:nvPr/>
        </p:nvSpPr>
        <p:spPr>
          <a:xfrm>
            <a:off x="365760" y="201168"/>
            <a:ext cx="2468880" cy="256032"/>
          </a:xfrm>
          <a:prstGeom prst="rect">
            <a:avLst/>
          </a:prstGeom>
          <a:noFill/>
          <a:ln/>
        </p:spPr>
        <p:txBody>
          <a:bodyPr wrap="square" lIns="0" tIns="0" rIns="0" bIns="0" rtlCol="0" anchor="ctr"/>
          <a:lstStyle/>
          <a:p>
            <a:pPr marL="0" indent="0" algn="ctr">
              <a:buNone/>
            </a:pPr>
            <a:r>
              <a:rPr lang="en-US" sz="800" dirty="0">
                <a:solidFill>
                  <a:srgbClr val="2C8C84"/>
                </a:solidFill>
              </a:rPr>
              <a:t>03b — Hardware Validation</a:t>
            </a:r>
            <a:endParaRPr lang="en-US" sz="800" dirty="0"/>
          </a:p>
        </p:txBody>
      </p:sp>
      <p:sp>
        <p:nvSpPr>
          <p:cNvPr id="4" name="Text 2"/>
          <p:cNvSpPr/>
          <p:nvPr/>
        </p:nvSpPr>
        <p:spPr>
          <a:xfrm>
            <a:off x="365760" y="566928"/>
            <a:ext cx="8412480" cy="475488"/>
          </a:xfrm>
          <a:prstGeom prst="rect">
            <a:avLst/>
          </a:prstGeom>
          <a:noFill/>
          <a:ln/>
        </p:spPr>
        <p:txBody>
          <a:bodyPr wrap="square" lIns="0" tIns="0" rIns="0" bIns="0" rtlCol="0" anchor="ctr"/>
          <a:lstStyle/>
          <a:p>
            <a:pPr marL="0" indent="0" algn="l">
              <a:buNone/>
            </a:pPr>
            <a:r>
              <a:rPr lang="en-US" sz="2600" b="1" dirty="0">
                <a:solidFill>
                  <a:srgbClr val="2D394F"/>
                </a:solidFill>
                <a:latin typeface="Calibri" pitchFamily="34" charset="0"/>
                <a:ea typeface="Calibri" pitchFamily="34" charset="-122"/>
                <a:cs typeface="Calibri" pitchFamily="34" charset="-120"/>
              </a:rPr>
              <a:t>HARDWARE VALIDATION — 3 PLATFORMS</a:t>
            </a:r>
            <a:endParaRPr lang="en-US" sz="2600" dirty="0"/>
          </a:p>
        </p:txBody>
      </p:sp>
      <p:sp>
        <p:nvSpPr>
          <p:cNvPr id="5" name="Text 3"/>
          <p:cNvSpPr/>
          <p:nvPr/>
        </p:nvSpPr>
        <p:spPr>
          <a:xfrm>
            <a:off x="365760" y="1078992"/>
            <a:ext cx="8412480" cy="237744"/>
          </a:xfrm>
          <a:prstGeom prst="rect">
            <a:avLst/>
          </a:prstGeom>
          <a:noFill/>
          <a:ln/>
        </p:spPr>
        <p:txBody>
          <a:bodyPr wrap="square" lIns="0" tIns="0" rIns="0" bIns="0" rtlCol="0" anchor="ctr"/>
          <a:lstStyle/>
          <a:p>
            <a:pPr marL="0" indent="0">
              <a:buNone/>
            </a:pPr>
            <a:r>
              <a:rPr lang="en-US" sz="1100" i="1" dirty="0">
                <a:solidFill>
                  <a:srgbClr val="636F86"/>
                </a:solidFill>
              </a:rPr>
              <a:t>Real inference measurements confirm analytical model across T4 GPU · Apple M1 · Apple M3</a:t>
            </a:r>
            <a:endParaRPr lang="en-US" sz="1100" dirty="0"/>
          </a:p>
        </p:txBody>
      </p:sp>
      <p:sp>
        <p:nvSpPr>
          <p:cNvPr id="6" name="Shape 4"/>
          <p:cNvSpPr/>
          <p:nvPr/>
        </p:nvSpPr>
        <p:spPr>
          <a:xfrm>
            <a:off x="365760" y="1371600"/>
            <a:ext cx="8412480" cy="22860"/>
          </a:xfrm>
          <a:prstGeom prst="rect">
            <a:avLst/>
          </a:prstGeom>
          <a:solidFill>
            <a:srgbClr val="D4A256"/>
          </a:solidFill>
          <a:ln w="12700">
            <a:solidFill>
              <a:srgbClr val="D4A256"/>
            </a:solidFill>
            <a:prstDash val="solid"/>
          </a:ln>
        </p:spPr>
        <p:txBody>
          <a:bodyPr/>
          <a:lstStyle/>
          <a:p>
            <a:endParaRPr lang="en-US"/>
          </a:p>
        </p:txBody>
      </p:sp>
      <p:sp>
        <p:nvSpPr>
          <p:cNvPr id="7" name="Text 5"/>
          <p:cNvSpPr/>
          <p:nvPr/>
        </p:nvSpPr>
        <p:spPr>
          <a:xfrm>
            <a:off x="365760" y="1481328"/>
            <a:ext cx="5120640" cy="219456"/>
          </a:xfrm>
          <a:prstGeom prst="rect">
            <a:avLst/>
          </a:prstGeom>
          <a:noFill/>
          <a:ln/>
        </p:spPr>
        <p:txBody>
          <a:bodyPr wrap="square" lIns="0" tIns="0" rIns="0" bIns="0" rtlCol="0" anchor="ctr"/>
          <a:lstStyle/>
          <a:p>
            <a:pPr marL="0" indent="0">
              <a:buNone/>
            </a:pPr>
            <a:r>
              <a:rPr lang="en-US" sz="850" b="1" kern="0" spc="50" dirty="0">
                <a:solidFill>
                  <a:srgbClr val="2C8C84"/>
                </a:solidFill>
              </a:rPr>
              <a:t>DECODE THROUGHPUT (tok/s) — KV PRESSURE VALIDATED</a:t>
            </a:r>
            <a:endParaRPr lang="en-US" sz="850" dirty="0"/>
          </a:p>
        </p:txBody>
      </p:sp>
      <p:graphicFrame>
        <p:nvGraphicFramePr>
          <p:cNvPr id="8" name="Table 0"/>
          <p:cNvGraphicFramePr>
            <a:graphicFrameLocks noGrp="1"/>
          </p:cNvGraphicFramePr>
          <p:nvPr/>
        </p:nvGraphicFramePr>
        <p:xfrm>
          <a:off x="365760" y="1737360"/>
          <a:ext cx="5120640" cy="2240280"/>
        </p:xfrm>
        <a:graphic>
          <a:graphicData uri="http://schemas.openxmlformats.org/drawingml/2006/table">
            <a:tbl>
              <a:tblPr/>
              <a:tblGrid>
                <a:gridCol w="10058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20040">
                <a:tc>
                  <a:txBody>
                    <a:bodyPr/>
                    <a:lstStyle/>
                    <a:p>
                      <a:pPr marL="0" indent="0" algn="ctr">
                        <a:buNone/>
                      </a:pPr>
                      <a:r>
                        <a:rPr lang="en-US" sz="900" b="1" dirty="0">
                          <a:solidFill>
                            <a:srgbClr val="FFFFFF"/>
                          </a:solidFill>
                        </a:rPr>
                        <a:t>Context</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2D394F"/>
                    </a:solidFill>
                  </a:tcPr>
                </a:tc>
                <a:tc>
                  <a:txBody>
                    <a:bodyPr/>
                    <a:lstStyle/>
                    <a:p>
                      <a:pPr marL="0" indent="0" algn="ctr">
                        <a:buNone/>
                      </a:pPr>
                      <a:r>
                        <a:rPr lang="en-US" sz="900" b="1" dirty="0">
                          <a:solidFill>
                            <a:srgbClr val="FFFFFF"/>
                          </a:solidFill>
                        </a:rPr>
                        <a:t>Tesla T4 GPU</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2D394F"/>
                    </a:solidFill>
                  </a:tcPr>
                </a:tc>
                <a:tc>
                  <a:txBody>
                    <a:bodyPr/>
                    <a:lstStyle/>
                    <a:p>
                      <a:pPr marL="0" indent="0" algn="ctr">
                        <a:buNone/>
                      </a:pPr>
                      <a:r>
                        <a:rPr lang="en-US" sz="900" b="1" dirty="0">
                          <a:solidFill>
                            <a:srgbClr val="FFFFFF"/>
                          </a:solidFill>
                        </a:rPr>
                        <a:t>Apple M1</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2D394F"/>
                    </a:solidFill>
                  </a:tcPr>
                </a:tc>
                <a:tc>
                  <a:txBody>
                    <a:bodyPr/>
                    <a:lstStyle/>
                    <a:p>
                      <a:pPr marL="0" indent="0" algn="ctr">
                        <a:buNone/>
                      </a:pPr>
                      <a:r>
                        <a:rPr lang="en-US" sz="900" b="1" dirty="0">
                          <a:solidFill>
                            <a:srgbClr val="FFFFFF"/>
                          </a:solidFill>
                        </a:rPr>
                        <a:t>Apple M3</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2D394F"/>
                    </a:solidFill>
                  </a:tcPr>
                </a:tc>
                <a:extLst>
                  <a:ext uri="{0D108BD9-81ED-4DB2-BD59-A6C34878D82A}">
                    <a16:rowId xmlns:a16="http://schemas.microsoft.com/office/drawing/2014/main" val="10000"/>
                  </a:ext>
                </a:extLst>
              </a:tr>
              <a:tr h="320040">
                <a:tc>
                  <a:txBody>
                    <a:bodyPr/>
                    <a:lstStyle/>
                    <a:p>
                      <a:pPr marL="0" indent="0" algn="ctr">
                        <a:buNone/>
                      </a:pPr>
                      <a:r>
                        <a:rPr lang="en-US" sz="900" b="1" dirty="0">
                          <a:solidFill>
                            <a:srgbClr val="2D394F"/>
                          </a:solidFill>
                        </a:rPr>
                        <a:t>T = 128</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E1F2EF"/>
                    </a:solidFill>
                  </a:tcPr>
                </a:tc>
                <a:tc>
                  <a:txBody>
                    <a:bodyPr/>
                    <a:lstStyle/>
                    <a:p>
                      <a:pPr marL="0" indent="0" algn="ctr">
                        <a:buNone/>
                      </a:pPr>
                      <a:r>
                        <a:rPr lang="en-US" sz="900" dirty="0">
                          <a:solidFill>
                            <a:srgbClr val="2D394F"/>
                          </a:solidFill>
                        </a:rPr>
                        <a:t>27.3 tok/s</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94F"/>
                          </a:solidFill>
                        </a:rPr>
                        <a:t>73.1 tok/s</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94F"/>
                          </a:solidFill>
                        </a:rPr>
                        <a:t>212.5 tok/s</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900" b="1" dirty="0">
                          <a:solidFill>
                            <a:srgbClr val="2D394F"/>
                          </a:solidFill>
                        </a:rPr>
                        <a:t>T = 256</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7F1E8"/>
                    </a:solidFill>
                  </a:tcPr>
                </a:tc>
                <a:tc>
                  <a:txBody>
                    <a:bodyPr/>
                    <a:lstStyle/>
                    <a:p>
                      <a:pPr marL="0" indent="0" algn="ctr">
                        <a:buNone/>
                      </a:pPr>
                      <a:r>
                        <a:rPr lang="en-US" sz="900" dirty="0">
                          <a:solidFill>
                            <a:srgbClr val="2D394F"/>
                          </a:solidFill>
                        </a:rPr>
                        <a:t>33.2 tok/s</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94F"/>
                          </a:solidFill>
                        </a:rPr>
                        <a:t>73.4 tok/s</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94F"/>
                          </a:solidFill>
                        </a:rPr>
                        <a:t>202.1 tok/s</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ctr">
                        <a:buNone/>
                      </a:pPr>
                      <a:r>
                        <a:rPr lang="en-US" sz="900" b="1" dirty="0">
                          <a:solidFill>
                            <a:srgbClr val="2D394F"/>
                          </a:solidFill>
                        </a:rPr>
                        <a:t>T = 512</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E1F2EF"/>
                    </a:solidFill>
                  </a:tcPr>
                </a:tc>
                <a:tc>
                  <a:txBody>
                    <a:bodyPr/>
                    <a:lstStyle/>
                    <a:p>
                      <a:pPr marL="0" indent="0" algn="ctr">
                        <a:buNone/>
                      </a:pPr>
                      <a:r>
                        <a:rPr lang="en-US" sz="900" dirty="0">
                          <a:solidFill>
                            <a:srgbClr val="2D394F"/>
                          </a:solidFill>
                        </a:rPr>
                        <a:t>46.2 tok/s</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94F"/>
                          </a:solidFill>
                        </a:rPr>
                        <a:t>79.1 tok/s</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94F"/>
                          </a:solidFill>
                        </a:rPr>
                        <a:t>198.1 tok/s</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ctr">
                        <a:buNone/>
                      </a:pPr>
                      <a:r>
                        <a:rPr lang="en-US" sz="900" b="1" dirty="0">
                          <a:solidFill>
                            <a:srgbClr val="2D394F"/>
                          </a:solidFill>
                        </a:rPr>
                        <a:t>T = 768</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7F1E8"/>
                    </a:solidFill>
                  </a:tcPr>
                </a:tc>
                <a:tc>
                  <a:txBody>
                    <a:bodyPr/>
                    <a:lstStyle/>
                    <a:p>
                      <a:pPr marL="0" indent="0" algn="ctr">
                        <a:buNone/>
                      </a:pPr>
                      <a:r>
                        <a:rPr lang="en-US" sz="900" dirty="0">
                          <a:solidFill>
                            <a:srgbClr val="636F86"/>
                          </a:solidFill>
                        </a:rPr>
                        <a:t>—</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94F"/>
                          </a:solidFill>
                        </a:rPr>
                        <a:t>53.6 tok/s</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94F"/>
                          </a:solidFill>
                        </a:rPr>
                        <a:t>228.2 tok/s</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lgn="ctr">
                        <a:buNone/>
                      </a:pPr>
                      <a:r>
                        <a:rPr lang="en-US" sz="900" b="1" dirty="0">
                          <a:solidFill>
                            <a:srgbClr val="2D394F"/>
                          </a:solidFill>
                        </a:rPr>
                        <a:t>T = 1024</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E1F2EF"/>
                    </a:solidFill>
                  </a:tcPr>
                </a:tc>
                <a:tc>
                  <a:txBody>
                    <a:bodyPr/>
                    <a:lstStyle/>
                    <a:p>
                      <a:pPr marL="0" indent="0" algn="ctr">
                        <a:buNone/>
                      </a:pPr>
                      <a:r>
                        <a:rPr lang="en-US" sz="900" dirty="0">
                          <a:solidFill>
                            <a:srgbClr val="636F86"/>
                          </a:solidFill>
                        </a:rPr>
                        <a:t>—</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636F86"/>
                          </a:solidFill>
                        </a:rPr>
                        <a:t>—</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D394F"/>
                          </a:solidFill>
                        </a:rPr>
                        <a:t>194.7 tok/s</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ctr">
                        <a:buNone/>
                      </a:pPr>
                      <a:r>
                        <a:rPr lang="en-US" sz="900" b="1" dirty="0">
                          <a:solidFill>
                            <a:srgbClr val="FFFFFF"/>
                          </a:solidFill>
                        </a:rPr>
                        <a:t>Degradation</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2D394F"/>
                    </a:solidFill>
                  </a:tcPr>
                </a:tc>
                <a:tc>
                  <a:txBody>
                    <a:bodyPr/>
                    <a:lstStyle/>
                    <a:p>
                      <a:pPr marL="0" indent="0" algn="ctr">
                        <a:buNone/>
                      </a:pPr>
                      <a:r>
                        <a:rPr lang="en-US" sz="900" b="1" dirty="0">
                          <a:solidFill>
                            <a:srgbClr val="2C8C84"/>
                          </a:solidFill>
                        </a:rPr>
                        <a:t>— *</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C0392B"/>
                          </a:solidFill>
                        </a:rPr>
                        <a:t>↓ 26.7%</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2C8C84"/>
                          </a:solidFill>
                        </a:rPr>
                        <a:t>↓ 8.4%</a:t>
                      </a:r>
                      <a:endParaRPr lang="en-US" sz="90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Text 6"/>
          <p:cNvSpPr/>
          <p:nvPr/>
        </p:nvSpPr>
        <p:spPr>
          <a:xfrm>
            <a:off x="365760" y="4315968"/>
            <a:ext cx="5120640" cy="182880"/>
          </a:xfrm>
          <a:prstGeom prst="rect">
            <a:avLst/>
          </a:prstGeom>
          <a:noFill/>
          <a:ln/>
        </p:spPr>
        <p:txBody>
          <a:bodyPr wrap="square" lIns="0" tIns="0" rIns="0" bIns="0" rtlCol="0" anchor="ctr"/>
          <a:lstStyle/>
          <a:p>
            <a:pPr marL="0" indent="0">
              <a:buNone/>
            </a:pPr>
            <a:r>
              <a:rPr lang="en-US" sz="750" i="1" dirty="0">
                <a:solidFill>
                  <a:srgbClr val="636F86"/>
                </a:solidFill>
              </a:rPr>
              <a:t>* T4 GPU tested at T=128–512 only (GPT-2 position embedding limit)</a:t>
            </a:r>
            <a:endParaRPr lang="en-US" sz="750" dirty="0"/>
          </a:p>
        </p:txBody>
      </p:sp>
      <p:sp>
        <p:nvSpPr>
          <p:cNvPr id="10" name="Text 7"/>
          <p:cNvSpPr/>
          <p:nvPr/>
        </p:nvSpPr>
        <p:spPr>
          <a:xfrm>
            <a:off x="5623560" y="1481328"/>
            <a:ext cx="3291840" cy="219456"/>
          </a:xfrm>
          <a:prstGeom prst="rect">
            <a:avLst/>
          </a:prstGeom>
          <a:noFill/>
          <a:ln/>
        </p:spPr>
        <p:txBody>
          <a:bodyPr wrap="square" lIns="0" tIns="0" rIns="0" bIns="0" rtlCol="0" anchor="ctr"/>
          <a:lstStyle/>
          <a:p>
            <a:pPr marL="0" indent="0">
              <a:buNone/>
            </a:pPr>
            <a:r>
              <a:rPr lang="en-US" sz="850" b="1" kern="0" spc="50" dirty="0">
                <a:solidFill>
                  <a:srgbClr val="2C8C84"/>
                </a:solidFill>
              </a:rPr>
              <a:t>TIER TRANSITION — TESLA T4 (REAL PCIe)</a:t>
            </a:r>
            <a:endParaRPr lang="en-US" sz="850" dirty="0"/>
          </a:p>
        </p:txBody>
      </p:sp>
      <p:graphicFrame>
        <p:nvGraphicFramePr>
          <p:cNvPr id="11" name="Table 1"/>
          <p:cNvGraphicFramePr>
            <a:graphicFrameLocks noGrp="1"/>
          </p:cNvGraphicFramePr>
          <p:nvPr/>
        </p:nvGraphicFramePr>
        <p:xfrm>
          <a:off x="5623560" y="1737360"/>
          <a:ext cx="3291840" cy="1325880"/>
        </p:xfrm>
        <a:graphic>
          <a:graphicData uri="http://schemas.openxmlformats.org/drawingml/2006/table">
            <a:tbl>
              <a:tblPr/>
              <a:tblGrid>
                <a:gridCol w="1600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tblGrid>
              <a:tr h="265176">
                <a:tc>
                  <a:txBody>
                    <a:bodyPr/>
                    <a:lstStyle/>
                    <a:p>
                      <a:pPr marL="0" indent="0" algn="ctr">
                        <a:buNone/>
                      </a:pPr>
                      <a:r>
                        <a:rPr lang="en-US" sz="850" b="1" dirty="0">
                          <a:solidFill>
                            <a:srgbClr val="FFFFFF"/>
                          </a:solidFill>
                        </a:rPr>
                        <a:t>Transfer</a:t>
                      </a:r>
                      <a:endParaRPr lang="en-US" sz="85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2D394F"/>
                    </a:solidFill>
                  </a:tcPr>
                </a:tc>
                <a:tc>
                  <a:txBody>
                    <a:bodyPr/>
                    <a:lstStyle/>
                    <a:p>
                      <a:pPr marL="0" indent="0" algn="ctr">
                        <a:buNone/>
                      </a:pPr>
                      <a:r>
                        <a:rPr lang="en-US" sz="850" b="1" dirty="0">
                          <a:solidFill>
                            <a:srgbClr val="FFFFFF"/>
                          </a:solidFill>
                        </a:rPr>
                        <a:t>Latency</a:t>
                      </a:r>
                      <a:endParaRPr lang="en-US" sz="85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2D394F"/>
                    </a:solidFill>
                  </a:tcPr>
                </a:tc>
                <a:tc>
                  <a:txBody>
                    <a:bodyPr/>
                    <a:lstStyle/>
                    <a:p>
                      <a:pPr marL="0" indent="0" algn="ctr">
                        <a:buNone/>
                      </a:pPr>
                      <a:r>
                        <a:rPr lang="en-US" sz="850" b="1" dirty="0">
                          <a:solidFill>
                            <a:srgbClr val="FFFFFF"/>
                          </a:solidFill>
                        </a:rPr>
                        <a:t>BW GB/s</a:t>
                      </a:r>
                      <a:endParaRPr lang="en-US" sz="85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2D394F"/>
                    </a:solidFill>
                  </a:tcPr>
                </a:tc>
                <a:extLst>
                  <a:ext uri="{0D108BD9-81ED-4DB2-BD59-A6C34878D82A}">
                    <a16:rowId xmlns:a16="http://schemas.microsoft.com/office/drawing/2014/main" val="10000"/>
                  </a:ext>
                </a:extLst>
              </a:tr>
              <a:tr h="265176">
                <a:tc>
                  <a:txBody>
                    <a:bodyPr/>
                    <a:lstStyle/>
                    <a:p>
                      <a:pPr marL="0" indent="0" algn="ctr">
                        <a:buNone/>
                      </a:pPr>
                      <a:r>
                        <a:rPr lang="en-US" sz="850" dirty="0">
                          <a:solidFill>
                            <a:srgbClr val="2D394F"/>
                          </a:solidFill>
                        </a:rPr>
                        <a:t>HBM→DRAM 1MB</a:t>
                      </a:r>
                      <a:endParaRPr lang="en-US" sz="85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7ECDA"/>
                    </a:solidFill>
                  </a:tcPr>
                </a:tc>
                <a:tc>
                  <a:txBody>
                    <a:bodyPr/>
                    <a:lstStyle/>
                    <a:p>
                      <a:pPr marL="0" indent="0" algn="ctr">
                        <a:buNone/>
                      </a:pPr>
                      <a:r>
                        <a:rPr lang="en-US" sz="850" dirty="0">
                          <a:solidFill>
                            <a:srgbClr val="2D394F"/>
                          </a:solidFill>
                        </a:rPr>
                        <a:t>0.971 ms</a:t>
                      </a:r>
                      <a:endParaRPr lang="en-US" sz="85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2D394F"/>
                          </a:solidFill>
                        </a:rPr>
                        <a:t>1.03</a:t>
                      </a:r>
                      <a:endParaRPr lang="en-US" sz="85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5176">
                <a:tc>
                  <a:txBody>
                    <a:bodyPr/>
                    <a:lstStyle/>
                    <a:p>
                      <a:pPr marL="0" indent="0" algn="ctr">
                        <a:buNone/>
                      </a:pPr>
                      <a:r>
                        <a:rPr lang="en-US" sz="850" dirty="0">
                          <a:solidFill>
                            <a:srgbClr val="2D394F"/>
                          </a:solidFill>
                        </a:rPr>
                        <a:t>HBM→DRAM 4MB</a:t>
                      </a:r>
                      <a:endParaRPr lang="en-US" sz="85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2D394F"/>
                          </a:solidFill>
                        </a:rPr>
                        <a:t>2.792 ms</a:t>
                      </a:r>
                      <a:endParaRPr lang="en-US" sz="85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2D394F"/>
                          </a:solidFill>
                        </a:rPr>
                        <a:t>1.43</a:t>
                      </a:r>
                      <a:endParaRPr lang="en-US" sz="85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5176">
                <a:tc>
                  <a:txBody>
                    <a:bodyPr/>
                    <a:lstStyle/>
                    <a:p>
                      <a:pPr marL="0" indent="0" algn="ctr">
                        <a:buNone/>
                      </a:pPr>
                      <a:r>
                        <a:rPr lang="en-US" sz="850" dirty="0">
                          <a:solidFill>
                            <a:srgbClr val="2D394F"/>
                          </a:solidFill>
                        </a:rPr>
                        <a:t>DRAM→HBM 1MB</a:t>
                      </a:r>
                      <a:endParaRPr lang="en-US" sz="85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E1F2EF"/>
                    </a:solidFill>
                  </a:tcPr>
                </a:tc>
                <a:tc>
                  <a:txBody>
                    <a:bodyPr/>
                    <a:lstStyle/>
                    <a:p>
                      <a:pPr marL="0" indent="0" algn="ctr">
                        <a:buNone/>
                      </a:pPr>
                      <a:r>
                        <a:rPr lang="en-US" sz="850" dirty="0">
                          <a:solidFill>
                            <a:srgbClr val="2D394F"/>
                          </a:solidFill>
                        </a:rPr>
                        <a:t>0.115 ms</a:t>
                      </a:r>
                      <a:endParaRPr lang="en-US" sz="85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2D394F"/>
                          </a:solidFill>
                        </a:rPr>
                        <a:t>8.68</a:t>
                      </a:r>
                      <a:endParaRPr lang="en-US" sz="85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5176">
                <a:tc>
                  <a:txBody>
                    <a:bodyPr/>
                    <a:lstStyle/>
                    <a:p>
                      <a:pPr marL="0" indent="0" algn="ctr">
                        <a:buNone/>
                      </a:pPr>
                      <a:r>
                        <a:rPr lang="en-US" sz="850" dirty="0">
                          <a:solidFill>
                            <a:srgbClr val="2D394F"/>
                          </a:solidFill>
                        </a:rPr>
                        <a:t>DRAM→HBM 4MB</a:t>
                      </a:r>
                      <a:endParaRPr lang="en-US" sz="85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E1F2EF"/>
                    </a:solidFill>
                  </a:tcPr>
                </a:tc>
                <a:tc>
                  <a:txBody>
                    <a:bodyPr/>
                    <a:lstStyle/>
                    <a:p>
                      <a:pPr marL="0" indent="0" algn="ctr">
                        <a:buNone/>
                      </a:pPr>
                      <a:r>
                        <a:rPr lang="en-US" sz="850" dirty="0">
                          <a:solidFill>
                            <a:srgbClr val="2D394F"/>
                          </a:solidFill>
                        </a:rPr>
                        <a:t>0.354 ms</a:t>
                      </a:r>
                      <a:endParaRPr lang="en-US" sz="85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2D394F"/>
                          </a:solidFill>
                        </a:rPr>
                        <a:t>11.30</a:t>
                      </a:r>
                      <a:endParaRPr lang="en-US" sz="850" dirty="0"/>
                    </a:p>
                  </a:txBody>
                  <a:tcPr>
                    <a:lnL w="6350" cap="flat" cmpd="sng" algn="ctr">
                      <a:solidFill>
                        <a:srgbClr val="B8BFD1"/>
                      </a:solidFill>
                      <a:prstDash val="solid"/>
                      <a:round/>
                      <a:headEnd type="none" w="med" len="med"/>
                      <a:tailEnd type="none" w="med" len="med"/>
                    </a:lnL>
                    <a:lnR w="6350" cap="flat" cmpd="sng" algn="ctr">
                      <a:solidFill>
                        <a:srgbClr val="B8BFD1"/>
                      </a:solidFill>
                      <a:prstDash val="solid"/>
                      <a:round/>
                      <a:headEnd type="none" w="med" len="med"/>
                      <a:tailEnd type="none" w="med" len="med"/>
                    </a:lnR>
                    <a:lnT w="6350" cap="flat" cmpd="sng" algn="ctr">
                      <a:solidFill>
                        <a:srgbClr val="B8BFD1"/>
                      </a:solidFill>
                      <a:prstDash val="solid"/>
                      <a:round/>
                      <a:headEnd type="none" w="med" len="med"/>
                      <a:tailEnd type="none" w="med" len="med"/>
                    </a:lnT>
                    <a:lnB w="6350" cap="flat" cmpd="sng" algn="ctr">
                      <a:solidFill>
                        <a:srgbClr val="B8BFD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2" name="Shape 8"/>
          <p:cNvSpPr/>
          <p:nvPr/>
        </p:nvSpPr>
        <p:spPr>
          <a:xfrm>
            <a:off x="5623560" y="3310128"/>
            <a:ext cx="3291840" cy="713232"/>
          </a:xfrm>
          <a:prstGeom prst="rect">
            <a:avLst/>
          </a:prstGeom>
          <a:solidFill>
            <a:srgbClr val="E1F2EF"/>
          </a:solidFill>
          <a:ln w="12700">
            <a:solidFill>
              <a:srgbClr val="2C8C84"/>
            </a:solidFill>
            <a:prstDash val="solid"/>
          </a:ln>
        </p:spPr>
        <p:txBody>
          <a:bodyPr/>
          <a:lstStyle/>
          <a:p>
            <a:endParaRPr lang="en-US"/>
          </a:p>
        </p:txBody>
      </p:sp>
      <p:sp>
        <p:nvSpPr>
          <p:cNvPr id="13" name="Text 9"/>
          <p:cNvSpPr/>
          <p:nvPr/>
        </p:nvSpPr>
        <p:spPr>
          <a:xfrm>
            <a:off x="5623560" y="3310128"/>
            <a:ext cx="3291840" cy="713232"/>
          </a:xfrm>
          <a:prstGeom prst="rect">
            <a:avLst/>
          </a:prstGeom>
          <a:noFill/>
          <a:ln/>
        </p:spPr>
        <p:txBody>
          <a:bodyPr wrap="square" lIns="88900" tIns="88900" rIns="88900" bIns="88900" rtlCol="0" anchor="ctr"/>
          <a:lstStyle/>
          <a:p>
            <a:pPr marL="0" indent="0">
              <a:buNone/>
            </a:pPr>
            <a:r>
              <a:rPr lang="en-US" sz="1000" b="1" dirty="0">
                <a:solidFill>
                  <a:srgbClr val="2C8C84"/>
                </a:solidFill>
              </a:rPr>
              <a:t>8× faster to promote than evict
</a:t>
            </a:r>
            <a:r>
              <a:rPr lang="en-US" sz="850" dirty="0">
                <a:solidFill>
                  <a:srgbClr val="2D394F"/>
                </a:solidFill>
              </a:rPr>
              <a:t>DRAM→HBM: 11.3 GB/s  vs  HBM→DRAM: 1.4 GB/s
</a:t>
            </a:r>
            <a:r>
              <a:rPr lang="en-US" sz="800" i="1" dirty="0">
                <a:solidFill>
                  <a:srgbClr val="636F86"/>
                </a:solidFill>
              </a:rPr>
              <a:t>ASEP avoids costly evictions — benefiting from this asymmetry</a:t>
            </a:r>
            <a:endParaRPr lang="en-US" sz="1000" dirty="0"/>
          </a:p>
        </p:txBody>
      </p:sp>
      <p:sp>
        <p:nvSpPr>
          <p:cNvPr id="14" name="Shape 10"/>
          <p:cNvSpPr/>
          <p:nvPr/>
        </p:nvSpPr>
        <p:spPr>
          <a:xfrm>
            <a:off x="365760" y="4617720"/>
            <a:ext cx="8412480" cy="347472"/>
          </a:xfrm>
          <a:prstGeom prst="rect">
            <a:avLst/>
          </a:prstGeom>
          <a:solidFill>
            <a:srgbClr val="2D394F"/>
          </a:solidFill>
          <a:ln w="12700">
            <a:solidFill>
              <a:srgbClr val="2D394F"/>
            </a:solidFill>
            <a:prstDash val="solid"/>
          </a:ln>
        </p:spPr>
        <p:txBody>
          <a:bodyPr/>
          <a:lstStyle/>
          <a:p>
            <a:endParaRPr lang="en-US"/>
          </a:p>
        </p:txBody>
      </p:sp>
      <p:sp>
        <p:nvSpPr>
          <p:cNvPr id="15" name="Text 11"/>
          <p:cNvSpPr/>
          <p:nvPr/>
        </p:nvSpPr>
        <p:spPr>
          <a:xfrm>
            <a:off x="365760" y="4617720"/>
            <a:ext cx="8412480" cy="347472"/>
          </a:xfrm>
          <a:prstGeom prst="rect">
            <a:avLst/>
          </a:prstGeom>
          <a:noFill/>
          <a:ln/>
        </p:spPr>
        <p:txBody>
          <a:bodyPr wrap="square" lIns="76200" tIns="76200" rIns="76200" bIns="76200" rtlCol="0" anchor="ctr"/>
          <a:lstStyle/>
          <a:p>
            <a:pPr marL="0" indent="0">
              <a:buNone/>
            </a:pPr>
            <a:r>
              <a:rPr lang="en-US" sz="1000" b="1" dirty="0">
                <a:solidFill>
                  <a:srgbClr val="D4A256"/>
                </a:solidFill>
              </a:rPr>
              <a:t>KEY FINDING:  </a:t>
            </a:r>
            <a:r>
              <a:rPr lang="en-US" sz="900" dirty="0">
                <a:solidFill>
                  <a:srgbClr val="FFFFFF"/>
                </a:solidFill>
              </a:rPr>
              <a:t>Weight footprint confirmed constant ~734 MB on T4  ·  KV growth confirmed at 0.094 MB/token · Throughput degradation confirmed on M1 (↓26.7%) and M3 (↓8.4%) — validating our memory-bound analytical prediction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C8C84"/>
          </a:solidFill>
          <a:ln/>
        </p:spPr>
        <p:txBody>
          <a:bodyPr/>
          <a:lstStyle/>
          <a:p>
            <a:endParaRPr/>
          </a:p>
        </p:txBody>
      </p:sp>
      <p:sp>
        <p:nvSpPr>
          <p:cNvPr id="3" name="Text 1"/>
          <p:cNvSpPr/>
          <p:nvPr/>
        </p:nvSpPr>
        <p:spPr>
          <a:xfrm>
            <a:off x="320040" y="164592"/>
            <a:ext cx="8503920" cy="411480"/>
          </a:xfrm>
          <a:prstGeom prst="rect">
            <a:avLst/>
          </a:prstGeom>
          <a:noFill/>
          <a:ln/>
        </p:spPr>
        <p:txBody>
          <a:bodyPr wrap="square" rtlCol="0" anchor="ctr"/>
          <a:lstStyle/>
          <a:p>
            <a:pPr marL="0" indent="0">
              <a:buNone/>
            </a:pPr>
            <a:r>
              <a:rPr lang="en-US" sz="2000" b="1" kern="0" spc="200" dirty="0">
                <a:solidFill>
                  <a:srgbClr val="2C8C84"/>
                </a:solidFill>
              </a:rPr>
              <a:t>PYTORCH INSTRUMENTATION &amp; VALIDATION</a:t>
            </a:r>
            <a:endParaRPr lang="en-US" sz="2000" dirty="0"/>
          </a:p>
        </p:txBody>
      </p:sp>
      <p:sp>
        <p:nvSpPr>
          <p:cNvPr id="4" name="Text 2"/>
          <p:cNvSpPr/>
          <p:nvPr/>
        </p:nvSpPr>
        <p:spPr>
          <a:xfrm>
            <a:off x="320040" y="548640"/>
            <a:ext cx="8503920" cy="256032"/>
          </a:xfrm>
          <a:prstGeom prst="rect">
            <a:avLst/>
          </a:prstGeom>
          <a:noFill/>
          <a:ln/>
        </p:spPr>
        <p:txBody>
          <a:bodyPr wrap="square" rtlCol="0" anchor="ctr"/>
          <a:lstStyle/>
          <a:p>
            <a:pPr marL="0" indent="0">
              <a:buNone/>
            </a:pPr>
            <a:r>
              <a:rPr lang="en-US" sz="1000" dirty="0">
                <a:solidFill>
                  <a:srgbClr val="636F86"/>
                </a:solidFill>
              </a:rPr>
              <a:t>03 — Layer-level KV tensor extraction · Analytical formula validation</a:t>
            </a:r>
            <a:endParaRPr lang="en-US" sz="1000" dirty="0"/>
          </a:p>
        </p:txBody>
      </p:sp>
      <p:sp>
        <p:nvSpPr>
          <p:cNvPr id="5" name="Text 3"/>
          <p:cNvSpPr/>
          <p:nvPr/>
        </p:nvSpPr>
        <p:spPr>
          <a:xfrm>
            <a:off x="320040" y="896112"/>
            <a:ext cx="4114800" cy="274320"/>
          </a:xfrm>
          <a:prstGeom prst="rect">
            <a:avLst/>
          </a:prstGeom>
          <a:noFill/>
          <a:ln/>
        </p:spPr>
        <p:txBody>
          <a:bodyPr wrap="square" lIns="0" tIns="0" rIns="0" bIns="0" rtlCol="0" anchor="ctr"/>
          <a:lstStyle/>
          <a:p>
            <a:pPr marL="0" indent="0">
              <a:buNone/>
            </a:pPr>
            <a:r>
              <a:rPr lang="en-US" sz="1100" b="1" dirty="0">
                <a:solidFill>
                  <a:srgbClr val="2C8C84"/>
                </a:solidFill>
              </a:rPr>
              <a:t>WHAT WE INSTRUMENTED</a:t>
            </a:r>
            <a:endParaRPr lang="en-US" sz="1100" dirty="0"/>
          </a:p>
        </p:txBody>
      </p:sp>
      <p:sp>
        <p:nvSpPr>
          <p:cNvPr id="6" name="Shape 4"/>
          <p:cNvSpPr/>
          <p:nvPr/>
        </p:nvSpPr>
        <p:spPr>
          <a:xfrm>
            <a:off x="320040" y="1243584"/>
            <a:ext cx="137160" cy="137160"/>
          </a:xfrm>
          <a:prstGeom prst="ellipse">
            <a:avLst/>
          </a:prstGeom>
          <a:solidFill>
            <a:srgbClr val="E1F2EF"/>
          </a:solidFill>
          <a:ln/>
        </p:spPr>
        <p:txBody>
          <a:bodyPr/>
          <a:lstStyle/>
          <a:p>
            <a:endParaRPr/>
          </a:p>
        </p:txBody>
      </p:sp>
      <p:sp>
        <p:nvSpPr>
          <p:cNvPr id="7" name="Text 5"/>
          <p:cNvSpPr/>
          <p:nvPr/>
        </p:nvSpPr>
        <p:spPr>
          <a:xfrm>
            <a:off x="521208" y="1216152"/>
            <a:ext cx="4160520" cy="320040"/>
          </a:xfrm>
          <a:prstGeom prst="rect">
            <a:avLst/>
          </a:prstGeom>
          <a:noFill/>
          <a:ln/>
        </p:spPr>
        <p:txBody>
          <a:bodyPr wrap="square" lIns="0" tIns="0" rIns="0" bIns="0" rtlCol="0" anchor="ctr"/>
          <a:lstStyle/>
          <a:p>
            <a:pPr marL="0" indent="0">
              <a:buNone/>
            </a:pPr>
            <a:r>
              <a:rPr lang="en-US" sz="1000" dirty="0">
                <a:solidFill>
                  <a:srgbClr val="2D394F"/>
                </a:solidFill>
              </a:rPr>
              <a:t>GPT-2 Medium: 24 layers, 16 heads, head_dim=64, FP16</a:t>
            </a:r>
            <a:endParaRPr lang="en-US" sz="1000" dirty="0"/>
          </a:p>
        </p:txBody>
      </p:sp>
      <p:sp>
        <p:nvSpPr>
          <p:cNvPr id="8" name="Shape 6"/>
          <p:cNvSpPr/>
          <p:nvPr/>
        </p:nvSpPr>
        <p:spPr>
          <a:xfrm>
            <a:off x="320040" y="1618488"/>
            <a:ext cx="137160" cy="137160"/>
          </a:xfrm>
          <a:prstGeom prst="ellipse">
            <a:avLst/>
          </a:prstGeom>
          <a:solidFill>
            <a:srgbClr val="E1F2EF"/>
          </a:solidFill>
          <a:ln/>
        </p:spPr>
        <p:txBody>
          <a:bodyPr/>
          <a:lstStyle/>
          <a:p>
            <a:endParaRPr/>
          </a:p>
        </p:txBody>
      </p:sp>
      <p:sp>
        <p:nvSpPr>
          <p:cNvPr id="9" name="Text 7"/>
          <p:cNvSpPr/>
          <p:nvPr/>
        </p:nvSpPr>
        <p:spPr>
          <a:xfrm>
            <a:off x="521208" y="1591056"/>
            <a:ext cx="4160520" cy="320040"/>
          </a:xfrm>
          <a:prstGeom prst="rect">
            <a:avLst/>
          </a:prstGeom>
          <a:noFill/>
          <a:ln/>
        </p:spPr>
        <p:txBody>
          <a:bodyPr wrap="square" lIns="0" tIns="0" rIns="0" bIns="0" rtlCol="0" anchor="ctr"/>
          <a:lstStyle/>
          <a:p>
            <a:pPr marL="0" indent="0">
              <a:buNone/>
            </a:pPr>
            <a:r>
              <a:rPr lang="en-US" sz="1000" dirty="0">
                <a:solidFill>
                  <a:srgbClr val="2D394F"/>
                </a:solidFill>
              </a:rPr>
              <a:t>PyTorch forward hooks on every transformer layer</a:t>
            </a:r>
            <a:endParaRPr lang="en-US" sz="1000" dirty="0"/>
          </a:p>
        </p:txBody>
      </p:sp>
      <p:sp>
        <p:nvSpPr>
          <p:cNvPr id="10" name="Shape 8"/>
          <p:cNvSpPr/>
          <p:nvPr/>
        </p:nvSpPr>
        <p:spPr>
          <a:xfrm>
            <a:off x="320040" y="1993392"/>
            <a:ext cx="137160" cy="137160"/>
          </a:xfrm>
          <a:prstGeom prst="ellipse">
            <a:avLst/>
          </a:prstGeom>
          <a:solidFill>
            <a:srgbClr val="E1F2EF"/>
          </a:solidFill>
          <a:ln/>
        </p:spPr>
        <p:txBody>
          <a:bodyPr/>
          <a:lstStyle/>
          <a:p>
            <a:endParaRPr/>
          </a:p>
        </p:txBody>
      </p:sp>
      <p:sp>
        <p:nvSpPr>
          <p:cNvPr id="11" name="Text 9"/>
          <p:cNvSpPr/>
          <p:nvPr/>
        </p:nvSpPr>
        <p:spPr>
          <a:xfrm>
            <a:off x="521208" y="1965960"/>
            <a:ext cx="4160520" cy="320040"/>
          </a:xfrm>
          <a:prstGeom prst="rect">
            <a:avLst/>
          </a:prstGeom>
          <a:noFill/>
          <a:ln/>
        </p:spPr>
        <p:txBody>
          <a:bodyPr wrap="square" lIns="0" tIns="0" rIns="0" bIns="0" rtlCol="0" anchor="ctr"/>
          <a:lstStyle/>
          <a:p>
            <a:pPr marL="0" indent="0">
              <a:buNone/>
            </a:pPr>
            <a:r>
              <a:rPr lang="en-US" sz="1000" dirty="0">
                <a:solidFill>
                  <a:srgbClr val="2D394F"/>
                </a:solidFill>
              </a:rPr>
              <a:t>Extracted real KV tensors from past_key_values</a:t>
            </a:r>
            <a:endParaRPr lang="en-US" sz="1000" dirty="0"/>
          </a:p>
        </p:txBody>
      </p:sp>
      <p:sp>
        <p:nvSpPr>
          <p:cNvPr id="12" name="Shape 10"/>
          <p:cNvSpPr/>
          <p:nvPr/>
        </p:nvSpPr>
        <p:spPr>
          <a:xfrm>
            <a:off x="320040" y="2368296"/>
            <a:ext cx="137160" cy="137160"/>
          </a:xfrm>
          <a:prstGeom prst="ellipse">
            <a:avLst/>
          </a:prstGeom>
          <a:solidFill>
            <a:srgbClr val="E1F2EF"/>
          </a:solidFill>
          <a:ln/>
        </p:spPr>
        <p:txBody>
          <a:bodyPr/>
          <a:lstStyle/>
          <a:p>
            <a:endParaRPr/>
          </a:p>
        </p:txBody>
      </p:sp>
      <p:sp>
        <p:nvSpPr>
          <p:cNvPr id="13" name="Text 11"/>
          <p:cNvSpPr/>
          <p:nvPr/>
        </p:nvSpPr>
        <p:spPr>
          <a:xfrm>
            <a:off x="521208" y="2340864"/>
            <a:ext cx="4160520" cy="320040"/>
          </a:xfrm>
          <a:prstGeom prst="rect">
            <a:avLst/>
          </a:prstGeom>
          <a:noFill/>
          <a:ln/>
        </p:spPr>
        <p:txBody>
          <a:bodyPr wrap="square" lIns="0" tIns="0" rIns="0" bIns="0" rtlCol="0" anchor="ctr"/>
          <a:lstStyle/>
          <a:p>
            <a:pPr marL="0" indent="0">
              <a:buNone/>
            </a:pPr>
            <a:r>
              <a:rPr lang="en-US" sz="1000" dirty="0">
                <a:solidFill>
                  <a:srgbClr val="2D394F"/>
                </a:solidFill>
              </a:rPr>
              <a:t>Measured actual tensor sizes per layer per token</a:t>
            </a:r>
            <a:endParaRPr lang="en-US" sz="1000" dirty="0"/>
          </a:p>
        </p:txBody>
      </p:sp>
      <p:sp>
        <p:nvSpPr>
          <p:cNvPr id="14" name="Shape 12"/>
          <p:cNvSpPr/>
          <p:nvPr/>
        </p:nvSpPr>
        <p:spPr>
          <a:xfrm>
            <a:off x="320040" y="2743200"/>
            <a:ext cx="137160" cy="137160"/>
          </a:xfrm>
          <a:prstGeom prst="ellipse">
            <a:avLst/>
          </a:prstGeom>
          <a:solidFill>
            <a:srgbClr val="E1F2EF"/>
          </a:solidFill>
          <a:ln/>
        </p:spPr>
        <p:txBody>
          <a:bodyPr/>
          <a:lstStyle/>
          <a:p>
            <a:endParaRPr/>
          </a:p>
        </p:txBody>
      </p:sp>
      <p:sp>
        <p:nvSpPr>
          <p:cNvPr id="15" name="Text 13"/>
          <p:cNvSpPr/>
          <p:nvPr/>
        </p:nvSpPr>
        <p:spPr>
          <a:xfrm>
            <a:off x="521208" y="2715768"/>
            <a:ext cx="4160520" cy="320040"/>
          </a:xfrm>
          <a:prstGeom prst="rect">
            <a:avLst/>
          </a:prstGeom>
          <a:noFill/>
          <a:ln/>
        </p:spPr>
        <p:txBody>
          <a:bodyPr wrap="square" lIns="0" tIns="0" rIns="0" bIns="0" rtlCol="0" anchor="ctr"/>
          <a:lstStyle/>
          <a:p>
            <a:pPr marL="0" indent="0">
              <a:buNone/>
            </a:pPr>
            <a:r>
              <a:rPr lang="en-US" sz="1000" dirty="0">
                <a:solidFill>
                  <a:srgbClr val="2D394F"/>
                </a:solidFill>
              </a:rPr>
              <a:t>Validated analytical formula vs. real sizes: ±0.01 MB</a:t>
            </a:r>
            <a:endParaRPr lang="en-US" sz="1000" dirty="0"/>
          </a:p>
        </p:txBody>
      </p:sp>
      <p:sp>
        <p:nvSpPr>
          <p:cNvPr id="16" name="Shape 14"/>
          <p:cNvSpPr/>
          <p:nvPr/>
        </p:nvSpPr>
        <p:spPr>
          <a:xfrm>
            <a:off x="320040" y="3118104"/>
            <a:ext cx="137160" cy="137160"/>
          </a:xfrm>
          <a:prstGeom prst="ellipse">
            <a:avLst/>
          </a:prstGeom>
          <a:solidFill>
            <a:srgbClr val="E1F2EF"/>
          </a:solidFill>
          <a:ln/>
        </p:spPr>
        <p:txBody>
          <a:bodyPr/>
          <a:lstStyle/>
          <a:p>
            <a:endParaRPr/>
          </a:p>
        </p:txBody>
      </p:sp>
      <p:sp>
        <p:nvSpPr>
          <p:cNvPr id="17" name="Text 15"/>
          <p:cNvSpPr/>
          <p:nvPr/>
        </p:nvSpPr>
        <p:spPr>
          <a:xfrm>
            <a:off x="521208" y="3090672"/>
            <a:ext cx="4160520" cy="320040"/>
          </a:xfrm>
          <a:prstGeom prst="rect">
            <a:avLst/>
          </a:prstGeom>
          <a:noFill/>
          <a:ln/>
        </p:spPr>
        <p:txBody>
          <a:bodyPr wrap="square" lIns="0" tIns="0" rIns="0" bIns="0" rtlCol="0" anchor="ctr"/>
          <a:lstStyle/>
          <a:p>
            <a:pPr marL="0" indent="0">
              <a:buNone/>
            </a:pPr>
            <a:r>
              <a:rPr lang="en-US" sz="1000" dirty="0">
                <a:solidFill>
                  <a:srgbClr val="2D394F"/>
                </a:solidFill>
              </a:rPr>
              <a:t>Attention arithmetic intensity computed at each seq length</a:t>
            </a:r>
            <a:endParaRPr lang="en-US" sz="1000" dirty="0"/>
          </a:p>
        </p:txBody>
      </p:sp>
      <p:sp>
        <p:nvSpPr>
          <p:cNvPr id="18" name="Text 16"/>
          <p:cNvSpPr/>
          <p:nvPr/>
        </p:nvSpPr>
        <p:spPr>
          <a:xfrm>
            <a:off x="4846320" y="896112"/>
            <a:ext cx="4023360" cy="274320"/>
          </a:xfrm>
          <a:prstGeom prst="rect">
            <a:avLst/>
          </a:prstGeom>
          <a:noFill/>
          <a:ln/>
        </p:spPr>
        <p:txBody>
          <a:bodyPr wrap="square" lIns="0" tIns="0" rIns="0" bIns="0" rtlCol="0" anchor="ctr"/>
          <a:lstStyle/>
          <a:p>
            <a:pPr marL="0" indent="0">
              <a:buNone/>
            </a:pPr>
            <a:r>
              <a:rPr lang="en-US" sz="1000" b="1" dirty="0">
                <a:solidFill>
                  <a:srgbClr val="2C8C84"/>
                </a:solidFill>
              </a:rPr>
              <a:t>MEASURED KV CACHE GROWTH — GPT-2 MEDIUM</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846320" y="1207008"/>
          <a:ext cx="4069080" cy="2403564"/>
        </p:xfrm>
        <a:graphic>
          <a:graphicData uri="http://schemas.openxmlformats.org/drawingml/2006/table">
            <a:tbl>
              <a:tblPr/>
              <a:tblGrid>
                <a:gridCol w="813816">
                  <a:extLst>
                    <a:ext uri="{9D8B030D-6E8A-4147-A177-3AD203B41FA5}">
                      <a16:colId xmlns:a16="http://schemas.microsoft.com/office/drawing/2014/main" val="20000"/>
                    </a:ext>
                  </a:extLst>
                </a:gridCol>
                <a:gridCol w="813816">
                  <a:extLst>
                    <a:ext uri="{9D8B030D-6E8A-4147-A177-3AD203B41FA5}">
                      <a16:colId xmlns:a16="http://schemas.microsoft.com/office/drawing/2014/main" val="20001"/>
                    </a:ext>
                  </a:extLst>
                </a:gridCol>
                <a:gridCol w="813816">
                  <a:extLst>
                    <a:ext uri="{9D8B030D-6E8A-4147-A177-3AD203B41FA5}">
                      <a16:colId xmlns:a16="http://schemas.microsoft.com/office/drawing/2014/main" val="20002"/>
                    </a:ext>
                  </a:extLst>
                </a:gridCol>
                <a:gridCol w="813816">
                  <a:extLst>
                    <a:ext uri="{9D8B030D-6E8A-4147-A177-3AD203B41FA5}">
                      <a16:colId xmlns:a16="http://schemas.microsoft.com/office/drawing/2014/main" val="20003"/>
                    </a:ext>
                  </a:extLst>
                </a:gridCol>
                <a:gridCol w="813816">
                  <a:extLst>
                    <a:ext uri="{9D8B030D-6E8A-4147-A177-3AD203B41FA5}">
                      <a16:colId xmlns:a16="http://schemas.microsoft.com/office/drawing/2014/main" val="20004"/>
                    </a:ext>
                  </a:extLst>
                </a:gridCol>
              </a:tblGrid>
              <a:tr h="339634">
                <a:tc>
                  <a:txBody>
                    <a:bodyPr/>
                    <a:lstStyle/>
                    <a:p>
                      <a:pPr marL="0" indent="0" algn="ctr">
                        <a:buNone/>
                      </a:pPr>
                      <a:r>
                        <a:rPr lang="en-US" sz="900" b="1" dirty="0">
                          <a:solidFill>
                            <a:srgbClr val="2D394F"/>
                          </a:solidFill>
                        </a:rPr>
                        <a:t>Seq Len</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E1F2EF"/>
                    </a:solidFill>
                  </a:tcPr>
                </a:tc>
                <a:tc>
                  <a:txBody>
                    <a:bodyPr/>
                    <a:lstStyle/>
                    <a:p>
                      <a:pPr marL="0" indent="0" algn="ctr">
                        <a:buNone/>
                      </a:pPr>
                      <a:r>
                        <a:rPr lang="en-US" sz="900" b="1" dirty="0">
                          <a:solidFill>
                            <a:srgbClr val="2D394F"/>
                          </a:solidFill>
                        </a:rPr>
                        <a:t>KV Cache (MB)</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E1F2EF"/>
                    </a:solidFill>
                  </a:tcPr>
                </a:tc>
                <a:tc>
                  <a:txBody>
                    <a:bodyPr/>
                    <a:lstStyle/>
                    <a:p>
                      <a:pPr marL="0" indent="0" algn="ctr">
                        <a:buNone/>
                      </a:pPr>
                      <a:r>
                        <a:rPr lang="en-US" sz="900" b="1" dirty="0">
                          <a:solidFill>
                            <a:srgbClr val="2D394F"/>
                          </a:solidFill>
                        </a:rPr>
                        <a:t>Total BW (MB)</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E1F2EF"/>
                    </a:solidFill>
                  </a:tcPr>
                </a:tc>
                <a:tc>
                  <a:txBody>
                    <a:bodyPr/>
                    <a:lstStyle/>
                    <a:p>
                      <a:pPr marL="0" indent="0" algn="ctr">
                        <a:buNone/>
                      </a:pPr>
                      <a:r>
                        <a:rPr lang="en-US" sz="900" b="1" dirty="0">
                          <a:solidFill>
                            <a:srgbClr val="2D394F"/>
                          </a:solidFill>
                        </a:rPr>
                        <a:t>AI (Attn)</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E1F2EF"/>
                    </a:solidFill>
                  </a:tcPr>
                </a:tc>
                <a:tc>
                  <a:txBody>
                    <a:bodyPr/>
                    <a:lstStyle/>
                    <a:p>
                      <a:pPr marL="0" indent="0" algn="ctr">
                        <a:buNone/>
                      </a:pPr>
                      <a:r>
                        <a:rPr lang="en-US" sz="900" b="1" dirty="0">
                          <a:solidFill>
                            <a:srgbClr val="2D394F"/>
                          </a:solidFill>
                        </a:rPr>
                        <a:t>Bottleneck</a:t>
                      </a:r>
                      <a:endParaRPr lang="en-US" sz="90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E1F2EF"/>
                    </a:solidFill>
                  </a:tcPr>
                </a:tc>
                <a:extLst>
                  <a:ext uri="{0D108BD9-81ED-4DB2-BD59-A6C34878D82A}">
                    <a16:rowId xmlns:a16="http://schemas.microsoft.com/office/drawing/2014/main" val="10000"/>
                  </a:ext>
                </a:extLst>
              </a:tr>
              <a:tr h="339634">
                <a:tc>
                  <a:txBody>
                    <a:bodyPr/>
                    <a:lstStyle/>
                    <a:p>
                      <a:pPr marL="0" indent="0" algn="ctr">
                        <a:buNone/>
                      </a:pPr>
                      <a:r>
                        <a:rPr lang="en-US" sz="950" dirty="0">
                          <a:solidFill>
                            <a:srgbClr val="2D394F"/>
                          </a:solidFill>
                        </a:rPr>
                        <a:t>128</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tc>
                  <a:txBody>
                    <a:bodyPr/>
                    <a:lstStyle/>
                    <a:p>
                      <a:pPr marL="0" indent="0" algn="ctr">
                        <a:buNone/>
                      </a:pPr>
                      <a:r>
                        <a:rPr lang="en-US" sz="950" dirty="0">
                          <a:solidFill>
                            <a:srgbClr val="2D394F"/>
                          </a:solidFill>
                        </a:rPr>
                        <a:t>12.6</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tc>
                  <a:txBody>
                    <a:bodyPr/>
                    <a:lstStyle/>
                    <a:p>
                      <a:pPr marL="0" indent="0" algn="ctr">
                        <a:buNone/>
                      </a:pPr>
                      <a:r>
                        <a:rPr lang="en-US" sz="950" dirty="0">
                          <a:solidFill>
                            <a:srgbClr val="2D394F"/>
                          </a:solidFill>
                        </a:rPr>
                        <a:t>616.7</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tc>
                  <a:txBody>
                    <a:bodyPr/>
                    <a:lstStyle/>
                    <a:p>
                      <a:pPr marL="0" indent="0" algn="ctr">
                        <a:buNone/>
                      </a:pPr>
                      <a:r>
                        <a:rPr lang="en-US" sz="950" dirty="0">
                          <a:solidFill>
                            <a:srgbClr val="2D394F"/>
                          </a:solidFill>
                        </a:rPr>
                        <a:t>0.059</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tc>
                  <a:txBody>
                    <a:bodyPr/>
                    <a:lstStyle/>
                    <a:p>
                      <a:pPr marL="0" indent="0" algn="ctr">
                        <a:buNone/>
                      </a:pPr>
                      <a:r>
                        <a:rPr lang="en-US" sz="950" dirty="0">
                          <a:solidFill>
                            <a:srgbClr val="2D394F"/>
                          </a:solidFill>
                        </a:rPr>
                        <a:t>Memory</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extLst>
                  <a:ext uri="{0D108BD9-81ED-4DB2-BD59-A6C34878D82A}">
                    <a16:rowId xmlns:a16="http://schemas.microsoft.com/office/drawing/2014/main" val="10001"/>
                  </a:ext>
                </a:extLst>
              </a:tr>
              <a:tr h="339634">
                <a:tc>
                  <a:txBody>
                    <a:bodyPr/>
                    <a:lstStyle/>
                    <a:p>
                      <a:pPr marL="0" indent="0" algn="ctr">
                        <a:buNone/>
                      </a:pPr>
                      <a:r>
                        <a:rPr lang="en-US" sz="950" dirty="0">
                          <a:solidFill>
                            <a:srgbClr val="2D394F"/>
                          </a:solidFill>
                        </a:rPr>
                        <a:t>256</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D394F"/>
                          </a:solidFill>
                        </a:rPr>
                        <a:t>25.2</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D394F"/>
                          </a:solidFill>
                        </a:rPr>
                        <a:t>629.2</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D394F"/>
                          </a:solidFill>
                        </a:rPr>
                        <a:t>0.111</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D394F"/>
                          </a:solidFill>
                        </a:rPr>
                        <a:t>Memory</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9634">
                <a:tc>
                  <a:txBody>
                    <a:bodyPr/>
                    <a:lstStyle/>
                    <a:p>
                      <a:pPr marL="0" indent="0" algn="ctr">
                        <a:buNone/>
                      </a:pPr>
                      <a:r>
                        <a:rPr lang="en-US" sz="950" dirty="0">
                          <a:solidFill>
                            <a:srgbClr val="2D394F"/>
                          </a:solidFill>
                        </a:rPr>
                        <a:t>512</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tc>
                  <a:txBody>
                    <a:bodyPr/>
                    <a:lstStyle/>
                    <a:p>
                      <a:pPr marL="0" indent="0" algn="ctr">
                        <a:buNone/>
                      </a:pPr>
                      <a:r>
                        <a:rPr lang="en-US" sz="950" dirty="0">
                          <a:solidFill>
                            <a:srgbClr val="2D394F"/>
                          </a:solidFill>
                        </a:rPr>
                        <a:t>50.3</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tc>
                  <a:txBody>
                    <a:bodyPr/>
                    <a:lstStyle/>
                    <a:p>
                      <a:pPr marL="0" indent="0" algn="ctr">
                        <a:buNone/>
                      </a:pPr>
                      <a:r>
                        <a:rPr lang="en-US" sz="950" dirty="0">
                          <a:solidFill>
                            <a:srgbClr val="2D394F"/>
                          </a:solidFill>
                        </a:rPr>
                        <a:t>654.4</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tc>
                  <a:txBody>
                    <a:bodyPr/>
                    <a:lstStyle/>
                    <a:p>
                      <a:pPr marL="0" indent="0" algn="ctr">
                        <a:buNone/>
                      </a:pPr>
                      <a:r>
                        <a:rPr lang="en-US" sz="950" dirty="0">
                          <a:solidFill>
                            <a:srgbClr val="2D394F"/>
                          </a:solidFill>
                        </a:rPr>
                        <a:t>0.200</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tc>
                  <a:txBody>
                    <a:bodyPr/>
                    <a:lstStyle/>
                    <a:p>
                      <a:pPr marL="0" indent="0" algn="ctr">
                        <a:buNone/>
                      </a:pPr>
                      <a:r>
                        <a:rPr lang="en-US" sz="950" dirty="0">
                          <a:solidFill>
                            <a:srgbClr val="2D394F"/>
                          </a:solidFill>
                        </a:rPr>
                        <a:t>Memory</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extLst>
                  <a:ext uri="{0D108BD9-81ED-4DB2-BD59-A6C34878D82A}">
                    <a16:rowId xmlns:a16="http://schemas.microsoft.com/office/drawing/2014/main" val="10003"/>
                  </a:ext>
                </a:extLst>
              </a:tr>
              <a:tr h="339634">
                <a:tc>
                  <a:txBody>
                    <a:bodyPr/>
                    <a:lstStyle/>
                    <a:p>
                      <a:pPr marL="0" indent="0" algn="ctr">
                        <a:buNone/>
                      </a:pPr>
                      <a:r>
                        <a:rPr lang="en-US" sz="950" dirty="0">
                          <a:solidFill>
                            <a:srgbClr val="2D394F"/>
                          </a:solidFill>
                        </a:rPr>
                        <a:t>1024</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D394F"/>
                          </a:solidFill>
                        </a:rPr>
                        <a:t>100.7</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D394F"/>
                          </a:solidFill>
                        </a:rPr>
                        <a:t>704.7</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D394F"/>
                          </a:solidFill>
                        </a:rPr>
                        <a:t>0.333</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D394F"/>
                          </a:solidFill>
                        </a:rPr>
                        <a:t>Memory</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9634">
                <a:tc>
                  <a:txBody>
                    <a:bodyPr/>
                    <a:lstStyle/>
                    <a:p>
                      <a:pPr marL="0" indent="0" algn="ctr">
                        <a:buNone/>
                      </a:pPr>
                      <a:r>
                        <a:rPr lang="en-US" sz="950" dirty="0">
                          <a:solidFill>
                            <a:srgbClr val="2D394F"/>
                          </a:solidFill>
                        </a:rPr>
                        <a:t>2048</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tc>
                  <a:txBody>
                    <a:bodyPr/>
                    <a:lstStyle/>
                    <a:p>
                      <a:pPr marL="0" indent="0" algn="ctr">
                        <a:buNone/>
                      </a:pPr>
                      <a:r>
                        <a:rPr lang="en-US" sz="950" dirty="0">
                          <a:solidFill>
                            <a:srgbClr val="2D394F"/>
                          </a:solidFill>
                        </a:rPr>
                        <a:t>201.3</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tc>
                  <a:txBody>
                    <a:bodyPr/>
                    <a:lstStyle/>
                    <a:p>
                      <a:pPr marL="0" indent="0" algn="ctr">
                        <a:buNone/>
                      </a:pPr>
                      <a:r>
                        <a:rPr lang="en-US" sz="950" dirty="0">
                          <a:solidFill>
                            <a:srgbClr val="2D394F"/>
                          </a:solidFill>
                        </a:rPr>
                        <a:t>805.4</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tc>
                  <a:txBody>
                    <a:bodyPr/>
                    <a:lstStyle/>
                    <a:p>
                      <a:pPr marL="0" indent="0" algn="ctr">
                        <a:buNone/>
                      </a:pPr>
                      <a:r>
                        <a:rPr lang="en-US" sz="950" dirty="0">
                          <a:solidFill>
                            <a:srgbClr val="2D394F"/>
                          </a:solidFill>
                        </a:rPr>
                        <a:t>0.500</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tc>
                  <a:txBody>
                    <a:bodyPr/>
                    <a:lstStyle/>
                    <a:p>
                      <a:pPr marL="0" indent="0" algn="ctr">
                        <a:buNone/>
                      </a:pPr>
                      <a:r>
                        <a:rPr lang="en-US" sz="950" dirty="0">
                          <a:solidFill>
                            <a:srgbClr val="2D394F"/>
                          </a:solidFill>
                        </a:rPr>
                        <a:t>Memory</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7F1E8"/>
                    </a:solidFill>
                  </a:tcPr>
                </a:tc>
                <a:extLst>
                  <a:ext uri="{0D108BD9-81ED-4DB2-BD59-A6C34878D82A}">
                    <a16:rowId xmlns:a16="http://schemas.microsoft.com/office/drawing/2014/main" val="10005"/>
                  </a:ext>
                </a:extLst>
              </a:tr>
              <a:tr h="339634">
                <a:tc>
                  <a:txBody>
                    <a:bodyPr/>
                    <a:lstStyle/>
                    <a:p>
                      <a:pPr marL="0" indent="0" algn="ctr">
                        <a:buNone/>
                      </a:pPr>
                      <a:r>
                        <a:rPr lang="en-US" sz="950" dirty="0">
                          <a:solidFill>
                            <a:srgbClr val="2D394F"/>
                          </a:solidFill>
                        </a:rPr>
                        <a:t>4096</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D394F"/>
                          </a:solidFill>
                        </a:rPr>
                        <a:t>402.7</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D394F"/>
                          </a:solidFill>
                        </a:rPr>
                        <a:t>1006.7</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D394F"/>
                          </a:solidFill>
                        </a:rPr>
                        <a:t>0.667</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D394F"/>
                          </a:solidFill>
                        </a:rPr>
                        <a:t>Memory</a:t>
                      </a:r>
                      <a:endParaRPr lang="en-US" sz="950" dirty="0"/>
                    </a:p>
                  </a:txBody>
                  <a:tcPr>
                    <a:lnL w="6350" cap="flat" cmpd="sng" algn="ctr">
                      <a:solidFill>
                        <a:srgbClr val="243460"/>
                      </a:solidFill>
                      <a:prstDash val="solid"/>
                      <a:round/>
                      <a:headEnd type="none" w="med" len="med"/>
                      <a:tailEnd type="none" w="med" len="med"/>
                    </a:lnL>
                    <a:lnR w="6350" cap="flat" cmpd="sng" algn="ctr">
                      <a:solidFill>
                        <a:srgbClr val="243460"/>
                      </a:solidFill>
                      <a:prstDash val="solid"/>
                      <a:round/>
                      <a:headEnd type="none" w="med" len="med"/>
                      <a:tailEnd type="none" w="med" len="med"/>
                    </a:lnR>
                    <a:lnT w="6350" cap="flat" cmpd="sng" algn="ctr">
                      <a:solidFill>
                        <a:srgbClr val="243460"/>
                      </a:solidFill>
                      <a:prstDash val="solid"/>
                      <a:round/>
                      <a:headEnd type="none" w="med" len="med"/>
                      <a:tailEnd type="none" w="med" len="med"/>
                    </a:lnT>
                    <a:lnB w="6350" cap="flat" cmpd="sng" algn="ctr">
                      <a:solidFill>
                        <a:srgbClr val="24346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0" name="Shape 17"/>
          <p:cNvSpPr/>
          <p:nvPr/>
        </p:nvSpPr>
        <p:spPr>
          <a:xfrm>
            <a:off x="274320" y="3749040"/>
            <a:ext cx="8595360" cy="1051560"/>
          </a:xfrm>
          <a:prstGeom prst="rect">
            <a:avLst/>
          </a:prstGeom>
          <a:solidFill>
            <a:srgbClr val="FFFFFF"/>
          </a:solidFill>
          <a:ln w="19050">
            <a:solidFill>
              <a:srgbClr val="2C8C84"/>
            </a:solidFill>
            <a:prstDash val="solid"/>
          </a:ln>
        </p:spPr>
        <p:txBody>
          <a:bodyPr/>
          <a:lstStyle/>
          <a:p>
            <a:endParaRPr/>
          </a:p>
        </p:txBody>
      </p:sp>
      <p:sp>
        <p:nvSpPr>
          <p:cNvPr id="21" name="Text 18"/>
          <p:cNvSpPr/>
          <p:nvPr/>
        </p:nvSpPr>
        <p:spPr>
          <a:xfrm>
            <a:off x="457200" y="3822192"/>
            <a:ext cx="2286000" cy="256032"/>
          </a:xfrm>
          <a:prstGeom prst="rect">
            <a:avLst/>
          </a:prstGeom>
          <a:noFill/>
          <a:ln/>
        </p:spPr>
        <p:txBody>
          <a:bodyPr wrap="square" lIns="0" tIns="0" rIns="0" bIns="0" rtlCol="0" anchor="ctr"/>
          <a:lstStyle/>
          <a:p>
            <a:pPr marL="0" indent="0">
              <a:buNone/>
            </a:pPr>
            <a:r>
              <a:rPr lang="en-US" sz="1000" b="1" dirty="0">
                <a:solidFill>
                  <a:srgbClr val="2C8C84"/>
                </a:solidFill>
              </a:rPr>
              <a:t>FORMULA VALIDATION</a:t>
            </a:r>
            <a:endParaRPr lang="en-US" sz="1000" dirty="0"/>
          </a:p>
        </p:txBody>
      </p:sp>
      <p:sp>
        <p:nvSpPr>
          <p:cNvPr id="22" name="Text 19"/>
          <p:cNvSpPr/>
          <p:nvPr/>
        </p:nvSpPr>
        <p:spPr>
          <a:xfrm>
            <a:off x="457200" y="4078224"/>
            <a:ext cx="8229600" cy="274320"/>
          </a:xfrm>
          <a:prstGeom prst="rect">
            <a:avLst/>
          </a:prstGeom>
          <a:noFill/>
          <a:ln/>
        </p:spPr>
        <p:txBody>
          <a:bodyPr wrap="square" lIns="0" tIns="0" rIns="0" bIns="0" rtlCol="0" anchor="ctr"/>
          <a:lstStyle/>
          <a:p>
            <a:pPr marL="0" indent="0">
              <a:buNone/>
            </a:pPr>
            <a:r>
              <a:rPr lang="en-US" sz="1050" b="1" dirty="0">
                <a:solidFill>
                  <a:srgbClr val="2D394F"/>
                </a:solidFill>
              </a:rPr>
              <a:t>KV_bytes = 2 × n_layers × n_heads × head_dim × seq_len × 2 bytes  →  Predicted vs. Real: within 0.01 MB</a:t>
            </a:r>
            <a:endParaRPr lang="en-US" sz="1050" dirty="0"/>
          </a:p>
        </p:txBody>
      </p:sp>
      <p:sp>
        <p:nvSpPr>
          <p:cNvPr id="23" name="Text 20"/>
          <p:cNvSpPr/>
          <p:nvPr/>
        </p:nvSpPr>
        <p:spPr>
          <a:xfrm>
            <a:off x="457200" y="4370832"/>
            <a:ext cx="8229600" cy="320040"/>
          </a:xfrm>
          <a:prstGeom prst="rect">
            <a:avLst/>
          </a:prstGeom>
          <a:noFill/>
          <a:ln/>
        </p:spPr>
        <p:txBody>
          <a:bodyPr wrap="square" lIns="0" tIns="0" rIns="0" bIns="0" rtlCol="0" anchor="ctr"/>
          <a:lstStyle/>
          <a:p>
            <a:pPr marL="0" indent="0">
              <a:buNone/>
            </a:pPr>
            <a:r>
              <a:rPr lang="en-US" sz="950" dirty="0">
                <a:solidFill>
                  <a:srgbClr val="636F86"/>
                </a:solidFill>
              </a:rPr>
              <a:t>Attention always memory-bound (AI &lt; 1.0 across all tested seq lengths). FFN at compute boundary (AI = 1.0). SRAM budget (4 MB) exceeded at seq=128.</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980194-8075-BDF5-EE27-F2820C75D360}"/>
              </a:ext>
            </a:extLst>
          </p:cNvPr>
          <p:cNvPicPr>
            <a:picLocks noChangeAspect="1"/>
          </p:cNvPicPr>
          <p:nvPr/>
        </p:nvPicPr>
        <p:blipFill>
          <a:blip r:embed="rId2"/>
          <a:stretch>
            <a:fillRect/>
          </a:stretch>
        </p:blipFill>
        <p:spPr>
          <a:xfrm>
            <a:off x="194280" y="994748"/>
            <a:ext cx="6768061" cy="4056117"/>
          </a:xfrm>
          <a:prstGeom prst="rect">
            <a:avLst/>
          </a:prstGeom>
        </p:spPr>
      </p:pic>
      <p:sp>
        <p:nvSpPr>
          <p:cNvPr id="7" name="Rectangle 1">
            <a:extLst>
              <a:ext uri="{FF2B5EF4-FFF2-40B4-BE49-F238E27FC236}">
                <a16:creationId xmlns:a16="http://schemas.microsoft.com/office/drawing/2014/main" id="{0D8AAF9C-77D6-F6D8-7435-996078B8CA36}"/>
              </a:ext>
            </a:extLst>
          </p:cNvPr>
          <p:cNvSpPr>
            <a:spLocks noChangeArrowheads="1"/>
          </p:cNvSpPr>
          <p:nvPr/>
        </p:nvSpPr>
        <p:spPr bwMode="auto">
          <a:xfrm>
            <a:off x="5247406" y="2436844"/>
            <a:ext cx="2255290" cy="1415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86A72E56-DCA4-41E4-618C-80198E25356E}"/>
              </a:ext>
            </a:extLst>
          </p:cNvPr>
          <p:cNvSpPr txBox="1"/>
          <p:nvPr/>
        </p:nvSpPr>
        <p:spPr>
          <a:xfrm>
            <a:off x="-174546" y="327399"/>
            <a:ext cx="8899634" cy="369332"/>
          </a:xfrm>
          <a:prstGeom prst="rect">
            <a:avLst/>
          </a:prstGeom>
          <a:noFill/>
        </p:spPr>
        <p:txBody>
          <a:bodyPr wrap="square" rtlCol="0">
            <a:spAutoFit/>
          </a:bodyPr>
          <a:lstStyle/>
          <a:p>
            <a:pPr algn="ctr"/>
            <a:r>
              <a:rPr lang="en-US" b="1" kern="0" spc="200" dirty="0">
                <a:solidFill>
                  <a:srgbClr val="2F3F73"/>
                </a:solidFill>
              </a:rPr>
              <a:t>MEMORY-CENTRIC ROOFLINE MODEL</a:t>
            </a:r>
            <a:endParaRPr lang="en-US" dirty="0"/>
          </a:p>
        </p:txBody>
      </p:sp>
      <p:sp>
        <p:nvSpPr>
          <p:cNvPr id="3" name="Shape 3">
            <a:extLst>
              <a:ext uri="{FF2B5EF4-FFF2-40B4-BE49-F238E27FC236}">
                <a16:creationId xmlns:a16="http://schemas.microsoft.com/office/drawing/2014/main" id="{99D334A5-C7BA-0E72-0FAF-4DAEA648A1F8}"/>
              </a:ext>
            </a:extLst>
          </p:cNvPr>
          <p:cNvSpPr/>
          <p:nvPr/>
        </p:nvSpPr>
        <p:spPr>
          <a:xfrm>
            <a:off x="7046894" y="1316304"/>
            <a:ext cx="1995505" cy="632247"/>
          </a:xfrm>
          <a:prstGeom prst="rect">
            <a:avLst/>
          </a:prstGeom>
          <a:solidFill>
            <a:srgbClr val="FFFFFF"/>
          </a:solidFill>
          <a:ln w="19050">
            <a:solidFill>
              <a:srgbClr val="2C8C84"/>
            </a:solidFill>
            <a:prstDash val="solid"/>
          </a:ln>
        </p:spPr>
        <p:txBody>
          <a:bodyPr/>
          <a:lstStyle/>
          <a:p>
            <a:r>
              <a:rPr lang="en-US" altLang="en-US" sz="1000" dirty="0">
                <a:latin typeface="Arial" panose="020B0604020202020204" pitchFamily="34" charset="0"/>
              </a:rPr>
              <a:t>Attention AI grows with context but stays below the ridge point at all sequence lengths.</a:t>
            </a:r>
            <a:endParaRPr lang="en-US" altLang="en-US" dirty="0">
              <a:latin typeface="Arial" panose="020B0604020202020204" pitchFamily="34" charset="0"/>
            </a:endParaRPr>
          </a:p>
          <a:p>
            <a:endParaRPr dirty="0"/>
          </a:p>
        </p:txBody>
      </p:sp>
      <p:sp>
        <p:nvSpPr>
          <p:cNvPr id="4" name="Shape 7">
            <a:extLst>
              <a:ext uri="{FF2B5EF4-FFF2-40B4-BE49-F238E27FC236}">
                <a16:creationId xmlns:a16="http://schemas.microsoft.com/office/drawing/2014/main" id="{968B017C-75E6-DEB8-1A36-E9A3E2851E18}"/>
              </a:ext>
            </a:extLst>
          </p:cNvPr>
          <p:cNvSpPr/>
          <p:nvPr/>
        </p:nvSpPr>
        <p:spPr>
          <a:xfrm>
            <a:off x="7046893" y="2180938"/>
            <a:ext cx="1995505" cy="690790"/>
          </a:xfrm>
          <a:prstGeom prst="rect">
            <a:avLst/>
          </a:prstGeom>
          <a:solidFill>
            <a:srgbClr val="FFFFFF"/>
          </a:solidFill>
          <a:ln w="19050">
            <a:solidFill>
              <a:srgbClr val="8A7AC8"/>
            </a:solidFill>
            <a:prstDash val="solid"/>
          </a:ln>
        </p:spPr>
        <p:txBody>
          <a:bodyPr/>
          <a:lstStyle/>
          <a:p>
            <a:pPr lvl="0" eaLnBrk="0" fontAlgn="base" hangingPunct="0">
              <a:spcBef>
                <a:spcPct val="0"/>
              </a:spcBef>
              <a:spcAft>
                <a:spcPct val="0"/>
              </a:spcAft>
            </a:pPr>
            <a:r>
              <a:rPr lang="en-US" altLang="en-US" sz="1000" dirty="0">
                <a:latin typeface="Arial" panose="020B0604020202020204" pitchFamily="34" charset="0"/>
              </a:rPr>
              <a:t>H100 ridge point = </a:t>
            </a:r>
            <a:r>
              <a:rPr lang="en-US" altLang="en-US" sz="1000" b="1" dirty="0">
                <a:latin typeface="Arial" panose="020B0604020202020204" pitchFamily="34" charset="0"/>
              </a:rPr>
              <a:t>93 FLOP/byte</a:t>
            </a:r>
            <a:r>
              <a:rPr lang="en-US" altLang="en-US" sz="1000" dirty="0">
                <a:latin typeface="Arial" panose="020B0604020202020204" pitchFamily="34" charset="0"/>
              </a:rPr>
              <a:t> </a:t>
            </a:r>
          </a:p>
          <a:p>
            <a:pPr lvl="0" eaLnBrk="0" fontAlgn="base" hangingPunct="0">
              <a:spcBef>
                <a:spcPct val="0"/>
              </a:spcBef>
              <a:spcAft>
                <a:spcPct val="0"/>
              </a:spcAft>
            </a:pPr>
            <a:r>
              <a:rPr lang="en-US" altLang="en-US" sz="1000" dirty="0">
                <a:latin typeface="Arial" panose="020B0604020202020204" pitchFamily="34" charset="0"/>
              </a:rPr>
              <a:t>Measured attention AI = </a:t>
            </a:r>
            <a:r>
              <a:rPr lang="en-US" altLang="en-US" sz="1000" b="1" dirty="0">
                <a:latin typeface="Arial" panose="020B0604020202020204" pitchFamily="34" charset="0"/>
              </a:rPr>
              <a:t>0.06 to 0.67 FLOP/byte</a:t>
            </a:r>
            <a:r>
              <a:rPr lang="en-US" altLang="en-US" sz="1000" dirty="0">
                <a:latin typeface="Arial" panose="020B0604020202020204" pitchFamily="34" charset="0"/>
              </a:rPr>
              <a:t>.</a:t>
            </a:r>
          </a:p>
          <a:p>
            <a:endParaRPr dirty="0"/>
          </a:p>
        </p:txBody>
      </p:sp>
      <p:sp>
        <p:nvSpPr>
          <p:cNvPr id="6" name="Shape 3">
            <a:extLst>
              <a:ext uri="{FF2B5EF4-FFF2-40B4-BE49-F238E27FC236}">
                <a16:creationId xmlns:a16="http://schemas.microsoft.com/office/drawing/2014/main" id="{B9356806-3DD0-CCA6-39A8-9E1D52C5E261}"/>
              </a:ext>
            </a:extLst>
          </p:cNvPr>
          <p:cNvSpPr/>
          <p:nvPr/>
        </p:nvSpPr>
        <p:spPr>
          <a:xfrm>
            <a:off x="7046896" y="3127634"/>
            <a:ext cx="1995505" cy="632248"/>
          </a:xfrm>
          <a:prstGeom prst="rect">
            <a:avLst/>
          </a:prstGeom>
          <a:solidFill>
            <a:srgbClr val="FFFFFF"/>
          </a:solidFill>
          <a:ln w="19050">
            <a:solidFill>
              <a:srgbClr val="2C8C84"/>
            </a:solidFill>
            <a:prstDash val="solid"/>
          </a:ln>
        </p:spPr>
        <p:txBody>
          <a:bodyPr/>
          <a:lstStyle/>
          <a:p>
            <a:r>
              <a:rPr lang="en-US" altLang="en-US" sz="1000" dirty="0">
                <a:latin typeface="Arial" panose="020B0604020202020204" pitchFamily="34" charset="0"/>
              </a:rPr>
              <a:t>Attention AI grows with context but stays below the ridge point at all sequence lengths.</a:t>
            </a:r>
            <a:endParaRPr lang="en-US" altLang="en-US" dirty="0">
              <a:latin typeface="Arial" panose="020B0604020202020204" pitchFamily="34" charset="0"/>
            </a:endParaRPr>
          </a:p>
          <a:p>
            <a:endParaRPr lang="en-US" dirty="0"/>
          </a:p>
          <a:p>
            <a:endParaRPr lang="en-US" dirty="0"/>
          </a:p>
          <a:p>
            <a:endParaRPr lang="en-US" b="1" dirty="0"/>
          </a:p>
          <a:p>
            <a:endParaRPr dirty="0"/>
          </a:p>
        </p:txBody>
      </p:sp>
      <p:sp>
        <p:nvSpPr>
          <p:cNvPr id="8" name="Shape 3">
            <a:extLst>
              <a:ext uri="{FF2B5EF4-FFF2-40B4-BE49-F238E27FC236}">
                <a16:creationId xmlns:a16="http://schemas.microsoft.com/office/drawing/2014/main" id="{5BA5AB64-01C5-335A-E547-AACCEE87CFC2}"/>
              </a:ext>
            </a:extLst>
          </p:cNvPr>
          <p:cNvSpPr/>
          <p:nvPr/>
        </p:nvSpPr>
        <p:spPr>
          <a:xfrm>
            <a:off x="7046896" y="3968428"/>
            <a:ext cx="1995505" cy="690791"/>
          </a:xfrm>
          <a:prstGeom prst="rect">
            <a:avLst/>
          </a:prstGeom>
          <a:solidFill>
            <a:srgbClr val="FFFFFF"/>
          </a:solidFill>
          <a:ln w="19050">
            <a:solidFill>
              <a:srgbClr val="2C8C84"/>
            </a:solidFill>
            <a:prstDash val="solid"/>
          </a:ln>
        </p:spPr>
        <p:txBody>
          <a:bodyPr/>
          <a:lstStyle/>
          <a:p>
            <a:r>
              <a:rPr lang="en-US" altLang="en-US" sz="1000" dirty="0">
                <a:latin typeface="Arial" panose="020B0604020202020204" pitchFamily="34" charset="0"/>
              </a:rPr>
              <a:t>Therefore, LLM decode performance is constrained by memory bandwidth and data placement.</a:t>
            </a:r>
            <a:endParaRPr lang="en-US" sz="1000" dirty="0"/>
          </a:p>
          <a:p>
            <a:endParaRPr dirty="0"/>
          </a:p>
        </p:txBody>
      </p:sp>
      <p:sp>
        <p:nvSpPr>
          <p:cNvPr id="9" name="Shape 0">
            <a:extLst>
              <a:ext uri="{FF2B5EF4-FFF2-40B4-BE49-F238E27FC236}">
                <a16:creationId xmlns:a16="http://schemas.microsoft.com/office/drawing/2014/main" id="{05BC9C25-8AB5-A6AB-92AB-1BC6854C65BA}"/>
              </a:ext>
            </a:extLst>
          </p:cNvPr>
          <p:cNvSpPr/>
          <p:nvPr/>
        </p:nvSpPr>
        <p:spPr>
          <a:xfrm>
            <a:off x="0" y="0"/>
            <a:ext cx="109728" cy="5143500"/>
          </a:xfrm>
          <a:prstGeom prst="rect">
            <a:avLst/>
          </a:prstGeom>
          <a:solidFill>
            <a:srgbClr val="2F3F73"/>
          </a:solidFill>
          <a:ln>
            <a:solidFill>
              <a:srgbClr val="2F3F73"/>
            </a:solidFill>
          </a:ln>
        </p:spPr>
        <p:txBody>
          <a:bodyPr/>
          <a:lstStyle/>
          <a:p>
            <a:endParaRPr/>
          </a:p>
        </p:txBody>
      </p:sp>
    </p:spTree>
    <p:extLst>
      <p:ext uri="{BB962C8B-B14F-4D97-AF65-F5344CB8AC3E}">
        <p14:creationId xmlns:p14="http://schemas.microsoft.com/office/powerpoint/2010/main" val="2359087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F3F73"/>
          </a:solidFill>
          <a:ln/>
        </p:spPr>
        <p:txBody>
          <a:bodyPr/>
          <a:lstStyle/>
          <a:p>
            <a:endParaRPr/>
          </a:p>
        </p:txBody>
      </p:sp>
      <p:sp>
        <p:nvSpPr>
          <p:cNvPr id="3" name="Text 1"/>
          <p:cNvSpPr/>
          <p:nvPr/>
        </p:nvSpPr>
        <p:spPr>
          <a:xfrm>
            <a:off x="320040" y="164592"/>
            <a:ext cx="8503920" cy="411480"/>
          </a:xfrm>
          <a:prstGeom prst="rect">
            <a:avLst/>
          </a:prstGeom>
          <a:noFill/>
          <a:ln/>
        </p:spPr>
        <p:txBody>
          <a:bodyPr wrap="square" rtlCol="0" anchor="ctr"/>
          <a:lstStyle/>
          <a:p>
            <a:pPr marL="0" indent="0">
              <a:buNone/>
            </a:pPr>
            <a:r>
              <a:rPr lang="en-US" sz="1800" b="1" kern="0" spc="200" dirty="0">
                <a:solidFill>
                  <a:srgbClr val="2F3F73"/>
                </a:solidFill>
              </a:rPr>
              <a:t>ASEP — ATTENTION-SCORE-DRIVEN EVICTION POLICY</a:t>
            </a:r>
            <a:endParaRPr lang="en-US" sz="1800" dirty="0"/>
          </a:p>
        </p:txBody>
      </p:sp>
      <p:sp>
        <p:nvSpPr>
          <p:cNvPr id="4" name="Text 2"/>
          <p:cNvSpPr/>
          <p:nvPr/>
        </p:nvSpPr>
        <p:spPr>
          <a:xfrm>
            <a:off x="320040" y="548640"/>
            <a:ext cx="8503920" cy="256032"/>
          </a:xfrm>
          <a:prstGeom prst="rect">
            <a:avLst/>
          </a:prstGeom>
          <a:noFill/>
          <a:ln/>
        </p:spPr>
        <p:txBody>
          <a:bodyPr wrap="square" rtlCol="0" anchor="ctr"/>
          <a:lstStyle/>
          <a:p>
            <a:pPr marL="0" indent="0">
              <a:buNone/>
            </a:pPr>
            <a:r>
              <a:rPr lang="en-US" sz="1000" dirty="0">
                <a:solidFill>
                  <a:srgbClr val="636F86"/>
                </a:solidFill>
              </a:rPr>
              <a:t>05 — Our Core Contribution: Dynamic Policy vs. Static LRU</a:t>
            </a:r>
            <a:endParaRPr lang="en-US" sz="1000" dirty="0"/>
          </a:p>
        </p:txBody>
      </p:sp>
      <p:sp>
        <p:nvSpPr>
          <p:cNvPr id="5" name="Shape 3"/>
          <p:cNvSpPr/>
          <p:nvPr/>
        </p:nvSpPr>
        <p:spPr>
          <a:xfrm>
            <a:off x="274320" y="914400"/>
            <a:ext cx="4114800" cy="3200400"/>
          </a:xfrm>
          <a:prstGeom prst="rect">
            <a:avLst/>
          </a:prstGeom>
          <a:solidFill>
            <a:srgbClr val="FFFFFF"/>
          </a:solidFill>
          <a:ln w="25400">
            <a:solidFill>
              <a:srgbClr val="D4A256"/>
            </a:solidFill>
            <a:prstDash val="solid"/>
          </a:ln>
        </p:spPr>
        <p:txBody>
          <a:bodyPr/>
          <a:lstStyle/>
          <a:p>
            <a:endParaRPr/>
          </a:p>
        </p:txBody>
      </p:sp>
      <p:sp>
        <p:nvSpPr>
          <p:cNvPr id="6" name="Shape 4"/>
          <p:cNvSpPr/>
          <p:nvPr/>
        </p:nvSpPr>
        <p:spPr>
          <a:xfrm>
            <a:off x="274320" y="914400"/>
            <a:ext cx="4114800" cy="411480"/>
          </a:xfrm>
          <a:prstGeom prst="rect">
            <a:avLst/>
          </a:prstGeom>
          <a:solidFill>
            <a:srgbClr val="F7ECDA"/>
          </a:solidFill>
          <a:ln/>
        </p:spPr>
        <p:txBody>
          <a:bodyPr/>
          <a:lstStyle/>
          <a:p>
            <a:endParaRPr/>
          </a:p>
        </p:txBody>
      </p:sp>
      <p:sp>
        <p:nvSpPr>
          <p:cNvPr id="7" name="Text 5"/>
          <p:cNvSpPr/>
          <p:nvPr/>
        </p:nvSpPr>
        <p:spPr>
          <a:xfrm>
            <a:off x="274320" y="914400"/>
            <a:ext cx="4114800" cy="411480"/>
          </a:xfrm>
          <a:prstGeom prst="rect">
            <a:avLst/>
          </a:prstGeom>
          <a:noFill/>
          <a:ln/>
        </p:spPr>
        <p:txBody>
          <a:bodyPr wrap="square" lIns="0" tIns="0" rIns="0" bIns="0" rtlCol="0" anchor="ctr"/>
          <a:lstStyle/>
          <a:p>
            <a:pPr marL="0" indent="0" algn="ctr">
              <a:buNone/>
            </a:pPr>
            <a:r>
              <a:rPr lang="en-US" sz="1300" b="1" dirty="0">
                <a:solidFill>
                  <a:srgbClr val="2D394F"/>
                </a:solidFill>
              </a:rPr>
              <a:t>LRU — Static Baseline</a:t>
            </a:r>
            <a:endParaRPr lang="en-US" sz="1300" dirty="0"/>
          </a:p>
        </p:txBody>
      </p:sp>
      <p:sp>
        <p:nvSpPr>
          <p:cNvPr id="8" name="Shape 6"/>
          <p:cNvSpPr/>
          <p:nvPr/>
        </p:nvSpPr>
        <p:spPr>
          <a:xfrm>
            <a:off x="365760" y="1417320"/>
            <a:ext cx="228600" cy="228600"/>
          </a:xfrm>
          <a:prstGeom prst="rect">
            <a:avLst/>
          </a:prstGeom>
          <a:solidFill>
            <a:srgbClr val="F7ECDA"/>
          </a:solidFill>
          <a:ln/>
        </p:spPr>
        <p:txBody>
          <a:bodyPr/>
          <a:lstStyle/>
          <a:p>
            <a:endParaRPr/>
          </a:p>
        </p:txBody>
      </p:sp>
      <p:sp>
        <p:nvSpPr>
          <p:cNvPr id="9" name="Text 7"/>
          <p:cNvSpPr/>
          <p:nvPr/>
        </p:nvSpPr>
        <p:spPr>
          <a:xfrm>
            <a:off x="365760" y="1417320"/>
            <a:ext cx="228600" cy="228600"/>
          </a:xfrm>
          <a:prstGeom prst="rect">
            <a:avLst/>
          </a:prstGeom>
          <a:noFill/>
          <a:ln/>
        </p:spPr>
        <p:txBody>
          <a:bodyPr wrap="square" lIns="0" tIns="0" rIns="0" bIns="0" rtlCol="0" anchor="ctr"/>
          <a:lstStyle/>
          <a:p>
            <a:pPr marL="0" indent="0" algn="ctr">
              <a:buNone/>
            </a:pPr>
            <a:r>
              <a:rPr lang="en-US" sz="1100" b="1" dirty="0">
                <a:solidFill>
                  <a:srgbClr val="2D394F"/>
                </a:solidFill>
              </a:rPr>
              <a:t>✗</a:t>
            </a:r>
            <a:endParaRPr lang="en-US" sz="1100" dirty="0"/>
          </a:p>
        </p:txBody>
      </p:sp>
      <p:sp>
        <p:nvSpPr>
          <p:cNvPr id="10" name="Text 8"/>
          <p:cNvSpPr/>
          <p:nvPr/>
        </p:nvSpPr>
        <p:spPr>
          <a:xfrm>
            <a:off x="658368" y="1399032"/>
            <a:ext cx="3566160" cy="274320"/>
          </a:xfrm>
          <a:prstGeom prst="rect">
            <a:avLst/>
          </a:prstGeom>
          <a:noFill/>
          <a:ln/>
        </p:spPr>
        <p:txBody>
          <a:bodyPr wrap="square" lIns="0" tIns="0" rIns="0" bIns="0" rtlCol="0" anchor="ctr"/>
          <a:lstStyle/>
          <a:p>
            <a:pPr marL="0" indent="0">
              <a:buNone/>
            </a:pPr>
            <a:r>
              <a:rPr lang="en-US" sz="950" dirty="0">
                <a:solidFill>
                  <a:srgbClr val="2D394F"/>
                </a:solidFill>
              </a:rPr>
              <a:t>Evict block with oldest last_access timestamp</a:t>
            </a:r>
            <a:endParaRPr lang="en-US" sz="950" dirty="0"/>
          </a:p>
        </p:txBody>
      </p:sp>
      <p:sp>
        <p:nvSpPr>
          <p:cNvPr id="11" name="Shape 9"/>
          <p:cNvSpPr/>
          <p:nvPr/>
        </p:nvSpPr>
        <p:spPr>
          <a:xfrm>
            <a:off x="365760" y="1764792"/>
            <a:ext cx="228600" cy="228600"/>
          </a:xfrm>
          <a:prstGeom prst="rect">
            <a:avLst/>
          </a:prstGeom>
          <a:solidFill>
            <a:srgbClr val="F7ECDA"/>
          </a:solidFill>
          <a:ln/>
        </p:spPr>
        <p:txBody>
          <a:bodyPr/>
          <a:lstStyle/>
          <a:p>
            <a:endParaRPr/>
          </a:p>
        </p:txBody>
      </p:sp>
      <p:sp>
        <p:nvSpPr>
          <p:cNvPr id="12" name="Text 10"/>
          <p:cNvSpPr/>
          <p:nvPr/>
        </p:nvSpPr>
        <p:spPr>
          <a:xfrm>
            <a:off x="365760" y="1764792"/>
            <a:ext cx="228600" cy="228600"/>
          </a:xfrm>
          <a:prstGeom prst="rect">
            <a:avLst/>
          </a:prstGeom>
          <a:noFill/>
          <a:ln/>
        </p:spPr>
        <p:txBody>
          <a:bodyPr wrap="square" lIns="0" tIns="0" rIns="0" bIns="0" rtlCol="0" anchor="ctr"/>
          <a:lstStyle/>
          <a:p>
            <a:pPr marL="0" indent="0" algn="ctr">
              <a:buNone/>
            </a:pPr>
            <a:r>
              <a:rPr lang="en-US" sz="1100" b="1" dirty="0">
                <a:solidFill>
                  <a:srgbClr val="2D394F"/>
                </a:solidFill>
              </a:rPr>
              <a:t>✗</a:t>
            </a:r>
            <a:endParaRPr lang="en-US" sz="1100" dirty="0"/>
          </a:p>
        </p:txBody>
      </p:sp>
      <p:sp>
        <p:nvSpPr>
          <p:cNvPr id="13" name="Text 11"/>
          <p:cNvSpPr/>
          <p:nvPr/>
        </p:nvSpPr>
        <p:spPr>
          <a:xfrm>
            <a:off x="658368" y="1746504"/>
            <a:ext cx="3566160" cy="274320"/>
          </a:xfrm>
          <a:prstGeom prst="rect">
            <a:avLst/>
          </a:prstGeom>
          <a:noFill/>
          <a:ln/>
        </p:spPr>
        <p:txBody>
          <a:bodyPr wrap="square" lIns="0" tIns="0" rIns="0" bIns="0" rtlCol="0" anchor="ctr"/>
          <a:lstStyle/>
          <a:p>
            <a:pPr marL="0" indent="0">
              <a:buNone/>
            </a:pPr>
            <a:r>
              <a:rPr lang="en-US" sz="950" dirty="0">
                <a:solidFill>
                  <a:srgbClr val="2D394F"/>
                </a:solidFill>
              </a:rPr>
              <a:t>Assumes recency = importance</a:t>
            </a:r>
            <a:endParaRPr lang="en-US" sz="950" dirty="0"/>
          </a:p>
        </p:txBody>
      </p:sp>
      <p:sp>
        <p:nvSpPr>
          <p:cNvPr id="14" name="Shape 12"/>
          <p:cNvSpPr/>
          <p:nvPr/>
        </p:nvSpPr>
        <p:spPr>
          <a:xfrm>
            <a:off x="365760" y="2112264"/>
            <a:ext cx="228600" cy="228600"/>
          </a:xfrm>
          <a:prstGeom prst="rect">
            <a:avLst/>
          </a:prstGeom>
          <a:solidFill>
            <a:srgbClr val="F7ECDA"/>
          </a:solidFill>
          <a:ln/>
        </p:spPr>
        <p:txBody>
          <a:bodyPr/>
          <a:lstStyle/>
          <a:p>
            <a:endParaRPr/>
          </a:p>
        </p:txBody>
      </p:sp>
      <p:sp>
        <p:nvSpPr>
          <p:cNvPr id="15" name="Text 13"/>
          <p:cNvSpPr/>
          <p:nvPr/>
        </p:nvSpPr>
        <p:spPr>
          <a:xfrm>
            <a:off x="365760" y="2112264"/>
            <a:ext cx="228600" cy="228600"/>
          </a:xfrm>
          <a:prstGeom prst="rect">
            <a:avLst/>
          </a:prstGeom>
          <a:noFill/>
          <a:ln/>
        </p:spPr>
        <p:txBody>
          <a:bodyPr wrap="square" lIns="0" tIns="0" rIns="0" bIns="0" rtlCol="0" anchor="ctr"/>
          <a:lstStyle/>
          <a:p>
            <a:pPr marL="0" indent="0" algn="ctr">
              <a:buNone/>
            </a:pPr>
            <a:r>
              <a:rPr lang="en-US" sz="1100" b="1" dirty="0">
                <a:solidFill>
                  <a:srgbClr val="2D394F"/>
                </a:solidFill>
              </a:rPr>
              <a:t>✗</a:t>
            </a:r>
            <a:endParaRPr lang="en-US" sz="1100" dirty="0"/>
          </a:p>
        </p:txBody>
      </p:sp>
      <p:sp>
        <p:nvSpPr>
          <p:cNvPr id="16" name="Text 14"/>
          <p:cNvSpPr/>
          <p:nvPr/>
        </p:nvSpPr>
        <p:spPr>
          <a:xfrm>
            <a:off x="658368" y="2093976"/>
            <a:ext cx="3566160" cy="274320"/>
          </a:xfrm>
          <a:prstGeom prst="rect">
            <a:avLst/>
          </a:prstGeom>
          <a:noFill/>
          <a:ln/>
        </p:spPr>
        <p:txBody>
          <a:bodyPr wrap="square" lIns="0" tIns="0" rIns="0" bIns="0" rtlCol="0" anchor="ctr"/>
          <a:lstStyle/>
          <a:p>
            <a:pPr marL="0" indent="0">
              <a:buNone/>
            </a:pPr>
            <a:r>
              <a:rPr lang="en-US" sz="950" dirty="0">
                <a:solidFill>
                  <a:srgbClr val="2D394F"/>
                </a:solidFill>
              </a:rPr>
              <a:t>Fails for attention sinks (first tokens always attended)</a:t>
            </a:r>
            <a:endParaRPr lang="en-US" sz="950" dirty="0"/>
          </a:p>
        </p:txBody>
      </p:sp>
      <p:sp>
        <p:nvSpPr>
          <p:cNvPr id="17" name="Shape 15"/>
          <p:cNvSpPr/>
          <p:nvPr/>
        </p:nvSpPr>
        <p:spPr>
          <a:xfrm>
            <a:off x="365760" y="2459736"/>
            <a:ext cx="228600" cy="228600"/>
          </a:xfrm>
          <a:prstGeom prst="rect">
            <a:avLst/>
          </a:prstGeom>
          <a:solidFill>
            <a:srgbClr val="F7ECDA"/>
          </a:solidFill>
          <a:ln/>
        </p:spPr>
        <p:txBody>
          <a:bodyPr/>
          <a:lstStyle/>
          <a:p>
            <a:endParaRPr/>
          </a:p>
        </p:txBody>
      </p:sp>
      <p:sp>
        <p:nvSpPr>
          <p:cNvPr id="18" name="Text 16"/>
          <p:cNvSpPr/>
          <p:nvPr/>
        </p:nvSpPr>
        <p:spPr>
          <a:xfrm>
            <a:off x="365760" y="2459736"/>
            <a:ext cx="228600" cy="228600"/>
          </a:xfrm>
          <a:prstGeom prst="rect">
            <a:avLst/>
          </a:prstGeom>
          <a:noFill/>
          <a:ln/>
        </p:spPr>
        <p:txBody>
          <a:bodyPr wrap="square" lIns="0" tIns="0" rIns="0" bIns="0" rtlCol="0" anchor="ctr"/>
          <a:lstStyle/>
          <a:p>
            <a:pPr marL="0" indent="0" algn="ctr">
              <a:buNone/>
            </a:pPr>
            <a:r>
              <a:rPr lang="en-US" sz="1100" b="1" dirty="0">
                <a:solidFill>
                  <a:srgbClr val="2D394F"/>
                </a:solidFill>
              </a:rPr>
              <a:t>✗</a:t>
            </a:r>
            <a:endParaRPr lang="en-US" sz="1100" dirty="0"/>
          </a:p>
        </p:txBody>
      </p:sp>
      <p:sp>
        <p:nvSpPr>
          <p:cNvPr id="19" name="Text 17"/>
          <p:cNvSpPr/>
          <p:nvPr/>
        </p:nvSpPr>
        <p:spPr>
          <a:xfrm>
            <a:off x="658368" y="2441448"/>
            <a:ext cx="3566160" cy="274320"/>
          </a:xfrm>
          <a:prstGeom prst="rect">
            <a:avLst/>
          </a:prstGeom>
          <a:noFill/>
          <a:ln/>
        </p:spPr>
        <p:txBody>
          <a:bodyPr wrap="square" lIns="0" tIns="0" rIns="0" bIns="0" rtlCol="0" anchor="ctr"/>
          <a:lstStyle/>
          <a:p>
            <a:pPr marL="0" indent="0">
              <a:buNone/>
            </a:pPr>
            <a:r>
              <a:rPr lang="en-US" sz="950" dirty="0">
                <a:solidFill>
                  <a:srgbClr val="2D394F"/>
                </a:solidFill>
              </a:rPr>
              <a:t>Fails for long-range dependencies</a:t>
            </a:r>
            <a:endParaRPr lang="en-US" sz="950" dirty="0"/>
          </a:p>
        </p:txBody>
      </p:sp>
      <p:sp>
        <p:nvSpPr>
          <p:cNvPr id="20" name="Shape 18"/>
          <p:cNvSpPr/>
          <p:nvPr/>
        </p:nvSpPr>
        <p:spPr>
          <a:xfrm>
            <a:off x="365760" y="2807208"/>
            <a:ext cx="228600" cy="228600"/>
          </a:xfrm>
          <a:prstGeom prst="rect">
            <a:avLst/>
          </a:prstGeom>
          <a:solidFill>
            <a:srgbClr val="F7ECDA"/>
          </a:solidFill>
          <a:ln/>
        </p:spPr>
        <p:txBody>
          <a:bodyPr/>
          <a:lstStyle/>
          <a:p>
            <a:endParaRPr/>
          </a:p>
        </p:txBody>
      </p:sp>
      <p:sp>
        <p:nvSpPr>
          <p:cNvPr id="21" name="Text 19"/>
          <p:cNvSpPr/>
          <p:nvPr/>
        </p:nvSpPr>
        <p:spPr>
          <a:xfrm>
            <a:off x="365760" y="2807208"/>
            <a:ext cx="228600" cy="228600"/>
          </a:xfrm>
          <a:prstGeom prst="rect">
            <a:avLst/>
          </a:prstGeom>
          <a:noFill/>
          <a:ln/>
        </p:spPr>
        <p:txBody>
          <a:bodyPr wrap="square" lIns="0" tIns="0" rIns="0" bIns="0" rtlCol="0" anchor="ctr"/>
          <a:lstStyle/>
          <a:p>
            <a:pPr marL="0" indent="0" algn="ctr">
              <a:buNone/>
            </a:pPr>
            <a:r>
              <a:rPr lang="en-US" sz="1100" b="1" dirty="0">
                <a:solidFill>
                  <a:srgbClr val="2D394F"/>
                </a:solidFill>
              </a:rPr>
              <a:t>✗</a:t>
            </a:r>
            <a:endParaRPr lang="en-US" sz="1100" dirty="0"/>
          </a:p>
        </p:txBody>
      </p:sp>
      <p:sp>
        <p:nvSpPr>
          <p:cNvPr id="22" name="Text 20"/>
          <p:cNvSpPr/>
          <p:nvPr/>
        </p:nvSpPr>
        <p:spPr>
          <a:xfrm>
            <a:off x="658368" y="2788920"/>
            <a:ext cx="3566160" cy="274320"/>
          </a:xfrm>
          <a:prstGeom prst="rect">
            <a:avLst/>
          </a:prstGeom>
          <a:noFill/>
          <a:ln/>
        </p:spPr>
        <p:txBody>
          <a:bodyPr wrap="square" lIns="0" tIns="0" rIns="0" bIns="0" rtlCol="0" anchor="ctr"/>
          <a:lstStyle/>
          <a:p>
            <a:pPr marL="0" indent="0">
              <a:buNone/>
            </a:pPr>
            <a:r>
              <a:rPr lang="en-US" sz="950" dirty="0">
                <a:solidFill>
                  <a:srgbClr val="2D394F"/>
                </a:solidFill>
              </a:rPr>
              <a:t>1,200 wasted evictions (tokens needed soon after eviction)</a:t>
            </a:r>
            <a:endParaRPr lang="en-US" sz="950" dirty="0"/>
          </a:p>
        </p:txBody>
      </p:sp>
      <p:sp>
        <p:nvSpPr>
          <p:cNvPr id="23" name="Shape 21"/>
          <p:cNvSpPr/>
          <p:nvPr/>
        </p:nvSpPr>
        <p:spPr>
          <a:xfrm>
            <a:off x="365760" y="3154680"/>
            <a:ext cx="228600" cy="228600"/>
          </a:xfrm>
          <a:prstGeom prst="rect">
            <a:avLst/>
          </a:prstGeom>
          <a:solidFill>
            <a:srgbClr val="F7ECDA"/>
          </a:solidFill>
          <a:ln/>
        </p:spPr>
        <p:txBody>
          <a:bodyPr/>
          <a:lstStyle/>
          <a:p>
            <a:endParaRPr/>
          </a:p>
        </p:txBody>
      </p:sp>
      <p:sp>
        <p:nvSpPr>
          <p:cNvPr id="24" name="Text 22"/>
          <p:cNvSpPr/>
          <p:nvPr/>
        </p:nvSpPr>
        <p:spPr>
          <a:xfrm>
            <a:off x="365760" y="3154680"/>
            <a:ext cx="228600" cy="228600"/>
          </a:xfrm>
          <a:prstGeom prst="rect">
            <a:avLst/>
          </a:prstGeom>
          <a:noFill/>
          <a:ln/>
        </p:spPr>
        <p:txBody>
          <a:bodyPr wrap="square" lIns="0" tIns="0" rIns="0" bIns="0" rtlCol="0" anchor="ctr"/>
          <a:lstStyle/>
          <a:p>
            <a:pPr marL="0" indent="0" algn="ctr">
              <a:buNone/>
            </a:pPr>
            <a:r>
              <a:rPr lang="en-US" sz="1100" b="1" dirty="0">
                <a:solidFill>
                  <a:srgbClr val="2D394F"/>
                </a:solidFill>
              </a:rPr>
              <a:t>✗</a:t>
            </a:r>
            <a:endParaRPr lang="en-US" sz="1100" dirty="0"/>
          </a:p>
        </p:txBody>
      </p:sp>
      <p:sp>
        <p:nvSpPr>
          <p:cNvPr id="25" name="Text 23"/>
          <p:cNvSpPr/>
          <p:nvPr/>
        </p:nvSpPr>
        <p:spPr>
          <a:xfrm>
            <a:off x="658368" y="3136392"/>
            <a:ext cx="3566160" cy="274320"/>
          </a:xfrm>
          <a:prstGeom prst="rect">
            <a:avLst/>
          </a:prstGeom>
          <a:noFill/>
          <a:ln/>
        </p:spPr>
        <p:txBody>
          <a:bodyPr wrap="square" lIns="0" tIns="0" rIns="0" bIns="0" rtlCol="0" anchor="ctr"/>
          <a:lstStyle/>
          <a:p>
            <a:pPr marL="0" indent="0">
              <a:buNone/>
            </a:pPr>
            <a:r>
              <a:rPr lang="en-US" sz="950" dirty="0">
                <a:solidFill>
                  <a:srgbClr val="2D394F"/>
                </a:solidFill>
              </a:rPr>
              <a:t>1,999 MB promotion cost (re-fetching from DRAM)</a:t>
            </a:r>
            <a:endParaRPr lang="en-US" sz="950" dirty="0"/>
          </a:p>
        </p:txBody>
      </p:sp>
      <p:sp>
        <p:nvSpPr>
          <p:cNvPr id="26" name="Shape 24"/>
          <p:cNvSpPr/>
          <p:nvPr/>
        </p:nvSpPr>
        <p:spPr>
          <a:xfrm>
            <a:off x="4754880" y="914400"/>
            <a:ext cx="4114800" cy="3200400"/>
          </a:xfrm>
          <a:prstGeom prst="rect">
            <a:avLst/>
          </a:prstGeom>
          <a:solidFill>
            <a:srgbClr val="FFFFFF"/>
          </a:solidFill>
          <a:ln w="25400">
            <a:solidFill>
              <a:srgbClr val="2C8C84"/>
            </a:solidFill>
            <a:prstDash val="solid"/>
          </a:ln>
        </p:spPr>
        <p:txBody>
          <a:bodyPr/>
          <a:lstStyle/>
          <a:p>
            <a:endParaRPr/>
          </a:p>
        </p:txBody>
      </p:sp>
      <p:sp>
        <p:nvSpPr>
          <p:cNvPr id="27" name="Shape 25"/>
          <p:cNvSpPr/>
          <p:nvPr/>
        </p:nvSpPr>
        <p:spPr>
          <a:xfrm>
            <a:off x="4754880" y="914400"/>
            <a:ext cx="4114800" cy="411480"/>
          </a:xfrm>
          <a:prstGeom prst="rect">
            <a:avLst/>
          </a:prstGeom>
          <a:solidFill>
            <a:srgbClr val="E1F2EF"/>
          </a:solidFill>
          <a:ln/>
        </p:spPr>
        <p:txBody>
          <a:bodyPr/>
          <a:lstStyle/>
          <a:p>
            <a:endParaRPr/>
          </a:p>
        </p:txBody>
      </p:sp>
      <p:sp>
        <p:nvSpPr>
          <p:cNvPr id="28" name="Text 26"/>
          <p:cNvSpPr/>
          <p:nvPr/>
        </p:nvSpPr>
        <p:spPr>
          <a:xfrm>
            <a:off x="4754880" y="914400"/>
            <a:ext cx="4114800" cy="411480"/>
          </a:xfrm>
          <a:prstGeom prst="rect">
            <a:avLst/>
          </a:prstGeom>
          <a:noFill/>
          <a:ln/>
        </p:spPr>
        <p:txBody>
          <a:bodyPr wrap="square" lIns="0" tIns="0" rIns="0" bIns="0" rtlCol="0" anchor="ctr"/>
          <a:lstStyle/>
          <a:p>
            <a:pPr marL="0" indent="0" algn="ctr">
              <a:buNone/>
            </a:pPr>
            <a:r>
              <a:rPr lang="en-US" sz="1300" b="1" dirty="0">
                <a:solidFill>
                  <a:srgbClr val="2D394F"/>
                </a:solidFill>
              </a:rPr>
              <a:t>ASEP — Dynamic Policy (Ours)</a:t>
            </a:r>
            <a:endParaRPr lang="en-US" sz="1300" dirty="0"/>
          </a:p>
        </p:txBody>
      </p:sp>
      <p:sp>
        <p:nvSpPr>
          <p:cNvPr id="29" name="Shape 27"/>
          <p:cNvSpPr/>
          <p:nvPr/>
        </p:nvSpPr>
        <p:spPr>
          <a:xfrm>
            <a:off x="4846320" y="1417320"/>
            <a:ext cx="228600" cy="228600"/>
          </a:xfrm>
          <a:prstGeom prst="rect">
            <a:avLst/>
          </a:prstGeom>
          <a:solidFill>
            <a:srgbClr val="E1F2EF"/>
          </a:solidFill>
          <a:ln/>
        </p:spPr>
        <p:txBody>
          <a:bodyPr/>
          <a:lstStyle/>
          <a:p>
            <a:endParaRPr/>
          </a:p>
        </p:txBody>
      </p:sp>
      <p:sp>
        <p:nvSpPr>
          <p:cNvPr id="30" name="Text 28"/>
          <p:cNvSpPr/>
          <p:nvPr/>
        </p:nvSpPr>
        <p:spPr>
          <a:xfrm>
            <a:off x="4846320" y="1417320"/>
            <a:ext cx="228600" cy="228600"/>
          </a:xfrm>
          <a:prstGeom prst="rect">
            <a:avLst/>
          </a:prstGeom>
          <a:noFill/>
          <a:ln/>
        </p:spPr>
        <p:txBody>
          <a:bodyPr wrap="square" lIns="0" tIns="0" rIns="0" bIns="0" rtlCol="0" anchor="ctr"/>
          <a:lstStyle/>
          <a:p>
            <a:pPr marL="0" indent="0" algn="ctr">
              <a:buNone/>
            </a:pPr>
            <a:r>
              <a:rPr lang="en-US" sz="1100" b="1" dirty="0">
                <a:solidFill>
                  <a:srgbClr val="2D394F"/>
                </a:solidFill>
              </a:rPr>
              <a:t>✓</a:t>
            </a:r>
            <a:endParaRPr lang="en-US" sz="1100" dirty="0"/>
          </a:p>
        </p:txBody>
      </p:sp>
      <p:sp>
        <p:nvSpPr>
          <p:cNvPr id="31" name="Text 29"/>
          <p:cNvSpPr/>
          <p:nvPr/>
        </p:nvSpPr>
        <p:spPr>
          <a:xfrm>
            <a:off x="5138928" y="1399032"/>
            <a:ext cx="3566160" cy="274320"/>
          </a:xfrm>
          <a:prstGeom prst="rect">
            <a:avLst/>
          </a:prstGeom>
          <a:noFill/>
          <a:ln/>
        </p:spPr>
        <p:txBody>
          <a:bodyPr wrap="square" lIns="0" tIns="0" rIns="0" bIns="0" rtlCol="0" anchor="ctr"/>
          <a:lstStyle/>
          <a:p>
            <a:pPr marL="0" indent="0">
              <a:buNone/>
            </a:pPr>
            <a:r>
              <a:rPr lang="en-US" sz="950" dirty="0">
                <a:solidFill>
                  <a:srgbClr val="2D394F"/>
                </a:solidFill>
              </a:rPr>
              <a:t>Score each HBM block by attention importance:</a:t>
            </a:r>
            <a:endParaRPr lang="en-US" sz="950" dirty="0"/>
          </a:p>
        </p:txBody>
      </p:sp>
      <p:sp>
        <p:nvSpPr>
          <p:cNvPr id="32" name="Shape 30"/>
          <p:cNvSpPr/>
          <p:nvPr/>
        </p:nvSpPr>
        <p:spPr>
          <a:xfrm>
            <a:off x="4846320" y="1764792"/>
            <a:ext cx="228600" cy="228600"/>
          </a:xfrm>
          <a:prstGeom prst="rect">
            <a:avLst/>
          </a:prstGeom>
          <a:solidFill>
            <a:srgbClr val="E1F2EF"/>
          </a:solidFill>
          <a:ln/>
        </p:spPr>
        <p:txBody>
          <a:bodyPr/>
          <a:lstStyle/>
          <a:p>
            <a:endParaRPr/>
          </a:p>
        </p:txBody>
      </p:sp>
      <p:sp>
        <p:nvSpPr>
          <p:cNvPr id="33" name="Text 31"/>
          <p:cNvSpPr/>
          <p:nvPr/>
        </p:nvSpPr>
        <p:spPr>
          <a:xfrm>
            <a:off x="4846320" y="1764792"/>
            <a:ext cx="228600" cy="228600"/>
          </a:xfrm>
          <a:prstGeom prst="rect">
            <a:avLst/>
          </a:prstGeom>
          <a:noFill/>
          <a:ln/>
        </p:spPr>
        <p:txBody>
          <a:bodyPr wrap="square" lIns="0" tIns="0" rIns="0" bIns="0" rtlCol="0" anchor="ctr"/>
          <a:lstStyle/>
          <a:p>
            <a:pPr marL="0" indent="0" algn="ctr">
              <a:buNone/>
            </a:pPr>
            <a:r>
              <a:rPr lang="en-US" sz="1100" b="1" dirty="0">
                <a:solidFill>
                  <a:srgbClr val="2D394F"/>
                </a:solidFill>
              </a:rPr>
              <a:t>✓</a:t>
            </a:r>
            <a:endParaRPr lang="en-US" sz="1100" dirty="0"/>
          </a:p>
        </p:txBody>
      </p:sp>
      <p:sp>
        <p:nvSpPr>
          <p:cNvPr id="34" name="Text 32"/>
          <p:cNvSpPr/>
          <p:nvPr/>
        </p:nvSpPr>
        <p:spPr>
          <a:xfrm>
            <a:off x="5212080" y="1746504"/>
            <a:ext cx="3566160" cy="274320"/>
          </a:xfrm>
          <a:prstGeom prst="rect">
            <a:avLst/>
          </a:prstGeom>
          <a:noFill/>
          <a:ln/>
        </p:spPr>
        <p:txBody>
          <a:bodyPr wrap="square" lIns="0" tIns="0" rIns="0" bIns="0" rtlCol="0" anchor="ctr"/>
          <a:lstStyle/>
          <a:p>
            <a:pPr marL="0" indent="0">
              <a:buNone/>
            </a:pPr>
            <a:r>
              <a:rPr lang="en-US" sz="950" dirty="0">
                <a:solidFill>
                  <a:srgbClr val="2D394F"/>
                </a:solidFill>
              </a:rPr>
              <a:t>Recent tokens (last 20%): score = 3.0 (keep)</a:t>
            </a:r>
            <a:endParaRPr lang="en-US" sz="950" dirty="0"/>
          </a:p>
        </p:txBody>
      </p:sp>
      <p:sp>
        <p:nvSpPr>
          <p:cNvPr id="35" name="Shape 33"/>
          <p:cNvSpPr/>
          <p:nvPr/>
        </p:nvSpPr>
        <p:spPr>
          <a:xfrm>
            <a:off x="4846320" y="2112264"/>
            <a:ext cx="228600" cy="228600"/>
          </a:xfrm>
          <a:prstGeom prst="rect">
            <a:avLst/>
          </a:prstGeom>
          <a:solidFill>
            <a:srgbClr val="E1F2EF"/>
          </a:solidFill>
          <a:ln/>
        </p:spPr>
        <p:txBody>
          <a:bodyPr/>
          <a:lstStyle/>
          <a:p>
            <a:endParaRPr/>
          </a:p>
        </p:txBody>
      </p:sp>
      <p:sp>
        <p:nvSpPr>
          <p:cNvPr id="36" name="Text 34"/>
          <p:cNvSpPr/>
          <p:nvPr/>
        </p:nvSpPr>
        <p:spPr>
          <a:xfrm>
            <a:off x="4846320" y="2112264"/>
            <a:ext cx="228600" cy="228600"/>
          </a:xfrm>
          <a:prstGeom prst="rect">
            <a:avLst/>
          </a:prstGeom>
          <a:noFill/>
          <a:ln/>
        </p:spPr>
        <p:txBody>
          <a:bodyPr wrap="square" lIns="0" tIns="0" rIns="0" bIns="0" rtlCol="0" anchor="ctr"/>
          <a:lstStyle/>
          <a:p>
            <a:pPr marL="0" indent="0" algn="ctr">
              <a:buNone/>
            </a:pPr>
            <a:r>
              <a:rPr lang="en-US" sz="1100" b="1" dirty="0">
                <a:solidFill>
                  <a:srgbClr val="2D394F"/>
                </a:solidFill>
              </a:rPr>
              <a:t>✓</a:t>
            </a:r>
            <a:endParaRPr lang="en-US" sz="1100" dirty="0"/>
          </a:p>
        </p:txBody>
      </p:sp>
      <p:sp>
        <p:nvSpPr>
          <p:cNvPr id="37" name="Text 35"/>
          <p:cNvSpPr/>
          <p:nvPr/>
        </p:nvSpPr>
        <p:spPr>
          <a:xfrm>
            <a:off x="5212080" y="2093976"/>
            <a:ext cx="3566160" cy="274320"/>
          </a:xfrm>
          <a:prstGeom prst="rect">
            <a:avLst/>
          </a:prstGeom>
          <a:noFill/>
          <a:ln/>
        </p:spPr>
        <p:txBody>
          <a:bodyPr wrap="square" lIns="0" tIns="0" rIns="0" bIns="0" rtlCol="0" anchor="ctr"/>
          <a:lstStyle/>
          <a:p>
            <a:pPr marL="0" indent="0">
              <a:buNone/>
            </a:pPr>
            <a:r>
              <a:rPr lang="en-US" sz="950" dirty="0">
                <a:solidFill>
                  <a:srgbClr val="2D394F"/>
                </a:solidFill>
              </a:rPr>
              <a:t>Attention sinks (first 5%): score = 2.0 (keep)</a:t>
            </a:r>
            <a:endParaRPr lang="en-US" sz="950" dirty="0"/>
          </a:p>
        </p:txBody>
      </p:sp>
      <p:sp>
        <p:nvSpPr>
          <p:cNvPr id="38" name="Shape 36"/>
          <p:cNvSpPr/>
          <p:nvPr/>
        </p:nvSpPr>
        <p:spPr>
          <a:xfrm>
            <a:off x="4846320" y="2459736"/>
            <a:ext cx="228600" cy="228600"/>
          </a:xfrm>
          <a:prstGeom prst="rect">
            <a:avLst/>
          </a:prstGeom>
          <a:solidFill>
            <a:srgbClr val="E1F2EF"/>
          </a:solidFill>
          <a:ln/>
        </p:spPr>
        <p:txBody>
          <a:bodyPr/>
          <a:lstStyle/>
          <a:p>
            <a:endParaRPr/>
          </a:p>
        </p:txBody>
      </p:sp>
      <p:sp>
        <p:nvSpPr>
          <p:cNvPr id="39" name="Text 37"/>
          <p:cNvSpPr/>
          <p:nvPr/>
        </p:nvSpPr>
        <p:spPr>
          <a:xfrm>
            <a:off x="4846320" y="2459736"/>
            <a:ext cx="228600" cy="228600"/>
          </a:xfrm>
          <a:prstGeom prst="rect">
            <a:avLst/>
          </a:prstGeom>
          <a:noFill/>
          <a:ln/>
        </p:spPr>
        <p:txBody>
          <a:bodyPr wrap="square" lIns="0" tIns="0" rIns="0" bIns="0" rtlCol="0" anchor="ctr"/>
          <a:lstStyle/>
          <a:p>
            <a:pPr marL="0" indent="0" algn="ctr">
              <a:buNone/>
            </a:pPr>
            <a:r>
              <a:rPr lang="en-US" sz="1100" b="1" dirty="0">
                <a:solidFill>
                  <a:srgbClr val="2D394F"/>
                </a:solidFill>
              </a:rPr>
              <a:t>✓</a:t>
            </a:r>
            <a:endParaRPr lang="en-US" sz="1100" dirty="0"/>
          </a:p>
        </p:txBody>
      </p:sp>
      <p:sp>
        <p:nvSpPr>
          <p:cNvPr id="40" name="Text 38"/>
          <p:cNvSpPr/>
          <p:nvPr/>
        </p:nvSpPr>
        <p:spPr>
          <a:xfrm>
            <a:off x="5212080" y="2441448"/>
            <a:ext cx="3566160" cy="274320"/>
          </a:xfrm>
          <a:prstGeom prst="rect">
            <a:avLst/>
          </a:prstGeom>
          <a:noFill/>
          <a:ln/>
        </p:spPr>
        <p:txBody>
          <a:bodyPr wrap="square" lIns="0" tIns="0" rIns="0" bIns="0" rtlCol="0" anchor="ctr"/>
          <a:lstStyle/>
          <a:p>
            <a:pPr marL="0" indent="0">
              <a:buNone/>
            </a:pPr>
            <a:r>
              <a:rPr lang="en-US" sz="950" dirty="0">
                <a:solidFill>
                  <a:srgbClr val="2D394F"/>
                </a:solidFill>
              </a:rPr>
              <a:t>Middle tokens: score = 0.5 (eviction candidates)</a:t>
            </a:r>
            <a:endParaRPr lang="en-US" sz="950" dirty="0"/>
          </a:p>
        </p:txBody>
      </p:sp>
      <p:sp>
        <p:nvSpPr>
          <p:cNvPr id="41" name="Shape 39"/>
          <p:cNvSpPr/>
          <p:nvPr/>
        </p:nvSpPr>
        <p:spPr>
          <a:xfrm>
            <a:off x="4846320" y="2807208"/>
            <a:ext cx="228600" cy="228600"/>
          </a:xfrm>
          <a:prstGeom prst="rect">
            <a:avLst/>
          </a:prstGeom>
          <a:solidFill>
            <a:srgbClr val="E1F2EF"/>
          </a:solidFill>
          <a:ln/>
        </p:spPr>
        <p:txBody>
          <a:bodyPr/>
          <a:lstStyle/>
          <a:p>
            <a:endParaRPr/>
          </a:p>
        </p:txBody>
      </p:sp>
      <p:sp>
        <p:nvSpPr>
          <p:cNvPr id="42" name="Text 40"/>
          <p:cNvSpPr/>
          <p:nvPr/>
        </p:nvSpPr>
        <p:spPr>
          <a:xfrm>
            <a:off x="4846320" y="2807208"/>
            <a:ext cx="228600" cy="228600"/>
          </a:xfrm>
          <a:prstGeom prst="rect">
            <a:avLst/>
          </a:prstGeom>
          <a:noFill/>
          <a:ln/>
        </p:spPr>
        <p:txBody>
          <a:bodyPr wrap="square" lIns="0" tIns="0" rIns="0" bIns="0" rtlCol="0" anchor="ctr"/>
          <a:lstStyle/>
          <a:p>
            <a:pPr marL="0" indent="0" algn="ctr">
              <a:buNone/>
            </a:pPr>
            <a:r>
              <a:rPr lang="en-US" sz="1100" b="1" dirty="0">
                <a:solidFill>
                  <a:srgbClr val="2D394F"/>
                </a:solidFill>
              </a:rPr>
              <a:t>✓</a:t>
            </a:r>
            <a:endParaRPr lang="en-US" sz="1100" dirty="0"/>
          </a:p>
        </p:txBody>
      </p:sp>
      <p:sp>
        <p:nvSpPr>
          <p:cNvPr id="43" name="Text 41"/>
          <p:cNvSpPr/>
          <p:nvPr/>
        </p:nvSpPr>
        <p:spPr>
          <a:xfrm>
            <a:off x="5138928" y="2788920"/>
            <a:ext cx="3566160" cy="274320"/>
          </a:xfrm>
          <a:prstGeom prst="rect">
            <a:avLst/>
          </a:prstGeom>
          <a:noFill/>
          <a:ln/>
        </p:spPr>
        <p:txBody>
          <a:bodyPr wrap="square" lIns="0" tIns="0" rIns="0" bIns="0" rtlCol="0" anchor="ctr"/>
          <a:lstStyle/>
          <a:p>
            <a:pPr marL="0" indent="0">
              <a:buNone/>
            </a:pPr>
            <a:r>
              <a:rPr lang="en-US" sz="950" dirty="0">
                <a:solidFill>
                  <a:srgbClr val="2D394F"/>
                </a:solidFill>
              </a:rPr>
              <a:t>Evict lowest score first — importance, not age</a:t>
            </a:r>
            <a:endParaRPr lang="en-US" sz="950" dirty="0"/>
          </a:p>
        </p:txBody>
      </p:sp>
      <p:sp>
        <p:nvSpPr>
          <p:cNvPr id="44" name="Shape 42"/>
          <p:cNvSpPr/>
          <p:nvPr/>
        </p:nvSpPr>
        <p:spPr>
          <a:xfrm>
            <a:off x="4846320" y="3154680"/>
            <a:ext cx="228600" cy="228600"/>
          </a:xfrm>
          <a:prstGeom prst="rect">
            <a:avLst/>
          </a:prstGeom>
          <a:solidFill>
            <a:srgbClr val="E1F2EF"/>
          </a:solidFill>
          <a:ln/>
        </p:spPr>
        <p:txBody>
          <a:bodyPr/>
          <a:lstStyle/>
          <a:p>
            <a:endParaRPr/>
          </a:p>
        </p:txBody>
      </p:sp>
      <p:sp>
        <p:nvSpPr>
          <p:cNvPr id="45" name="Text 43"/>
          <p:cNvSpPr/>
          <p:nvPr/>
        </p:nvSpPr>
        <p:spPr>
          <a:xfrm>
            <a:off x="4846320" y="3154680"/>
            <a:ext cx="228600" cy="228600"/>
          </a:xfrm>
          <a:prstGeom prst="rect">
            <a:avLst/>
          </a:prstGeom>
          <a:noFill/>
          <a:ln/>
        </p:spPr>
        <p:txBody>
          <a:bodyPr wrap="square" lIns="0" tIns="0" rIns="0" bIns="0" rtlCol="0" anchor="ctr"/>
          <a:lstStyle/>
          <a:p>
            <a:pPr marL="0" indent="0" algn="ctr">
              <a:buNone/>
            </a:pPr>
            <a:r>
              <a:rPr lang="en-US" sz="1100" b="1" dirty="0">
                <a:solidFill>
                  <a:srgbClr val="2D394F"/>
                </a:solidFill>
              </a:rPr>
              <a:t>✓</a:t>
            </a:r>
            <a:endParaRPr lang="en-US" sz="1100" dirty="0"/>
          </a:p>
        </p:txBody>
      </p:sp>
      <p:sp>
        <p:nvSpPr>
          <p:cNvPr id="46" name="Text 44"/>
          <p:cNvSpPr/>
          <p:nvPr/>
        </p:nvSpPr>
        <p:spPr>
          <a:xfrm>
            <a:off x="5138928" y="3136392"/>
            <a:ext cx="3566160" cy="274320"/>
          </a:xfrm>
          <a:prstGeom prst="rect">
            <a:avLst/>
          </a:prstGeom>
          <a:noFill/>
          <a:ln/>
        </p:spPr>
        <p:txBody>
          <a:bodyPr wrap="square" lIns="0" tIns="0" rIns="0" bIns="0" rtlCol="0" anchor="ctr"/>
          <a:lstStyle/>
          <a:p>
            <a:pPr marL="0" indent="0">
              <a:buNone/>
            </a:pPr>
            <a:r>
              <a:rPr lang="en-US" sz="950" dirty="0">
                <a:solidFill>
                  <a:srgbClr val="2D394F"/>
                </a:solidFill>
              </a:rPr>
              <a:t>720 wasted evictions (↓ 40%) · 858 MB promotion (↓ 57%)</a:t>
            </a:r>
            <a:endParaRPr lang="en-US" sz="950" dirty="0"/>
          </a:p>
        </p:txBody>
      </p:sp>
      <p:sp>
        <p:nvSpPr>
          <p:cNvPr id="47" name="Shape 45"/>
          <p:cNvSpPr/>
          <p:nvPr/>
        </p:nvSpPr>
        <p:spPr>
          <a:xfrm>
            <a:off x="4224528" y="2057400"/>
            <a:ext cx="685800" cy="685800"/>
          </a:xfrm>
          <a:prstGeom prst="ellipse">
            <a:avLst/>
          </a:prstGeom>
          <a:solidFill>
            <a:srgbClr val="F7ECDA"/>
          </a:solidFill>
          <a:ln/>
        </p:spPr>
        <p:txBody>
          <a:bodyPr/>
          <a:lstStyle/>
          <a:p>
            <a:endParaRPr/>
          </a:p>
        </p:txBody>
      </p:sp>
      <p:sp>
        <p:nvSpPr>
          <p:cNvPr id="48" name="Text 46"/>
          <p:cNvSpPr/>
          <p:nvPr/>
        </p:nvSpPr>
        <p:spPr>
          <a:xfrm>
            <a:off x="4224528" y="2057400"/>
            <a:ext cx="685800" cy="685800"/>
          </a:xfrm>
          <a:prstGeom prst="rect">
            <a:avLst/>
          </a:prstGeom>
          <a:noFill/>
          <a:ln/>
        </p:spPr>
        <p:txBody>
          <a:bodyPr wrap="square" lIns="0" tIns="0" rIns="0" bIns="0" rtlCol="0" anchor="ctr"/>
          <a:lstStyle/>
          <a:p>
            <a:pPr marL="0" indent="0" algn="ctr">
              <a:buNone/>
            </a:pPr>
            <a:r>
              <a:rPr lang="en-US" sz="1300" b="1" dirty="0">
                <a:solidFill>
                  <a:srgbClr val="2D394F"/>
                </a:solidFill>
              </a:rPr>
              <a:t>VS</a:t>
            </a:r>
            <a:endParaRPr lang="en-US" sz="1300" dirty="0"/>
          </a:p>
        </p:txBody>
      </p:sp>
      <p:sp>
        <p:nvSpPr>
          <p:cNvPr id="49" name="Shape 47"/>
          <p:cNvSpPr/>
          <p:nvPr/>
        </p:nvSpPr>
        <p:spPr>
          <a:xfrm>
            <a:off x="274320" y="4279392"/>
            <a:ext cx="8595360" cy="594360"/>
          </a:xfrm>
          <a:prstGeom prst="rect">
            <a:avLst/>
          </a:prstGeom>
          <a:solidFill>
            <a:srgbClr val="F7F1E8"/>
          </a:solidFill>
          <a:ln w="19050">
            <a:solidFill>
              <a:srgbClr val="8A7AC8"/>
            </a:solidFill>
            <a:prstDash val="solid"/>
          </a:ln>
        </p:spPr>
        <p:txBody>
          <a:bodyPr/>
          <a:lstStyle/>
          <a:p>
            <a:endParaRPr/>
          </a:p>
        </p:txBody>
      </p:sp>
      <p:sp>
        <p:nvSpPr>
          <p:cNvPr id="50" name="Text 48"/>
          <p:cNvSpPr/>
          <p:nvPr/>
        </p:nvSpPr>
        <p:spPr>
          <a:xfrm>
            <a:off x="475488" y="4403624"/>
            <a:ext cx="8229600" cy="457200"/>
          </a:xfrm>
          <a:prstGeom prst="rect">
            <a:avLst/>
          </a:prstGeom>
          <a:noFill/>
          <a:ln/>
        </p:spPr>
        <p:txBody>
          <a:bodyPr wrap="square" lIns="0" tIns="0" rIns="0" bIns="0" rtlCol="0" anchor="ctr"/>
          <a:lstStyle/>
          <a:p>
            <a:pPr marL="0" indent="0">
              <a:buNone/>
            </a:pPr>
            <a:r>
              <a:rPr lang="en-US" sz="1050" b="1" i="1" dirty="0">
                <a:solidFill>
                  <a:srgbClr val="2D394F"/>
                </a:solidFill>
              </a:rPr>
              <a:t>KEY INSIGHT: LRU evicts by age — ASEP challenges this assumption using attention score distributions from real transformer behavior.</a:t>
            </a:r>
          </a:p>
          <a:p>
            <a:r>
              <a:rPr lang="en-US" sz="1050" b="1" i="1" dirty="0"/>
              <a:t>CORE CONTRIBUTION</a:t>
            </a:r>
            <a:r>
              <a:rPr lang="en-US" sz="1050" i="1" dirty="0"/>
              <a:t> </a:t>
            </a:r>
            <a:r>
              <a:rPr lang="en-US" sz="1050" b="1" i="1" dirty="0"/>
              <a:t>ASEP challenges the standard assumption that recency equals importance in KV-cache eviction. </a:t>
            </a:r>
            <a:endParaRPr lang="en-US" sz="1050" b="1" i="1" dirty="0">
              <a:solidFill>
                <a:srgbClr val="2D394F"/>
              </a:solidFill>
            </a:endParaRPr>
          </a:p>
          <a:p>
            <a:pPr marL="0" indent="0">
              <a:buNone/>
            </a:pP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C8C84"/>
          </a:solidFill>
          <a:ln/>
        </p:spPr>
        <p:txBody>
          <a:bodyPr/>
          <a:lstStyle/>
          <a:p>
            <a:endParaRPr/>
          </a:p>
        </p:txBody>
      </p:sp>
      <p:sp>
        <p:nvSpPr>
          <p:cNvPr id="3" name="Text 1"/>
          <p:cNvSpPr/>
          <p:nvPr/>
        </p:nvSpPr>
        <p:spPr>
          <a:xfrm>
            <a:off x="320040" y="164592"/>
            <a:ext cx="8503920" cy="411480"/>
          </a:xfrm>
          <a:prstGeom prst="rect">
            <a:avLst/>
          </a:prstGeom>
          <a:noFill/>
          <a:ln/>
        </p:spPr>
        <p:txBody>
          <a:bodyPr wrap="square" rtlCol="0" anchor="ctr"/>
          <a:lstStyle/>
          <a:p>
            <a:pPr marL="0" indent="0">
              <a:buNone/>
            </a:pPr>
            <a:r>
              <a:rPr lang="en-US" sz="1800" b="1" kern="0" spc="200" dirty="0">
                <a:solidFill>
                  <a:srgbClr val="2C8C84"/>
                </a:solidFill>
              </a:rPr>
              <a:t>ASEP — CONTROLLED POLICY EXPERIMENT RESULTS</a:t>
            </a:r>
            <a:endParaRPr lang="en-US" sz="1800" dirty="0"/>
          </a:p>
        </p:txBody>
      </p:sp>
      <p:sp>
        <p:nvSpPr>
          <p:cNvPr id="4" name="Text 2"/>
          <p:cNvSpPr/>
          <p:nvPr/>
        </p:nvSpPr>
        <p:spPr>
          <a:xfrm>
            <a:off x="320040" y="548640"/>
            <a:ext cx="8503920" cy="256032"/>
          </a:xfrm>
          <a:prstGeom prst="rect">
            <a:avLst/>
          </a:prstGeom>
          <a:noFill/>
          <a:ln/>
        </p:spPr>
        <p:txBody>
          <a:bodyPr wrap="square" rtlCol="0" anchor="ctr"/>
          <a:lstStyle/>
          <a:p>
            <a:pPr marL="0" indent="0">
              <a:buNone/>
            </a:pPr>
            <a:r>
              <a:rPr lang="en-US" sz="1000" dirty="0">
                <a:solidFill>
                  <a:srgbClr val="636F86"/>
                </a:solidFill>
              </a:rPr>
              <a:t>06 — Same inputs, same eviction count, different choices — 1000-token conversation trace</a:t>
            </a:r>
            <a:endParaRPr lang="en-US" sz="1000" dirty="0"/>
          </a:p>
        </p:txBody>
      </p:sp>
      <p:pic>
        <p:nvPicPr>
          <p:cNvPr id="5" name="Image 0" descr="preencoded.png"/>
          <p:cNvPicPr>
            <a:picLocks noChangeAspect="1"/>
          </p:cNvPicPr>
          <p:nvPr/>
        </p:nvPicPr>
        <p:blipFill>
          <a:blip r:embed="rId3"/>
          <a:stretch>
            <a:fillRect/>
          </a:stretch>
        </p:blipFill>
        <p:spPr>
          <a:xfrm>
            <a:off x="228600" y="804672"/>
            <a:ext cx="5852160" cy="2926080"/>
          </a:xfrm>
          <a:prstGeom prst="rect">
            <a:avLst/>
          </a:prstGeom>
          <a:ln/>
        </p:spPr>
      </p:pic>
      <p:sp>
        <p:nvSpPr>
          <p:cNvPr id="6" name="Shape 3"/>
          <p:cNvSpPr/>
          <p:nvPr/>
        </p:nvSpPr>
        <p:spPr>
          <a:xfrm>
            <a:off x="6263640" y="804672"/>
            <a:ext cx="2606040" cy="2926080"/>
          </a:xfrm>
          <a:prstGeom prst="rect">
            <a:avLst/>
          </a:prstGeom>
          <a:solidFill>
            <a:srgbClr val="FFFFFF"/>
          </a:solidFill>
          <a:ln w="19050">
            <a:solidFill>
              <a:srgbClr val="2C8C84"/>
            </a:solidFill>
            <a:prstDash val="solid"/>
          </a:ln>
        </p:spPr>
        <p:txBody>
          <a:bodyPr/>
          <a:lstStyle/>
          <a:p>
            <a:endParaRPr/>
          </a:p>
        </p:txBody>
      </p:sp>
      <p:sp>
        <p:nvSpPr>
          <p:cNvPr id="7" name="Text 4"/>
          <p:cNvSpPr/>
          <p:nvPr/>
        </p:nvSpPr>
        <p:spPr>
          <a:xfrm>
            <a:off x="6355080" y="868680"/>
            <a:ext cx="2423160" cy="274320"/>
          </a:xfrm>
          <a:prstGeom prst="rect">
            <a:avLst/>
          </a:prstGeom>
          <a:noFill/>
          <a:ln/>
        </p:spPr>
        <p:txBody>
          <a:bodyPr wrap="square" lIns="0" tIns="0" rIns="0" bIns="0" rtlCol="0" anchor="ctr"/>
          <a:lstStyle/>
          <a:p>
            <a:pPr marL="0" indent="0">
              <a:buNone/>
            </a:pPr>
            <a:r>
              <a:rPr lang="en-US" sz="1000" b="1" dirty="0">
                <a:solidFill>
                  <a:srgbClr val="2C8C84"/>
                </a:solidFill>
              </a:rPr>
              <a:t>RESULTS SUMMARY</a:t>
            </a:r>
            <a:endParaRPr lang="en-US" sz="1000" dirty="0"/>
          </a:p>
        </p:txBody>
      </p:sp>
      <p:sp>
        <p:nvSpPr>
          <p:cNvPr id="8" name="Text 5"/>
          <p:cNvSpPr/>
          <p:nvPr/>
        </p:nvSpPr>
        <p:spPr>
          <a:xfrm>
            <a:off x="6355080" y="1207008"/>
            <a:ext cx="914400" cy="228600"/>
          </a:xfrm>
          <a:prstGeom prst="rect">
            <a:avLst/>
          </a:prstGeom>
          <a:noFill/>
          <a:ln/>
        </p:spPr>
        <p:txBody>
          <a:bodyPr wrap="square" lIns="0" tIns="0" rIns="0" bIns="0" rtlCol="0" anchor="ctr"/>
          <a:lstStyle/>
          <a:p>
            <a:pPr marL="0" indent="0">
              <a:buNone/>
            </a:pPr>
            <a:r>
              <a:rPr lang="en-US" sz="800" b="1" dirty="0">
                <a:solidFill>
                  <a:srgbClr val="636F86"/>
                </a:solidFill>
              </a:rPr>
              <a:t>Metric</a:t>
            </a:r>
            <a:endParaRPr lang="en-US" sz="800" dirty="0"/>
          </a:p>
        </p:txBody>
      </p:sp>
      <p:sp>
        <p:nvSpPr>
          <p:cNvPr id="9" name="Text 6"/>
          <p:cNvSpPr/>
          <p:nvPr/>
        </p:nvSpPr>
        <p:spPr>
          <a:xfrm>
            <a:off x="7269480" y="1207008"/>
            <a:ext cx="548640" cy="228600"/>
          </a:xfrm>
          <a:prstGeom prst="rect">
            <a:avLst/>
          </a:prstGeom>
          <a:noFill/>
          <a:ln/>
        </p:spPr>
        <p:txBody>
          <a:bodyPr wrap="square" lIns="0" tIns="0" rIns="0" bIns="0" rtlCol="0" anchor="ctr"/>
          <a:lstStyle/>
          <a:p>
            <a:pPr marL="0" indent="0">
              <a:buNone/>
            </a:pPr>
            <a:r>
              <a:rPr lang="en-US" sz="800" b="1" dirty="0">
                <a:solidFill>
                  <a:srgbClr val="D4A256"/>
                </a:solidFill>
              </a:rPr>
              <a:t>LRU</a:t>
            </a:r>
            <a:endParaRPr lang="en-US" sz="800" dirty="0"/>
          </a:p>
        </p:txBody>
      </p:sp>
      <p:sp>
        <p:nvSpPr>
          <p:cNvPr id="10" name="Text 7"/>
          <p:cNvSpPr/>
          <p:nvPr/>
        </p:nvSpPr>
        <p:spPr>
          <a:xfrm>
            <a:off x="7818120" y="1207008"/>
            <a:ext cx="548640" cy="228600"/>
          </a:xfrm>
          <a:prstGeom prst="rect">
            <a:avLst/>
          </a:prstGeom>
          <a:noFill/>
          <a:ln/>
        </p:spPr>
        <p:txBody>
          <a:bodyPr wrap="square" lIns="0" tIns="0" rIns="0" bIns="0" rtlCol="0" anchor="ctr"/>
          <a:lstStyle/>
          <a:p>
            <a:pPr marL="0" indent="0">
              <a:buNone/>
            </a:pPr>
            <a:r>
              <a:rPr lang="en-US" sz="800" b="1" dirty="0">
                <a:solidFill>
                  <a:srgbClr val="2C8C84"/>
                </a:solidFill>
              </a:rPr>
              <a:t>ASEP</a:t>
            </a:r>
            <a:endParaRPr lang="en-US" sz="800" dirty="0"/>
          </a:p>
        </p:txBody>
      </p:sp>
      <p:sp>
        <p:nvSpPr>
          <p:cNvPr id="11" name="Shape 8"/>
          <p:cNvSpPr/>
          <p:nvPr/>
        </p:nvSpPr>
        <p:spPr>
          <a:xfrm>
            <a:off x="6355080" y="1435608"/>
            <a:ext cx="2423160" cy="0"/>
          </a:xfrm>
          <a:prstGeom prst="line">
            <a:avLst/>
          </a:prstGeom>
          <a:noFill/>
          <a:ln w="6350">
            <a:solidFill>
              <a:srgbClr val="B8BFD1"/>
            </a:solidFill>
            <a:prstDash val="solid"/>
          </a:ln>
        </p:spPr>
        <p:txBody>
          <a:bodyPr/>
          <a:lstStyle/>
          <a:p>
            <a:endParaRPr/>
          </a:p>
        </p:txBody>
      </p:sp>
      <p:sp>
        <p:nvSpPr>
          <p:cNvPr id="12" name="Text 9"/>
          <p:cNvSpPr/>
          <p:nvPr/>
        </p:nvSpPr>
        <p:spPr>
          <a:xfrm>
            <a:off x="6355080" y="1490472"/>
            <a:ext cx="914400" cy="274320"/>
          </a:xfrm>
          <a:prstGeom prst="rect">
            <a:avLst/>
          </a:prstGeom>
          <a:noFill/>
          <a:ln/>
        </p:spPr>
        <p:txBody>
          <a:bodyPr wrap="square" lIns="0" tIns="0" rIns="0" bIns="0" rtlCol="0" anchor="ctr"/>
          <a:lstStyle/>
          <a:p>
            <a:pPr marL="0" indent="0">
              <a:buNone/>
            </a:pPr>
            <a:r>
              <a:rPr lang="en-US" sz="800" dirty="0">
                <a:solidFill>
                  <a:srgbClr val="2D394F"/>
                </a:solidFill>
              </a:rPr>
              <a:t>Total Evictions</a:t>
            </a:r>
            <a:endParaRPr lang="en-US" sz="800" dirty="0"/>
          </a:p>
        </p:txBody>
      </p:sp>
      <p:sp>
        <p:nvSpPr>
          <p:cNvPr id="13" name="Text 10"/>
          <p:cNvSpPr/>
          <p:nvPr/>
        </p:nvSpPr>
        <p:spPr>
          <a:xfrm>
            <a:off x="7269480" y="1490472"/>
            <a:ext cx="548640" cy="274320"/>
          </a:xfrm>
          <a:prstGeom prst="rect">
            <a:avLst/>
          </a:prstGeom>
          <a:noFill/>
          <a:ln/>
        </p:spPr>
        <p:txBody>
          <a:bodyPr wrap="square" lIns="0" tIns="0" rIns="0" bIns="0" rtlCol="0" anchor="ctr"/>
          <a:lstStyle/>
          <a:p>
            <a:pPr marL="0" indent="0">
              <a:buNone/>
            </a:pPr>
            <a:r>
              <a:rPr lang="en-US" sz="800" dirty="0">
                <a:solidFill>
                  <a:srgbClr val="D4A256"/>
                </a:solidFill>
              </a:rPr>
              <a:t>14,170</a:t>
            </a:r>
            <a:endParaRPr lang="en-US" sz="800" dirty="0"/>
          </a:p>
        </p:txBody>
      </p:sp>
      <p:sp>
        <p:nvSpPr>
          <p:cNvPr id="14" name="Text 11"/>
          <p:cNvSpPr/>
          <p:nvPr/>
        </p:nvSpPr>
        <p:spPr>
          <a:xfrm>
            <a:off x="7818120" y="1490472"/>
            <a:ext cx="640080" cy="274320"/>
          </a:xfrm>
          <a:prstGeom prst="rect">
            <a:avLst/>
          </a:prstGeom>
          <a:noFill/>
          <a:ln/>
        </p:spPr>
        <p:txBody>
          <a:bodyPr wrap="square" lIns="0" tIns="0" rIns="0" bIns="0" rtlCol="0" anchor="ctr"/>
          <a:lstStyle/>
          <a:p>
            <a:pPr marL="0" indent="0">
              <a:buNone/>
            </a:pPr>
            <a:r>
              <a:rPr lang="en-US" sz="800" dirty="0">
                <a:solidFill>
                  <a:srgbClr val="2C8C84"/>
                </a:solidFill>
              </a:rPr>
              <a:t>14,170</a:t>
            </a:r>
            <a:endParaRPr lang="en-US" sz="800" dirty="0"/>
          </a:p>
        </p:txBody>
      </p:sp>
      <p:sp>
        <p:nvSpPr>
          <p:cNvPr id="15" name="Shape 12"/>
          <p:cNvSpPr/>
          <p:nvPr/>
        </p:nvSpPr>
        <p:spPr>
          <a:xfrm>
            <a:off x="6263640" y="1828800"/>
            <a:ext cx="2606040" cy="374904"/>
          </a:xfrm>
          <a:prstGeom prst="rect">
            <a:avLst/>
          </a:prstGeom>
          <a:solidFill>
            <a:srgbClr val="F7F1E8"/>
          </a:solidFill>
          <a:ln/>
        </p:spPr>
        <p:txBody>
          <a:bodyPr/>
          <a:lstStyle/>
          <a:p>
            <a:endParaRPr/>
          </a:p>
        </p:txBody>
      </p:sp>
      <p:sp>
        <p:nvSpPr>
          <p:cNvPr id="16" name="Text 13"/>
          <p:cNvSpPr/>
          <p:nvPr/>
        </p:nvSpPr>
        <p:spPr>
          <a:xfrm>
            <a:off x="6355080" y="1865376"/>
            <a:ext cx="914400" cy="274320"/>
          </a:xfrm>
          <a:prstGeom prst="rect">
            <a:avLst/>
          </a:prstGeom>
          <a:noFill/>
          <a:ln/>
        </p:spPr>
        <p:txBody>
          <a:bodyPr wrap="square" lIns="0" tIns="0" rIns="0" bIns="0" rtlCol="0" anchor="ctr"/>
          <a:lstStyle/>
          <a:p>
            <a:pPr marL="0" indent="0">
              <a:buNone/>
            </a:pPr>
            <a:r>
              <a:rPr lang="en-US" sz="800" dirty="0">
                <a:solidFill>
                  <a:srgbClr val="2D394F"/>
                </a:solidFill>
              </a:rPr>
              <a:t>Wasted Evictions</a:t>
            </a:r>
            <a:endParaRPr lang="en-US" sz="800" dirty="0"/>
          </a:p>
        </p:txBody>
      </p:sp>
      <p:sp>
        <p:nvSpPr>
          <p:cNvPr id="17" name="Text 14"/>
          <p:cNvSpPr/>
          <p:nvPr/>
        </p:nvSpPr>
        <p:spPr>
          <a:xfrm>
            <a:off x="7269480" y="1865376"/>
            <a:ext cx="548640" cy="274320"/>
          </a:xfrm>
          <a:prstGeom prst="rect">
            <a:avLst/>
          </a:prstGeom>
          <a:noFill/>
          <a:ln/>
        </p:spPr>
        <p:txBody>
          <a:bodyPr wrap="square" lIns="0" tIns="0" rIns="0" bIns="0" rtlCol="0" anchor="ctr"/>
          <a:lstStyle/>
          <a:p>
            <a:pPr marL="0" indent="0">
              <a:buNone/>
            </a:pPr>
            <a:r>
              <a:rPr lang="en-US" sz="800" dirty="0">
                <a:solidFill>
                  <a:srgbClr val="D4A256"/>
                </a:solidFill>
              </a:rPr>
              <a:t>1,200</a:t>
            </a:r>
            <a:endParaRPr lang="en-US" sz="800" dirty="0"/>
          </a:p>
        </p:txBody>
      </p:sp>
      <p:sp>
        <p:nvSpPr>
          <p:cNvPr id="18" name="Text 15"/>
          <p:cNvSpPr/>
          <p:nvPr/>
        </p:nvSpPr>
        <p:spPr>
          <a:xfrm>
            <a:off x="7818120" y="1865376"/>
            <a:ext cx="640080" cy="274320"/>
          </a:xfrm>
          <a:prstGeom prst="rect">
            <a:avLst/>
          </a:prstGeom>
          <a:noFill/>
          <a:ln/>
        </p:spPr>
        <p:txBody>
          <a:bodyPr wrap="square" lIns="0" tIns="0" rIns="0" bIns="0" rtlCol="0" anchor="ctr"/>
          <a:lstStyle/>
          <a:p>
            <a:pPr marL="0" indent="0">
              <a:buNone/>
            </a:pPr>
            <a:r>
              <a:rPr lang="en-US" sz="800" dirty="0">
                <a:solidFill>
                  <a:srgbClr val="2C8C84"/>
                </a:solidFill>
              </a:rPr>
              <a:t>720</a:t>
            </a:r>
            <a:endParaRPr lang="en-US" sz="800" dirty="0"/>
          </a:p>
        </p:txBody>
      </p:sp>
      <p:sp>
        <p:nvSpPr>
          <p:cNvPr id="19" name="Text 16"/>
          <p:cNvSpPr/>
          <p:nvPr/>
        </p:nvSpPr>
        <p:spPr>
          <a:xfrm>
            <a:off x="6355080" y="2240280"/>
            <a:ext cx="914400" cy="274320"/>
          </a:xfrm>
          <a:prstGeom prst="rect">
            <a:avLst/>
          </a:prstGeom>
          <a:noFill/>
          <a:ln/>
        </p:spPr>
        <p:txBody>
          <a:bodyPr wrap="square" lIns="0" tIns="0" rIns="0" bIns="0" rtlCol="0" anchor="ctr"/>
          <a:lstStyle/>
          <a:p>
            <a:pPr marL="0" indent="0">
              <a:buNone/>
            </a:pPr>
            <a:r>
              <a:rPr lang="en-US" sz="800" dirty="0">
                <a:solidFill>
                  <a:srgbClr val="2D394F"/>
                </a:solidFill>
              </a:rPr>
              <a:t>Promotion Cost</a:t>
            </a:r>
            <a:endParaRPr lang="en-US" sz="800" dirty="0"/>
          </a:p>
        </p:txBody>
      </p:sp>
      <p:sp>
        <p:nvSpPr>
          <p:cNvPr id="20" name="Text 17"/>
          <p:cNvSpPr/>
          <p:nvPr/>
        </p:nvSpPr>
        <p:spPr>
          <a:xfrm>
            <a:off x="7269480" y="2240280"/>
            <a:ext cx="548640" cy="274320"/>
          </a:xfrm>
          <a:prstGeom prst="rect">
            <a:avLst/>
          </a:prstGeom>
          <a:noFill/>
          <a:ln/>
        </p:spPr>
        <p:txBody>
          <a:bodyPr wrap="square" lIns="0" tIns="0" rIns="0" bIns="0" rtlCol="0" anchor="ctr"/>
          <a:lstStyle/>
          <a:p>
            <a:pPr marL="0" indent="0">
              <a:buNone/>
            </a:pPr>
            <a:r>
              <a:rPr lang="en-US" sz="800" dirty="0">
                <a:solidFill>
                  <a:srgbClr val="D4A256"/>
                </a:solidFill>
              </a:rPr>
              <a:t>1,999 MB</a:t>
            </a:r>
            <a:endParaRPr lang="en-US" sz="800" dirty="0"/>
          </a:p>
        </p:txBody>
      </p:sp>
      <p:sp>
        <p:nvSpPr>
          <p:cNvPr id="21" name="Text 18"/>
          <p:cNvSpPr/>
          <p:nvPr/>
        </p:nvSpPr>
        <p:spPr>
          <a:xfrm>
            <a:off x="7818120" y="2240280"/>
            <a:ext cx="640080" cy="274320"/>
          </a:xfrm>
          <a:prstGeom prst="rect">
            <a:avLst/>
          </a:prstGeom>
          <a:noFill/>
          <a:ln/>
        </p:spPr>
        <p:txBody>
          <a:bodyPr wrap="square" lIns="0" tIns="0" rIns="0" bIns="0" rtlCol="0" anchor="ctr"/>
          <a:lstStyle/>
          <a:p>
            <a:pPr marL="0" indent="0">
              <a:buNone/>
            </a:pPr>
            <a:r>
              <a:rPr lang="en-US" sz="800" dirty="0">
                <a:solidFill>
                  <a:srgbClr val="2C8C84"/>
                </a:solidFill>
              </a:rPr>
              <a:t>858 MB</a:t>
            </a:r>
            <a:endParaRPr lang="en-US" sz="800" dirty="0"/>
          </a:p>
        </p:txBody>
      </p:sp>
      <p:sp>
        <p:nvSpPr>
          <p:cNvPr id="22" name="Shape 19"/>
          <p:cNvSpPr/>
          <p:nvPr/>
        </p:nvSpPr>
        <p:spPr>
          <a:xfrm>
            <a:off x="6263640" y="2578608"/>
            <a:ext cx="2606040" cy="374904"/>
          </a:xfrm>
          <a:prstGeom prst="rect">
            <a:avLst/>
          </a:prstGeom>
          <a:solidFill>
            <a:srgbClr val="F7F1E8"/>
          </a:solidFill>
          <a:ln/>
        </p:spPr>
        <p:txBody>
          <a:bodyPr/>
          <a:lstStyle/>
          <a:p>
            <a:endParaRPr/>
          </a:p>
        </p:txBody>
      </p:sp>
      <p:sp>
        <p:nvSpPr>
          <p:cNvPr id="23" name="Text 20"/>
          <p:cNvSpPr/>
          <p:nvPr/>
        </p:nvSpPr>
        <p:spPr>
          <a:xfrm>
            <a:off x="6355080" y="2615184"/>
            <a:ext cx="914400" cy="274320"/>
          </a:xfrm>
          <a:prstGeom prst="rect">
            <a:avLst/>
          </a:prstGeom>
          <a:noFill/>
          <a:ln/>
        </p:spPr>
        <p:txBody>
          <a:bodyPr wrap="square" lIns="0" tIns="0" rIns="0" bIns="0" rtlCol="0" anchor="ctr"/>
          <a:lstStyle/>
          <a:p>
            <a:pPr marL="0" indent="0">
              <a:buNone/>
            </a:pPr>
            <a:r>
              <a:rPr lang="en-US" sz="800" dirty="0">
                <a:solidFill>
                  <a:srgbClr val="2D394F"/>
                </a:solidFill>
              </a:rPr>
              <a:t>Eviction Starts</a:t>
            </a:r>
            <a:endParaRPr lang="en-US" sz="800" dirty="0"/>
          </a:p>
        </p:txBody>
      </p:sp>
      <p:sp>
        <p:nvSpPr>
          <p:cNvPr id="24" name="Text 21"/>
          <p:cNvSpPr/>
          <p:nvPr/>
        </p:nvSpPr>
        <p:spPr>
          <a:xfrm>
            <a:off x="7269480" y="2615184"/>
            <a:ext cx="548640" cy="274320"/>
          </a:xfrm>
          <a:prstGeom prst="rect">
            <a:avLst/>
          </a:prstGeom>
          <a:noFill/>
          <a:ln/>
        </p:spPr>
        <p:txBody>
          <a:bodyPr wrap="square" lIns="0" tIns="0" rIns="0" bIns="0" rtlCol="0" anchor="ctr"/>
          <a:lstStyle/>
          <a:p>
            <a:pPr marL="0" indent="0">
              <a:buNone/>
            </a:pPr>
            <a:r>
              <a:rPr lang="en-US" sz="800" dirty="0">
                <a:solidFill>
                  <a:srgbClr val="D4A256"/>
                </a:solidFill>
              </a:rPr>
              <a:t>Token ~420</a:t>
            </a:r>
            <a:endParaRPr lang="en-US" sz="800" dirty="0"/>
          </a:p>
        </p:txBody>
      </p:sp>
      <p:sp>
        <p:nvSpPr>
          <p:cNvPr id="25" name="Text 22"/>
          <p:cNvSpPr/>
          <p:nvPr/>
        </p:nvSpPr>
        <p:spPr>
          <a:xfrm>
            <a:off x="7818120" y="2615184"/>
            <a:ext cx="640080" cy="274320"/>
          </a:xfrm>
          <a:prstGeom prst="rect">
            <a:avLst/>
          </a:prstGeom>
          <a:noFill/>
          <a:ln/>
        </p:spPr>
        <p:txBody>
          <a:bodyPr wrap="square" lIns="0" tIns="0" rIns="0" bIns="0" rtlCol="0" anchor="ctr"/>
          <a:lstStyle/>
          <a:p>
            <a:pPr marL="0" indent="0" algn="r">
              <a:buNone/>
            </a:pPr>
            <a:r>
              <a:rPr lang="en-US" sz="800" dirty="0">
                <a:solidFill>
                  <a:srgbClr val="2C8C84"/>
                </a:solidFill>
              </a:rPr>
              <a:t>Token ~420</a:t>
            </a:r>
            <a:endParaRPr lang="en-US" sz="800" dirty="0"/>
          </a:p>
        </p:txBody>
      </p:sp>
      <p:sp>
        <p:nvSpPr>
          <p:cNvPr id="26" name="Text 23"/>
          <p:cNvSpPr/>
          <p:nvPr/>
        </p:nvSpPr>
        <p:spPr>
          <a:xfrm>
            <a:off x="6355080" y="2990088"/>
            <a:ext cx="914400" cy="274320"/>
          </a:xfrm>
          <a:prstGeom prst="rect">
            <a:avLst/>
          </a:prstGeom>
          <a:noFill/>
          <a:ln/>
        </p:spPr>
        <p:txBody>
          <a:bodyPr wrap="square" lIns="0" tIns="0" rIns="0" bIns="0" rtlCol="0" anchor="ctr"/>
          <a:lstStyle/>
          <a:p>
            <a:pPr marL="0" indent="0">
              <a:buNone/>
            </a:pPr>
            <a:r>
              <a:rPr lang="en-US" sz="800" dirty="0">
                <a:solidFill>
                  <a:srgbClr val="2D394F"/>
                </a:solidFill>
              </a:rPr>
              <a:t>HBM Threshold</a:t>
            </a:r>
            <a:endParaRPr lang="en-US" sz="800" dirty="0"/>
          </a:p>
        </p:txBody>
      </p:sp>
      <p:sp>
        <p:nvSpPr>
          <p:cNvPr id="27" name="Text 24"/>
          <p:cNvSpPr/>
          <p:nvPr/>
        </p:nvSpPr>
        <p:spPr>
          <a:xfrm>
            <a:off x="7269480" y="2990088"/>
            <a:ext cx="548640" cy="274320"/>
          </a:xfrm>
          <a:prstGeom prst="rect">
            <a:avLst/>
          </a:prstGeom>
          <a:noFill/>
          <a:ln/>
        </p:spPr>
        <p:txBody>
          <a:bodyPr wrap="square" lIns="0" tIns="0" rIns="0" bIns="0" rtlCol="0" anchor="ctr"/>
          <a:lstStyle/>
          <a:p>
            <a:pPr marL="0" indent="0">
              <a:buNone/>
            </a:pPr>
            <a:r>
              <a:rPr lang="en-US" sz="800" dirty="0">
                <a:solidFill>
                  <a:srgbClr val="D4A256"/>
                </a:solidFill>
              </a:rPr>
              <a:t>80%</a:t>
            </a:r>
            <a:endParaRPr lang="en-US" sz="800" dirty="0"/>
          </a:p>
        </p:txBody>
      </p:sp>
      <p:sp>
        <p:nvSpPr>
          <p:cNvPr id="28" name="Text 25"/>
          <p:cNvSpPr/>
          <p:nvPr/>
        </p:nvSpPr>
        <p:spPr>
          <a:xfrm>
            <a:off x="7818120" y="2990088"/>
            <a:ext cx="640080" cy="274320"/>
          </a:xfrm>
          <a:prstGeom prst="rect">
            <a:avLst/>
          </a:prstGeom>
          <a:noFill/>
          <a:ln/>
        </p:spPr>
        <p:txBody>
          <a:bodyPr wrap="square" lIns="0" tIns="0" rIns="0" bIns="0" rtlCol="0" anchor="ctr"/>
          <a:lstStyle/>
          <a:p>
            <a:pPr marL="0" indent="0">
              <a:buNone/>
            </a:pPr>
            <a:r>
              <a:rPr lang="en-US" sz="800" dirty="0">
                <a:solidFill>
                  <a:srgbClr val="2C8C84"/>
                </a:solidFill>
              </a:rPr>
              <a:t>80%</a:t>
            </a:r>
            <a:endParaRPr lang="en-US" sz="800" dirty="0"/>
          </a:p>
        </p:txBody>
      </p:sp>
      <p:sp>
        <p:nvSpPr>
          <p:cNvPr id="29" name="Shape 26"/>
          <p:cNvSpPr/>
          <p:nvPr/>
        </p:nvSpPr>
        <p:spPr>
          <a:xfrm>
            <a:off x="6263640" y="3310128"/>
            <a:ext cx="1234440" cy="384048"/>
          </a:xfrm>
          <a:prstGeom prst="rect">
            <a:avLst/>
          </a:prstGeom>
          <a:solidFill>
            <a:srgbClr val="E1F2EF"/>
          </a:solidFill>
          <a:ln/>
        </p:spPr>
        <p:txBody>
          <a:bodyPr/>
          <a:lstStyle/>
          <a:p>
            <a:endParaRPr/>
          </a:p>
        </p:txBody>
      </p:sp>
      <p:sp>
        <p:nvSpPr>
          <p:cNvPr id="30" name="Text 27"/>
          <p:cNvSpPr/>
          <p:nvPr/>
        </p:nvSpPr>
        <p:spPr>
          <a:xfrm>
            <a:off x="6263640" y="3310128"/>
            <a:ext cx="1234440" cy="384048"/>
          </a:xfrm>
          <a:prstGeom prst="rect">
            <a:avLst/>
          </a:prstGeom>
          <a:noFill/>
          <a:ln/>
        </p:spPr>
        <p:txBody>
          <a:bodyPr wrap="square" lIns="0" tIns="0" rIns="0" bIns="0" rtlCol="0" anchor="ctr"/>
          <a:lstStyle/>
          <a:p>
            <a:pPr marL="0" indent="0" algn="ctr">
              <a:buNone/>
            </a:pPr>
            <a:r>
              <a:rPr lang="en-US" sz="900" b="1" dirty="0">
                <a:solidFill>
                  <a:srgbClr val="2D394F"/>
                </a:solidFill>
              </a:rPr>
              <a:t>↓ 40% Wasted Evictions</a:t>
            </a:r>
            <a:endParaRPr lang="en-US" sz="900" dirty="0"/>
          </a:p>
        </p:txBody>
      </p:sp>
      <p:sp>
        <p:nvSpPr>
          <p:cNvPr id="31" name="Shape 28"/>
          <p:cNvSpPr/>
          <p:nvPr/>
        </p:nvSpPr>
        <p:spPr>
          <a:xfrm>
            <a:off x="7635240" y="3310128"/>
            <a:ext cx="1234440" cy="384048"/>
          </a:xfrm>
          <a:prstGeom prst="rect">
            <a:avLst/>
          </a:prstGeom>
          <a:solidFill>
            <a:srgbClr val="F7ECDA"/>
          </a:solidFill>
          <a:ln/>
        </p:spPr>
        <p:txBody>
          <a:bodyPr/>
          <a:lstStyle/>
          <a:p>
            <a:endParaRPr/>
          </a:p>
        </p:txBody>
      </p:sp>
      <p:sp>
        <p:nvSpPr>
          <p:cNvPr id="32" name="Text 29"/>
          <p:cNvSpPr/>
          <p:nvPr/>
        </p:nvSpPr>
        <p:spPr>
          <a:xfrm>
            <a:off x="7635240" y="3310128"/>
            <a:ext cx="1234440" cy="384048"/>
          </a:xfrm>
          <a:prstGeom prst="rect">
            <a:avLst/>
          </a:prstGeom>
          <a:noFill/>
          <a:ln/>
        </p:spPr>
        <p:txBody>
          <a:bodyPr wrap="square" lIns="0" tIns="0" rIns="0" bIns="0" rtlCol="0" anchor="ctr"/>
          <a:lstStyle/>
          <a:p>
            <a:pPr marL="0" indent="0" algn="ctr">
              <a:buNone/>
            </a:pPr>
            <a:r>
              <a:rPr lang="en-US" sz="900" b="1" dirty="0">
                <a:solidFill>
                  <a:srgbClr val="2D394F"/>
                </a:solidFill>
              </a:rPr>
              <a:t>↓ 57% Promotion Cost</a:t>
            </a:r>
            <a:endParaRPr lang="en-US" sz="900" dirty="0"/>
          </a:p>
        </p:txBody>
      </p:sp>
      <p:sp>
        <p:nvSpPr>
          <p:cNvPr id="33" name="Shape 30"/>
          <p:cNvSpPr/>
          <p:nvPr/>
        </p:nvSpPr>
        <p:spPr>
          <a:xfrm>
            <a:off x="228600" y="3822192"/>
            <a:ext cx="5852160" cy="1051560"/>
          </a:xfrm>
          <a:prstGeom prst="rect">
            <a:avLst/>
          </a:prstGeom>
          <a:solidFill>
            <a:srgbClr val="F7F1E8"/>
          </a:solidFill>
          <a:ln w="12700">
            <a:solidFill>
              <a:srgbClr val="8A7AC8"/>
            </a:solidFill>
            <a:prstDash val="solid"/>
          </a:ln>
        </p:spPr>
        <p:txBody>
          <a:bodyPr/>
          <a:lstStyle/>
          <a:p>
            <a:endParaRPr/>
          </a:p>
        </p:txBody>
      </p:sp>
      <p:sp>
        <p:nvSpPr>
          <p:cNvPr id="34" name="Text 31"/>
          <p:cNvSpPr/>
          <p:nvPr/>
        </p:nvSpPr>
        <p:spPr>
          <a:xfrm>
            <a:off x="365760" y="3886200"/>
            <a:ext cx="5577840" cy="502920"/>
          </a:xfrm>
          <a:prstGeom prst="rect">
            <a:avLst/>
          </a:prstGeom>
          <a:noFill/>
          <a:ln/>
        </p:spPr>
        <p:txBody>
          <a:bodyPr wrap="square" lIns="0" tIns="0" rIns="0" bIns="0" rtlCol="0" anchor="ctr"/>
          <a:lstStyle/>
          <a:p>
            <a:pPr marL="0" indent="0">
              <a:buNone/>
            </a:pPr>
            <a:r>
              <a:rPr lang="en-US" sz="1000" i="1" dirty="0">
                <a:solidFill>
                  <a:srgbClr val="2D394F"/>
                </a:solidFill>
              </a:rPr>
              <a:t>METHODOLOGY: Controlled experiment — same HBM budget (48 MB), same 1000-token trace, same eviction threshold (80%). Policy is the ONLY variable.</a:t>
            </a:r>
            <a:endParaRPr lang="en-US" sz="1000" dirty="0"/>
          </a:p>
        </p:txBody>
      </p:sp>
      <p:sp>
        <p:nvSpPr>
          <p:cNvPr id="35" name="Text 32"/>
          <p:cNvSpPr/>
          <p:nvPr/>
        </p:nvSpPr>
        <p:spPr>
          <a:xfrm>
            <a:off x="365760" y="4407408"/>
            <a:ext cx="5577840" cy="384048"/>
          </a:xfrm>
          <a:prstGeom prst="rect">
            <a:avLst/>
          </a:prstGeom>
          <a:noFill/>
          <a:ln/>
        </p:spPr>
        <p:txBody>
          <a:bodyPr wrap="square" lIns="0" tIns="0" rIns="0" bIns="0" rtlCol="0" anchor="ctr"/>
          <a:lstStyle/>
          <a:p>
            <a:pPr marL="0" indent="0">
              <a:buNone/>
            </a:pPr>
            <a:r>
              <a:rPr lang="en-US" sz="950" dirty="0">
                <a:solidFill>
                  <a:srgbClr val="636F86"/>
                </a:solidFill>
              </a:rPr>
              <a:t>LRU evicts oldest block. ASEP evicts lowest attention-score block. Total evictions are identical — the improvement is in WHICH blocks are chosen.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4A256"/>
          </a:solidFill>
          <a:ln/>
        </p:spPr>
        <p:txBody>
          <a:bodyPr/>
          <a:lstStyle/>
          <a:p>
            <a:endParaRPr/>
          </a:p>
        </p:txBody>
      </p:sp>
      <p:sp>
        <p:nvSpPr>
          <p:cNvPr id="3" name="Text 1"/>
          <p:cNvSpPr/>
          <p:nvPr/>
        </p:nvSpPr>
        <p:spPr>
          <a:xfrm>
            <a:off x="320040" y="164592"/>
            <a:ext cx="8503920" cy="411480"/>
          </a:xfrm>
          <a:prstGeom prst="rect">
            <a:avLst/>
          </a:prstGeom>
          <a:noFill/>
          <a:ln/>
        </p:spPr>
        <p:txBody>
          <a:bodyPr wrap="square" rtlCol="0" anchor="ctr"/>
          <a:lstStyle/>
          <a:p>
            <a:pPr marL="0" indent="0">
              <a:buNone/>
            </a:pPr>
            <a:r>
              <a:rPr lang="en-US" sz="2000" b="1" kern="0" spc="200" dirty="0">
                <a:solidFill>
                  <a:srgbClr val="D4A256"/>
                </a:solidFill>
              </a:rPr>
              <a:t>MEMORY-CENTRIC OPTIMIZATIONS</a:t>
            </a:r>
            <a:endParaRPr lang="en-US" sz="2000" dirty="0"/>
          </a:p>
        </p:txBody>
      </p:sp>
      <p:sp>
        <p:nvSpPr>
          <p:cNvPr id="4" name="Text 2"/>
          <p:cNvSpPr/>
          <p:nvPr/>
        </p:nvSpPr>
        <p:spPr>
          <a:xfrm>
            <a:off x="320040" y="548640"/>
            <a:ext cx="8503920" cy="256032"/>
          </a:xfrm>
          <a:prstGeom prst="rect">
            <a:avLst/>
          </a:prstGeom>
          <a:noFill/>
          <a:ln/>
        </p:spPr>
        <p:txBody>
          <a:bodyPr wrap="square" rtlCol="0" anchor="ctr"/>
          <a:lstStyle/>
          <a:p>
            <a:pPr marL="0" indent="0">
              <a:buNone/>
            </a:pPr>
            <a:r>
              <a:rPr lang="en-US" sz="1000" dirty="0">
                <a:solidFill>
                  <a:srgbClr val="636F86"/>
                </a:solidFill>
              </a:rPr>
              <a:t>07 — Three implemented optimizations: KV Compression · Attention Windowing · Operator Fusion</a:t>
            </a:r>
            <a:endParaRPr lang="en-US" sz="1000" dirty="0"/>
          </a:p>
        </p:txBody>
      </p:sp>
      <p:sp>
        <p:nvSpPr>
          <p:cNvPr id="5" name="Shape 3"/>
          <p:cNvSpPr/>
          <p:nvPr/>
        </p:nvSpPr>
        <p:spPr>
          <a:xfrm>
            <a:off x="228600" y="868680"/>
            <a:ext cx="2880360" cy="4069080"/>
          </a:xfrm>
          <a:prstGeom prst="rect">
            <a:avLst/>
          </a:prstGeom>
          <a:solidFill>
            <a:srgbClr val="FFFFFF"/>
          </a:solidFill>
          <a:ln w="19050">
            <a:solidFill>
              <a:srgbClr val="2C8C84"/>
            </a:solidFill>
            <a:prstDash val="solid"/>
          </a:ln>
        </p:spPr>
        <p:txBody>
          <a:bodyPr/>
          <a:lstStyle/>
          <a:p>
            <a:endParaRPr/>
          </a:p>
        </p:txBody>
      </p:sp>
      <p:sp>
        <p:nvSpPr>
          <p:cNvPr id="6" name="Shape 4"/>
          <p:cNvSpPr/>
          <p:nvPr/>
        </p:nvSpPr>
        <p:spPr>
          <a:xfrm>
            <a:off x="228600" y="868680"/>
            <a:ext cx="2880360" cy="347472"/>
          </a:xfrm>
          <a:prstGeom prst="rect">
            <a:avLst/>
          </a:prstGeom>
          <a:solidFill>
            <a:srgbClr val="E1F2EF"/>
          </a:solidFill>
          <a:ln/>
        </p:spPr>
        <p:txBody>
          <a:bodyPr/>
          <a:lstStyle/>
          <a:p>
            <a:endParaRPr/>
          </a:p>
        </p:txBody>
      </p:sp>
      <p:sp>
        <p:nvSpPr>
          <p:cNvPr id="7" name="Text 5"/>
          <p:cNvSpPr/>
          <p:nvPr/>
        </p:nvSpPr>
        <p:spPr>
          <a:xfrm>
            <a:off x="228600" y="868680"/>
            <a:ext cx="2880360" cy="347472"/>
          </a:xfrm>
          <a:prstGeom prst="rect">
            <a:avLst/>
          </a:prstGeom>
          <a:noFill/>
          <a:ln/>
        </p:spPr>
        <p:txBody>
          <a:bodyPr wrap="square" lIns="0" tIns="0" rIns="0" bIns="0" rtlCol="0" anchor="ctr"/>
          <a:lstStyle/>
          <a:p>
            <a:pPr marL="0" indent="0" algn="ctr">
              <a:buNone/>
            </a:pPr>
            <a:r>
              <a:rPr lang="en-US" sz="950" b="1" dirty="0">
                <a:solidFill>
                  <a:srgbClr val="2D394F"/>
                </a:solidFill>
              </a:rPr>
              <a:t>OPT 1 — KV Cache Compression (INT4)</a:t>
            </a:r>
            <a:endParaRPr lang="en-US" sz="950" dirty="0"/>
          </a:p>
        </p:txBody>
      </p:sp>
      <p:pic>
        <p:nvPicPr>
          <p:cNvPr id="8" name="Image 0" descr="preencoded.png"/>
          <p:cNvPicPr>
            <a:picLocks noChangeAspect="1"/>
          </p:cNvPicPr>
          <p:nvPr/>
        </p:nvPicPr>
        <p:blipFill>
          <a:blip r:embed="rId3"/>
          <a:stretch>
            <a:fillRect/>
          </a:stretch>
        </p:blipFill>
        <p:spPr>
          <a:xfrm>
            <a:off x="320040" y="1234440"/>
            <a:ext cx="2697480" cy="1554480"/>
          </a:xfrm>
          <a:prstGeom prst="rect">
            <a:avLst/>
          </a:prstGeom>
          <a:ln/>
        </p:spPr>
      </p:pic>
      <p:sp>
        <p:nvSpPr>
          <p:cNvPr id="9" name="Shape 6"/>
          <p:cNvSpPr/>
          <p:nvPr/>
        </p:nvSpPr>
        <p:spPr>
          <a:xfrm>
            <a:off x="320040" y="2852928"/>
            <a:ext cx="118872" cy="118872"/>
          </a:xfrm>
          <a:prstGeom prst="ellipse">
            <a:avLst/>
          </a:prstGeom>
          <a:solidFill>
            <a:srgbClr val="E1F2EF"/>
          </a:solidFill>
          <a:ln/>
        </p:spPr>
        <p:txBody>
          <a:bodyPr/>
          <a:lstStyle/>
          <a:p>
            <a:endParaRPr/>
          </a:p>
        </p:txBody>
      </p:sp>
      <p:sp>
        <p:nvSpPr>
          <p:cNvPr id="10" name="Text 7"/>
          <p:cNvSpPr/>
          <p:nvPr/>
        </p:nvSpPr>
        <p:spPr>
          <a:xfrm>
            <a:off x="484632" y="2816352"/>
            <a:ext cx="2578608" cy="320040"/>
          </a:xfrm>
          <a:prstGeom prst="rect">
            <a:avLst/>
          </a:prstGeom>
          <a:noFill/>
          <a:ln/>
        </p:spPr>
        <p:txBody>
          <a:bodyPr wrap="square" lIns="0" tIns="0" rIns="0" bIns="0" rtlCol="0" anchor="ctr"/>
          <a:lstStyle/>
          <a:p>
            <a:pPr marL="0" indent="0">
              <a:buNone/>
            </a:pPr>
            <a:r>
              <a:rPr lang="en-US" sz="900" dirty="0">
                <a:solidFill>
                  <a:srgbClr val="2D394F"/>
                </a:solidFill>
              </a:rPr>
              <a:t>INT4 quantization before DRAM eviction</a:t>
            </a:r>
            <a:endParaRPr lang="en-US" sz="900" dirty="0"/>
          </a:p>
        </p:txBody>
      </p:sp>
      <p:sp>
        <p:nvSpPr>
          <p:cNvPr id="11" name="Shape 8"/>
          <p:cNvSpPr/>
          <p:nvPr/>
        </p:nvSpPr>
        <p:spPr>
          <a:xfrm>
            <a:off x="320040" y="3236976"/>
            <a:ext cx="118872" cy="118872"/>
          </a:xfrm>
          <a:prstGeom prst="ellipse">
            <a:avLst/>
          </a:prstGeom>
          <a:solidFill>
            <a:srgbClr val="E1F2EF"/>
          </a:solidFill>
          <a:ln/>
        </p:spPr>
        <p:txBody>
          <a:bodyPr/>
          <a:lstStyle/>
          <a:p>
            <a:endParaRPr/>
          </a:p>
        </p:txBody>
      </p:sp>
      <p:sp>
        <p:nvSpPr>
          <p:cNvPr id="12" name="Text 9"/>
          <p:cNvSpPr/>
          <p:nvPr/>
        </p:nvSpPr>
        <p:spPr>
          <a:xfrm>
            <a:off x="484632" y="3200400"/>
            <a:ext cx="2578608" cy="320040"/>
          </a:xfrm>
          <a:prstGeom prst="rect">
            <a:avLst/>
          </a:prstGeom>
          <a:noFill/>
          <a:ln/>
        </p:spPr>
        <p:txBody>
          <a:bodyPr wrap="square" lIns="0" tIns="0" rIns="0" bIns="0" rtlCol="0" anchor="ctr"/>
          <a:lstStyle/>
          <a:p>
            <a:pPr marL="0" indent="0">
              <a:buNone/>
            </a:pPr>
            <a:r>
              <a:rPr lang="en-US" sz="900" dirty="0">
                <a:solidFill>
                  <a:srgbClr val="2D394F"/>
                </a:solidFill>
              </a:rPr>
              <a:t>4× size reduction — same DRAM, 4× more tokens</a:t>
            </a:r>
            <a:endParaRPr lang="en-US" sz="900" dirty="0"/>
          </a:p>
        </p:txBody>
      </p:sp>
      <p:sp>
        <p:nvSpPr>
          <p:cNvPr id="13" name="Shape 10"/>
          <p:cNvSpPr/>
          <p:nvPr/>
        </p:nvSpPr>
        <p:spPr>
          <a:xfrm>
            <a:off x="320040" y="3621024"/>
            <a:ext cx="118872" cy="118872"/>
          </a:xfrm>
          <a:prstGeom prst="ellipse">
            <a:avLst/>
          </a:prstGeom>
          <a:solidFill>
            <a:srgbClr val="E1F2EF"/>
          </a:solidFill>
          <a:ln/>
        </p:spPr>
        <p:txBody>
          <a:bodyPr/>
          <a:lstStyle/>
          <a:p>
            <a:endParaRPr/>
          </a:p>
        </p:txBody>
      </p:sp>
      <p:sp>
        <p:nvSpPr>
          <p:cNvPr id="14" name="Text 11"/>
          <p:cNvSpPr/>
          <p:nvPr/>
        </p:nvSpPr>
        <p:spPr>
          <a:xfrm>
            <a:off x="484632" y="3584448"/>
            <a:ext cx="2578608" cy="320040"/>
          </a:xfrm>
          <a:prstGeom prst="rect">
            <a:avLst/>
          </a:prstGeom>
          <a:noFill/>
          <a:ln/>
        </p:spPr>
        <p:txBody>
          <a:bodyPr wrap="square" lIns="0" tIns="0" rIns="0" bIns="0" rtlCol="0" anchor="ctr"/>
          <a:lstStyle/>
          <a:p>
            <a:pPr marL="0" indent="0">
              <a:buNone/>
            </a:pPr>
            <a:r>
              <a:rPr lang="en-US" sz="900" dirty="0">
                <a:solidFill>
                  <a:srgbClr val="2D394F"/>
                </a:solidFill>
              </a:rPr>
              <a:t>FP16 → INT4 on evict; INT4 → FP16 on promote</a:t>
            </a:r>
            <a:endParaRPr lang="en-US" sz="900" dirty="0"/>
          </a:p>
        </p:txBody>
      </p:sp>
      <p:sp>
        <p:nvSpPr>
          <p:cNvPr id="15" name="Shape 12"/>
          <p:cNvSpPr/>
          <p:nvPr/>
        </p:nvSpPr>
        <p:spPr>
          <a:xfrm>
            <a:off x="320040" y="4005072"/>
            <a:ext cx="118872" cy="118872"/>
          </a:xfrm>
          <a:prstGeom prst="ellipse">
            <a:avLst/>
          </a:prstGeom>
          <a:solidFill>
            <a:srgbClr val="E1F2EF"/>
          </a:solidFill>
          <a:ln/>
        </p:spPr>
        <p:txBody>
          <a:bodyPr/>
          <a:lstStyle/>
          <a:p>
            <a:endParaRPr/>
          </a:p>
        </p:txBody>
      </p:sp>
      <p:sp>
        <p:nvSpPr>
          <p:cNvPr id="16" name="Text 13"/>
          <p:cNvSpPr/>
          <p:nvPr/>
        </p:nvSpPr>
        <p:spPr>
          <a:xfrm>
            <a:off x="484632" y="3968496"/>
            <a:ext cx="2578608" cy="320040"/>
          </a:xfrm>
          <a:prstGeom prst="rect">
            <a:avLst/>
          </a:prstGeom>
          <a:noFill/>
          <a:ln/>
        </p:spPr>
        <p:txBody>
          <a:bodyPr wrap="square" lIns="0" tIns="0" rIns="0" bIns="0" rtlCol="0" anchor="ctr"/>
          <a:lstStyle/>
          <a:p>
            <a:pPr marL="0" indent="0">
              <a:buNone/>
            </a:pPr>
            <a:r>
              <a:rPr lang="en-US" sz="900" dirty="0">
                <a:solidFill>
                  <a:srgbClr val="2D394F"/>
                </a:solidFill>
              </a:rPr>
              <a:t>Validated: seq=4096 → 1.5 GB HBM freed</a:t>
            </a:r>
            <a:endParaRPr lang="en-US" sz="900" dirty="0"/>
          </a:p>
        </p:txBody>
      </p:sp>
      <p:sp>
        <p:nvSpPr>
          <p:cNvPr id="17" name="Shape 14"/>
          <p:cNvSpPr/>
          <p:nvPr/>
        </p:nvSpPr>
        <p:spPr>
          <a:xfrm>
            <a:off x="3200400" y="868680"/>
            <a:ext cx="2880360" cy="4069080"/>
          </a:xfrm>
          <a:prstGeom prst="rect">
            <a:avLst/>
          </a:prstGeom>
          <a:solidFill>
            <a:srgbClr val="FFFFFF"/>
          </a:solidFill>
          <a:ln w="19050">
            <a:solidFill>
              <a:srgbClr val="8A7AC8"/>
            </a:solidFill>
            <a:prstDash val="solid"/>
          </a:ln>
        </p:spPr>
        <p:txBody>
          <a:bodyPr/>
          <a:lstStyle/>
          <a:p>
            <a:endParaRPr/>
          </a:p>
        </p:txBody>
      </p:sp>
      <p:sp>
        <p:nvSpPr>
          <p:cNvPr id="18" name="Shape 15"/>
          <p:cNvSpPr/>
          <p:nvPr/>
        </p:nvSpPr>
        <p:spPr>
          <a:xfrm>
            <a:off x="3200400" y="868680"/>
            <a:ext cx="2880360" cy="347472"/>
          </a:xfrm>
          <a:prstGeom prst="rect">
            <a:avLst/>
          </a:prstGeom>
          <a:solidFill>
            <a:srgbClr val="EEEAF8"/>
          </a:solidFill>
          <a:ln/>
        </p:spPr>
        <p:txBody>
          <a:bodyPr/>
          <a:lstStyle/>
          <a:p>
            <a:endParaRPr/>
          </a:p>
        </p:txBody>
      </p:sp>
      <p:sp>
        <p:nvSpPr>
          <p:cNvPr id="19" name="Text 16"/>
          <p:cNvSpPr/>
          <p:nvPr/>
        </p:nvSpPr>
        <p:spPr>
          <a:xfrm>
            <a:off x="3200400" y="868680"/>
            <a:ext cx="2880360" cy="347472"/>
          </a:xfrm>
          <a:prstGeom prst="rect">
            <a:avLst/>
          </a:prstGeom>
          <a:noFill/>
          <a:ln/>
        </p:spPr>
        <p:txBody>
          <a:bodyPr wrap="square" lIns="0" tIns="0" rIns="0" bIns="0" rtlCol="0" anchor="ctr"/>
          <a:lstStyle/>
          <a:p>
            <a:pPr marL="0" indent="0" algn="ctr">
              <a:buNone/>
            </a:pPr>
            <a:r>
              <a:rPr lang="en-US" sz="950" b="1" dirty="0">
                <a:solidFill>
                  <a:srgbClr val="2D394F"/>
                </a:solidFill>
              </a:rPr>
              <a:t>OPT 2 — Attention Windowing</a:t>
            </a:r>
            <a:endParaRPr lang="en-US" sz="950" dirty="0"/>
          </a:p>
        </p:txBody>
      </p:sp>
      <p:pic>
        <p:nvPicPr>
          <p:cNvPr id="20" name="Image 1" descr="preencoded.png"/>
          <p:cNvPicPr>
            <a:picLocks noChangeAspect="1"/>
          </p:cNvPicPr>
          <p:nvPr/>
        </p:nvPicPr>
        <p:blipFill>
          <a:blip r:embed="rId4"/>
          <a:stretch>
            <a:fillRect/>
          </a:stretch>
        </p:blipFill>
        <p:spPr>
          <a:xfrm>
            <a:off x="3291840" y="1234440"/>
            <a:ext cx="2697480" cy="1554480"/>
          </a:xfrm>
          <a:prstGeom prst="rect">
            <a:avLst/>
          </a:prstGeom>
          <a:ln/>
        </p:spPr>
      </p:pic>
      <p:sp>
        <p:nvSpPr>
          <p:cNvPr id="21" name="Shape 17"/>
          <p:cNvSpPr/>
          <p:nvPr/>
        </p:nvSpPr>
        <p:spPr>
          <a:xfrm>
            <a:off x="3291840" y="2852928"/>
            <a:ext cx="118872" cy="118872"/>
          </a:xfrm>
          <a:prstGeom prst="ellipse">
            <a:avLst/>
          </a:prstGeom>
          <a:solidFill>
            <a:srgbClr val="EEEAF8"/>
          </a:solidFill>
          <a:ln/>
        </p:spPr>
        <p:txBody>
          <a:bodyPr/>
          <a:lstStyle/>
          <a:p>
            <a:endParaRPr/>
          </a:p>
        </p:txBody>
      </p:sp>
      <p:sp>
        <p:nvSpPr>
          <p:cNvPr id="22" name="Text 18"/>
          <p:cNvSpPr/>
          <p:nvPr/>
        </p:nvSpPr>
        <p:spPr>
          <a:xfrm>
            <a:off x="3456432" y="2816352"/>
            <a:ext cx="2578608" cy="320040"/>
          </a:xfrm>
          <a:prstGeom prst="rect">
            <a:avLst/>
          </a:prstGeom>
          <a:noFill/>
          <a:ln/>
        </p:spPr>
        <p:txBody>
          <a:bodyPr wrap="square" lIns="0" tIns="0" rIns="0" bIns="0" rtlCol="0" anchor="ctr"/>
          <a:lstStyle/>
          <a:p>
            <a:pPr marL="0" indent="0">
              <a:buNone/>
            </a:pPr>
            <a:r>
              <a:rPr lang="en-US" sz="900" dirty="0">
                <a:solidFill>
                  <a:srgbClr val="2D394F"/>
                </a:solidFill>
              </a:rPr>
              <a:t>Limit attention to last 512 tokens (sliding window)</a:t>
            </a:r>
            <a:endParaRPr lang="en-US" sz="900" dirty="0"/>
          </a:p>
        </p:txBody>
      </p:sp>
      <p:sp>
        <p:nvSpPr>
          <p:cNvPr id="23" name="Shape 19"/>
          <p:cNvSpPr/>
          <p:nvPr/>
        </p:nvSpPr>
        <p:spPr>
          <a:xfrm>
            <a:off x="3291840" y="3236976"/>
            <a:ext cx="118872" cy="118872"/>
          </a:xfrm>
          <a:prstGeom prst="ellipse">
            <a:avLst/>
          </a:prstGeom>
          <a:solidFill>
            <a:srgbClr val="EEEAF8"/>
          </a:solidFill>
          <a:ln/>
        </p:spPr>
        <p:txBody>
          <a:bodyPr/>
          <a:lstStyle/>
          <a:p>
            <a:endParaRPr/>
          </a:p>
        </p:txBody>
      </p:sp>
      <p:sp>
        <p:nvSpPr>
          <p:cNvPr id="24" name="Text 20"/>
          <p:cNvSpPr/>
          <p:nvPr/>
        </p:nvSpPr>
        <p:spPr>
          <a:xfrm>
            <a:off x="3456432" y="3200400"/>
            <a:ext cx="2578608" cy="320040"/>
          </a:xfrm>
          <a:prstGeom prst="rect">
            <a:avLst/>
          </a:prstGeom>
          <a:noFill/>
          <a:ln/>
        </p:spPr>
        <p:txBody>
          <a:bodyPr wrap="square" lIns="0" tIns="0" rIns="0" bIns="0" rtlCol="0" anchor="ctr"/>
          <a:lstStyle/>
          <a:p>
            <a:pPr marL="0" indent="0">
              <a:buNone/>
            </a:pPr>
            <a:r>
              <a:rPr lang="en-US" sz="900" dirty="0">
                <a:solidFill>
                  <a:srgbClr val="2D394F"/>
                </a:solidFill>
              </a:rPr>
              <a:t>97% traffic reduction at 16K context</a:t>
            </a:r>
            <a:endParaRPr lang="en-US" sz="900" dirty="0"/>
          </a:p>
        </p:txBody>
      </p:sp>
      <p:sp>
        <p:nvSpPr>
          <p:cNvPr id="25" name="Shape 21"/>
          <p:cNvSpPr/>
          <p:nvPr/>
        </p:nvSpPr>
        <p:spPr>
          <a:xfrm>
            <a:off x="3291840" y="3621024"/>
            <a:ext cx="118872" cy="118872"/>
          </a:xfrm>
          <a:prstGeom prst="ellipse">
            <a:avLst/>
          </a:prstGeom>
          <a:solidFill>
            <a:srgbClr val="EEEAF8"/>
          </a:solidFill>
          <a:ln/>
        </p:spPr>
        <p:txBody>
          <a:bodyPr/>
          <a:lstStyle/>
          <a:p>
            <a:endParaRPr/>
          </a:p>
        </p:txBody>
      </p:sp>
      <p:sp>
        <p:nvSpPr>
          <p:cNvPr id="26" name="Text 22"/>
          <p:cNvSpPr/>
          <p:nvPr/>
        </p:nvSpPr>
        <p:spPr>
          <a:xfrm>
            <a:off x="3456432" y="3584448"/>
            <a:ext cx="2578608" cy="320040"/>
          </a:xfrm>
          <a:prstGeom prst="rect">
            <a:avLst/>
          </a:prstGeom>
          <a:noFill/>
          <a:ln/>
        </p:spPr>
        <p:txBody>
          <a:bodyPr wrap="square" lIns="0" tIns="0" rIns="0" bIns="0" rtlCol="0" anchor="ctr"/>
          <a:lstStyle/>
          <a:p>
            <a:pPr marL="0" indent="0">
              <a:buNone/>
            </a:pPr>
            <a:r>
              <a:rPr lang="en-US" sz="900" dirty="0">
                <a:solidFill>
                  <a:srgbClr val="2D394F"/>
                </a:solidFill>
              </a:rPr>
              <a:t>Tradeoff: forgets older conversation context</a:t>
            </a:r>
            <a:endParaRPr lang="en-US" sz="900" dirty="0"/>
          </a:p>
        </p:txBody>
      </p:sp>
      <p:sp>
        <p:nvSpPr>
          <p:cNvPr id="27" name="Shape 23"/>
          <p:cNvSpPr/>
          <p:nvPr/>
        </p:nvSpPr>
        <p:spPr>
          <a:xfrm>
            <a:off x="3291840" y="4005072"/>
            <a:ext cx="118872" cy="118872"/>
          </a:xfrm>
          <a:prstGeom prst="ellipse">
            <a:avLst/>
          </a:prstGeom>
          <a:solidFill>
            <a:srgbClr val="EEEAF8"/>
          </a:solidFill>
          <a:ln/>
        </p:spPr>
        <p:txBody>
          <a:bodyPr/>
          <a:lstStyle/>
          <a:p>
            <a:endParaRPr/>
          </a:p>
        </p:txBody>
      </p:sp>
      <p:sp>
        <p:nvSpPr>
          <p:cNvPr id="28" name="Text 24"/>
          <p:cNvSpPr/>
          <p:nvPr/>
        </p:nvSpPr>
        <p:spPr>
          <a:xfrm>
            <a:off x="3456432" y="3968496"/>
            <a:ext cx="2578608" cy="320040"/>
          </a:xfrm>
          <a:prstGeom prst="rect">
            <a:avLst/>
          </a:prstGeom>
          <a:noFill/>
          <a:ln/>
        </p:spPr>
        <p:txBody>
          <a:bodyPr wrap="square" lIns="0" tIns="0" rIns="0" bIns="0" rtlCol="0" anchor="ctr"/>
          <a:lstStyle/>
          <a:p>
            <a:pPr marL="0" indent="0">
              <a:buNone/>
            </a:pPr>
            <a:r>
              <a:rPr lang="en-US" sz="900" dirty="0">
                <a:solidFill>
                  <a:srgbClr val="2D394F"/>
                </a:solidFill>
              </a:rPr>
              <a:t>Critical for long-context production deployments</a:t>
            </a:r>
            <a:endParaRPr lang="en-US" sz="900" dirty="0"/>
          </a:p>
        </p:txBody>
      </p:sp>
      <p:sp>
        <p:nvSpPr>
          <p:cNvPr id="29" name="Shape 25"/>
          <p:cNvSpPr/>
          <p:nvPr/>
        </p:nvSpPr>
        <p:spPr>
          <a:xfrm>
            <a:off x="6172200" y="868680"/>
            <a:ext cx="2880360" cy="4069080"/>
          </a:xfrm>
          <a:prstGeom prst="rect">
            <a:avLst/>
          </a:prstGeom>
          <a:solidFill>
            <a:srgbClr val="FFFFFF"/>
          </a:solidFill>
          <a:ln w="19050">
            <a:solidFill>
              <a:srgbClr val="D4A256"/>
            </a:solidFill>
            <a:prstDash val="solid"/>
          </a:ln>
        </p:spPr>
        <p:txBody>
          <a:bodyPr/>
          <a:lstStyle/>
          <a:p>
            <a:endParaRPr/>
          </a:p>
        </p:txBody>
      </p:sp>
      <p:sp>
        <p:nvSpPr>
          <p:cNvPr id="30" name="Shape 26"/>
          <p:cNvSpPr/>
          <p:nvPr/>
        </p:nvSpPr>
        <p:spPr>
          <a:xfrm>
            <a:off x="6172200" y="868680"/>
            <a:ext cx="2880360" cy="347472"/>
          </a:xfrm>
          <a:prstGeom prst="rect">
            <a:avLst/>
          </a:prstGeom>
          <a:solidFill>
            <a:srgbClr val="F7ECDA"/>
          </a:solidFill>
          <a:ln/>
        </p:spPr>
        <p:txBody>
          <a:bodyPr/>
          <a:lstStyle/>
          <a:p>
            <a:endParaRPr/>
          </a:p>
        </p:txBody>
      </p:sp>
      <p:sp>
        <p:nvSpPr>
          <p:cNvPr id="31" name="Text 27"/>
          <p:cNvSpPr/>
          <p:nvPr/>
        </p:nvSpPr>
        <p:spPr>
          <a:xfrm>
            <a:off x="6172200" y="868680"/>
            <a:ext cx="2880360" cy="347472"/>
          </a:xfrm>
          <a:prstGeom prst="rect">
            <a:avLst/>
          </a:prstGeom>
          <a:noFill/>
          <a:ln/>
        </p:spPr>
        <p:txBody>
          <a:bodyPr wrap="square" lIns="0" tIns="0" rIns="0" bIns="0" rtlCol="0" anchor="ctr"/>
          <a:lstStyle/>
          <a:p>
            <a:pPr marL="0" indent="0" algn="ctr">
              <a:buNone/>
            </a:pPr>
            <a:r>
              <a:rPr lang="en-US" sz="950" b="1" dirty="0">
                <a:solidFill>
                  <a:srgbClr val="2D394F"/>
                </a:solidFill>
              </a:rPr>
              <a:t>OPT 3 — Operator Fusion</a:t>
            </a:r>
            <a:endParaRPr lang="en-US" sz="950" dirty="0"/>
          </a:p>
        </p:txBody>
      </p:sp>
      <p:pic>
        <p:nvPicPr>
          <p:cNvPr id="32" name="Image 2" descr="preencoded.png"/>
          <p:cNvPicPr>
            <a:picLocks noChangeAspect="1"/>
          </p:cNvPicPr>
          <p:nvPr/>
        </p:nvPicPr>
        <p:blipFill>
          <a:blip r:embed="rId5"/>
          <a:stretch>
            <a:fillRect/>
          </a:stretch>
        </p:blipFill>
        <p:spPr>
          <a:xfrm>
            <a:off x="6263640" y="1234440"/>
            <a:ext cx="2697480" cy="1554480"/>
          </a:xfrm>
          <a:prstGeom prst="rect">
            <a:avLst/>
          </a:prstGeom>
          <a:ln/>
        </p:spPr>
      </p:pic>
      <p:sp>
        <p:nvSpPr>
          <p:cNvPr id="33" name="Shape 28"/>
          <p:cNvSpPr/>
          <p:nvPr/>
        </p:nvSpPr>
        <p:spPr>
          <a:xfrm>
            <a:off x="6263640" y="2852928"/>
            <a:ext cx="118872" cy="118872"/>
          </a:xfrm>
          <a:prstGeom prst="ellipse">
            <a:avLst/>
          </a:prstGeom>
          <a:solidFill>
            <a:srgbClr val="F7ECDA"/>
          </a:solidFill>
          <a:ln/>
        </p:spPr>
        <p:txBody>
          <a:bodyPr/>
          <a:lstStyle/>
          <a:p>
            <a:endParaRPr/>
          </a:p>
        </p:txBody>
      </p:sp>
      <p:sp>
        <p:nvSpPr>
          <p:cNvPr id="34" name="Text 29"/>
          <p:cNvSpPr/>
          <p:nvPr/>
        </p:nvSpPr>
        <p:spPr>
          <a:xfrm>
            <a:off x="6428232" y="2816352"/>
            <a:ext cx="2578608" cy="320040"/>
          </a:xfrm>
          <a:prstGeom prst="rect">
            <a:avLst/>
          </a:prstGeom>
          <a:noFill/>
          <a:ln/>
        </p:spPr>
        <p:txBody>
          <a:bodyPr wrap="square" lIns="0" tIns="0" rIns="0" bIns="0" rtlCol="0" anchor="ctr"/>
          <a:lstStyle/>
          <a:p>
            <a:pPr marL="0" indent="0">
              <a:buNone/>
            </a:pPr>
            <a:r>
              <a:rPr lang="en-US" sz="900" dirty="0">
                <a:solidFill>
                  <a:srgbClr val="2D394F"/>
                </a:solidFill>
              </a:rPr>
              <a:t>Fuse LayerNorm + QKV projection into one kernel</a:t>
            </a:r>
            <a:endParaRPr lang="en-US" sz="900" dirty="0"/>
          </a:p>
        </p:txBody>
      </p:sp>
      <p:sp>
        <p:nvSpPr>
          <p:cNvPr id="35" name="Shape 30"/>
          <p:cNvSpPr/>
          <p:nvPr/>
        </p:nvSpPr>
        <p:spPr>
          <a:xfrm>
            <a:off x="6263640" y="3236976"/>
            <a:ext cx="118872" cy="118872"/>
          </a:xfrm>
          <a:prstGeom prst="ellipse">
            <a:avLst/>
          </a:prstGeom>
          <a:solidFill>
            <a:srgbClr val="F7ECDA"/>
          </a:solidFill>
          <a:ln/>
        </p:spPr>
        <p:txBody>
          <a:bodyPr/>
          <a:lstStyle/>
          <a:p>
            <a:endParaRPr/>
          </a:p>
        </p:txBody>
      </p:sp>
      <p:sp>
        <p:nvSpPr>
          <p:cNvPr id="36" name="Text 31"/>
          <p:cNvSpPr/>
          <p:nvPr/>
        </p:nvSpPr>
        <p:spPr>
          <a:xfrm>
            <a:off x="6428232" y="3200400"/>
            <a:ext cx="2578608" cy="320040"/>
          </a:xfrm>
          <a:prstGeom prst="rect">
            <a:avLst/>
          </a:prstGeom>
          <a:noFill/>
          <a:ln/>
        </p:spPr>
        <p:txBody>
          <a:bodyPr wrap="square" lIns="0" tIns="0" rIns="0" bIns="0" rtlCol="0" anchor="ctr"/>
          <a:lstStyle/>
          <a:p>
            <a:pPr marL="0" indent="0">
              <a:buNone/>
            </a:pPr>
            <a:r>
              <a:rPr lang="en-US" sz="900" dirty="0">
                <a:solidFill>
                  <a:srgbClr val="2D394F"/>
                </a:solidFill>
              </a:rPr>
              <a:t>Eliminate intermediate activation materialization</a:t>
            </a:r>
            <a:endParaRPr lang="en-US" sz="900" dirty="0"/>
          </a:p>
        </p:txBody>
      </p:sp>
      <p:sp>
        <p:nvSpPr>
          <p:cNvPr id="37" name="Shape 32"/>
          <p:cNvSpPr/>
          <p:nvPr/>
        </p:nvSpPr>
        <p:spPr>
          <a:xfrm>
            <a:off x="6263640" y="3621024"/>
            <a:ext cx="118872" cy="118872"/>
          </a:xfrm>
          <a:prstGeom prst="ellipse">
            <a:avLst/>
          </a:prstGeom>
          <a:solidFill>
            <a:srgbClr val="F7ECDA"/>
          </a:solidFill>
          <a:ln/>
        </p:spPr>
        <p:txBody>
          <a:bodyPr/>
          <a:lstStyle/>
          <a:p>
            <a:endParaRPr/>
          </a:p>
        </p:txBody>
      </p:sp>
      <p:sp>
        <p:nvSpPr>
          <p:cNvPr id="38" name="Text 33"/>
          <p:cNvSpPr/>
          <p:nvPr/>
        </p:nvSpPr>
        <p:spPr>
          <a:xfrm>
            <a:off x="6428232" y="3584448"/>
            <a:ext cx="2578608" cy="320040"/>
          </a:xfrm>
          <a:prstGeom prst="rect">
            <a:avLst/>
          </a:prstGeom>
          <a:noFill/>
          <a:ln/>
        </p:spPr>
        <p:txBody>
          <a:bodyPr wrap="square" lIns="0" tIns="0" rIns="0" bIns="0" rtlCol="0" anchor="ctr"/>
          <a:lstStyle/>
          <a:p>
            <a:pPr marL="0" indent="0">
              <a:buNone/>
            </a:pPr>
            <a:r>
              <a:rPr lang="en-US" sz="900" dirty="0">
                <a:solidFill>
                  <a:srgbClr val="2D394F"/>
                </a:solidFill>
              </a:rPr>
              <a:t>Reduces round-trips between SRAM and HBM</a:t>
            </a:r>
            <a:endParaRPr lang="en-US" sz="900" dirty="0"/>
          </a:p>
        </p:txBody>
      </p:sp>
      <p:sp>
        <p:nvSpPr>
          <p:cNvPr id="39" name="Shape 34"/>
          <p:cNvSpPr/>
          <p:nvPr/>
        </p:nvSpPr>
        <p:spPr>
          <a:xfrm>
            <a:off x="6263640" y="4005072"/>
            <a:ext cx="118872" cy="118872"/>
          </a:xfrm>
          <a:prstGeom prst="ellipse">
            <a:avLst/>
          </a:prstGeom>
          <a:solidFill>
            <a:srgbClr val="F7ECDA"/>
          </a:solidFill>
          <a:ln/>
        </p:spPr>
        <p:txBody>
          <a:bodyPr/>
          <a:lstStyle/>
          <a:p>
            <a:endParaRPr/>
          </a:p>
        </p:txBody>
      </p:sp>
      <p:sp>
        <p:nvSpPr>
          <p:cNvPr id="40" name="Text 35"/>
          <p:cNvSpPr/>
          <p:nvPr/>
        </p:nvSpPr>
        <p:spPr>
          <a:xfrm>
            <a:off x="6428232" y="3968496"/>
            <a:ext cx="2578608" cy="320040"/>
          </a:xfrm>
          <a:prstGeom prst="rect">
            <a:avLst/>
          </a:prstGeom>
          <a:noFill/>
          <a:ln/>
        </p:spPr>
        <p:txBody>
          <a:bodyPr wrap="square" lIns="0" tIns="0" rIns="0" bIns="0" rtlCol="0" anchor="ctr"/>
          <a:lstStyle/>
          <a:p>
            <a:pPr marL="0" indent="0">
              <a:buNone/>
            </a:pPr>
            <a:r>
              <a:rPr lang="en-US" sz="900" dirty="0">
                <a:solidFill>
                  <a:srgbClr val="2D394F"/>
                </a:solidFill>
              </a:rPr>
              <a:t>Validates FlashAttention-style memory savings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C8C84"/>
          </a:solidFill>
          <a:ln/>
        </p:spPr>
        <p:txBody>
          <a:bodyPr/>
          <a:lstStyle/>
          <a:p>
            <a:endParaRPr/>
          </a:p>
        </p:txBody>
      </p:sp>
      <p:sp>
        <p:nvSpPr>
          <p:cNvPr id="3" name="Text 1"/>
          <p:cNvSpPr/>
          <p:nvPr/>
        </p:nvSpPr>
        <p:spPr>
          <a:xfrm>
            <a:off x="320040" y="164592"/>
            <a:ext cx="8503920" cy="411480"/>
          </a:xfrm>
          <a:prstGeom prst="rect">
            <a:avLst/>
          </a:prstGeom>
          <a:noFill/>
          <a:ln/>
        </p:spPr>
        <p:txBody>
          <a:bodyPr wrap="square" rtlCol="0" anchor="ctr"/>
          <a:lstStyle/>
          <a:p>
            <a:pPr marL="0" indent="0">
              <a:buNone/>
            </a:pPr>
            <a:r>
              <a:rPr lang="en-US" sz="2000" b="1" kern="0" spc="200" dirty="0">
                <a:solidFill>
                  <a:srgbClr val="2C8C84"/>
                </a:solidFill>
              </a:rPr>
              <a:t>OPTIMIZATION IMPACT — MEMORY TRAFFIC REDUCTION</a:t>
            </a:r>
            <a:endParaRPr lang="en-US" sz="2000" dirty="0"/>
          </a:p>
        </p:txBody>
      </p:sp>
      <p:sp>
        <p:nvSpPr>
          <p:cNvPr id="4" name="Text 2"/>
          <p:cNvSpPr/>
          <p:nvPr/>
        </p:nvSpPr>
        <p:spPr>
          <a:xfrm>
            <a:off x="320040" y="548640"/>
            <a:ext cx="8503920" cy="256032"/>
          </a:xfrm>
          <a:prstGeom prst="rect">
            <a:avLst/>
          </a:prstGeom>
          <a:noFill/>
          <a:ln/>
        </p:spPr>
        <p:txBody>
          <a:bodyPr wrap="square" rtlCol="0" anchor="ctr"/>
          <a:lstStyle/>
          <a:p>
            <a:pPr marL="0" indent="0">
              <a:buNone/>
            </a:pPr>
            <a:r>
              <a:rPr lang="en-US" sz="1000" dirty="0">
                <a:solidFill>
                  <a:srgbClr val="636F86"/>
                </a:solidFill>
              </a:rPr>
              <a:t>08 — All three optimizations evaluated across sequence lengths</a:t>
            </a:r>
            <a:endParaRPr lang="en-US" sz="1000" dirty="0"/>
          </a:p>
        </p:txBody>
      </p:sp>
      <p:pic>
        <p:nvPicPr>
          <p:cNvPr id="5" name="Image 0" descr="preencoded.png"/>
          <p:cNvPicPr>
            <a:picLocks noChangeAspect="1"/>
          </p:cNvPicPr>
          <p:nvPr/>
        </p:nvPicPr>
        <p:blipFill>
          <a:blip r:embed="rId3"/>
          <a:stretch>
            <a:fillRect/>
          </a:stretch>
        </p:blipFill>
        <p:spPr>
          <a:xfrm>
            <a:off x="352044" y="804672"/>
            <a:ext cx="5943600" cy="4023360"/>
          </a:xfrm>
          <a:prstGeom prst="rect">
            <a:avLst/>
          </a:prstGeom>
          <a:ln/>
        </p:spPr>
      </p:pic>
      <p:sp>
        <p:nvSpPr>
          <p:cNvPr id="6" name="Shape 3"/>
          <p:cNvSpPr/>
          <p:nvPr/>
        </p:nvSpPr>
        <p:spPr>
          <a:xfrm>
            <a:off x="6376987" y="877062"/>
            <a:ext cx="2514600" cy="928878"/>
          </a:xfrm>
          <a:prstGeom prst="rect">
            <a:avLst/>
          </a:prstGeom>
          <a:solidFill>
            <a:srgbClr val="FFFFFF"/>
          </a:solidFill>
          <a:ln w="19050">
            <a:solidFill>
              <a:srgbClr val="2C8C84"/>
            </a:solidFill>
            <a:prstDash val="solid"/>
          </a:ln>
        </p:spPr>
        <p:txBody>
          <a:bodyPr/>
          <a:lstStyle/>
          <a:p>
            <a:endParaRPr/>
          </a:p>
        </p:txBody>
      </p:sp>
      <p:sp>
        <p:nvSpPr>
          <p:cNvPr id="7" name="Text 4"/>
          <p:cNvSpPr/>
          <p:nvPr/>
        </p:nvSpPr>
        <p:spPr>
          <a:xfrm>
            <a:off x="6497002" y="856107"/>
            <a:ext cx="2331720" cy="256032"/>
          </a:xfrm>
          <a:prstGeom prst="rect">
            <a:avLst/>
          </a:prstGeom>
          <a:noFill/>
          <a:ln/>
        </p:spPr>
        <p:txBody>
          <a:bodyPr wrap="square" lIns="0" tIns="0" rIns="0" bIns="0" rtlCol="0" anchor="ctr"/>
          <a:lstStyle/>
          <a:p>
            <a:pPr marL="0" indent="0">
              <a:buNone/>
            </a:pPr>
            <a:r>
              <a:rPr lang="en-US" sz="1000" b="1" dirty="0">
                <a:solidFill>
                  <a:srgbClr val="2C8C84"/>
                </a:solidFill>
              </a:rPr>
              <a:t>INT4 Compression</a:t>
            </a:r>
            <a:endParaRPr lang="en-US" sz="1000" dirty="0"/>
          </a:p>
        </p:txBody>
      </p:sp>
      <p:sp>
        <p:nvSpPr>
          <p:cNvPr id="8" name="Text 5"/>
          <p:cNvSpPr/>
          <p:nvPr/>
        </p:nvSpPr>
        <p:spPr>
          <a:xfrm>
            <a:off x="6492240" y="1156906"/>
            <a:ext cx="914400" cy="475488"/>
          </a:xfrm>
          <a:prstGeom prst="rect">
            <a:avLst/>
          </a:prstGeom>
          <a:noFill/>
          <a:ln/>
        </p:spPr>
        <p:txBody>
          <a:bodyPr wrap="square" lIns="0" tIns="0" rIns="0" bIns="0" rtlCol="0" anchor="ctr"/>
          <a:lstStyle/>
          <a:p>
            <a:pPr marL="0" indent="0">
              <a:buNone/>
            </a:pPr>
            <a:r>
              <a:rPr lang="en-US" sz="2800" b="1" dirty="0">
                <a:solidFill>
                  <a:srgbClr val="2D394F"/>
                </a:solidFill>
              </a:rPr>
              <a:t>75%</a:t>
            </a:r>
            <a:endParaRPr lang="en-US" sz="2800" dirty="0"/>
          </a:p>
        </p:txBody>
      </p:sp>
      <p:sp>
        <p:nvSpPr>
          <p:cNvPr id="9" name="Text 6"/>
          <p:cNvSpPr/>
          <p:nvPr/>
        </p:nvSpPr>
        <p:spPr>
          <a:xfrm>
            <a:off x="7498080" y="1123950"/>
            <a:ext cx="1417320" cy="475488"/>
          </a:xfrm>
          <a:prstGeom prst="rect">
            <a:avLst/>
          </a:prstGeom>
          <a:noFill/>
          <a:ln/>
        </p:spPr>
        <p:txBody>
          <a:bodyPr wrap="square" lIns="0" tIns="0" rIns="0" bIns="0" rtlCol="0" anchor="ctr"/>
          <a:lstStyle/>
          <a:p>
            <a:pPr marL="0" indent="0">
              <a:buNone/>
            </a:pPr>
            <a:r>
              <a:rPr lang="en-US" sz="900" dirty="0">
                <a:solidFill>
                  <a:srgbClr val="636F86"/>
                </a:solidFill>
              </a:rPr>
              <a:t>Constant reduction</a:t>
            </a:r>
            <a:endParaRPr lang="en-US" sz="900" dirty="0"/>
          </a:p>
          <a:p>
            <a:pPr marL="0" indent="0">
              <a:buNone/>
            </a:pPr>
            <a:r>
              <a:rPr lang="en-US" sz="900" dirty="0">
                <a:solidFill>
                  <a:srgbClr val="636F86"/>
                </a:solidFill>
              </a:rPr>
              <a:t>across all seq lengths</a:t>
            </a:r>
            <a:endParaRPr lang="en-US" sz="900" dirty="0"/>
          </a:p>
        </p:txBody>
      </p:sp>
      <p:sp>
        <p:nvSpPr>
          <p:cNvPr id="10" name="Shape 7"/>
          <p:cNvSpPr/>
          <p:nvPr/>
        </p:nvSpPr>
        <p:spPr>
          <a:xfrm>
            <a:off x="6400800" y="1922145"/>
            <a:ext cx="2514600" cy="928879"/>
          </a:xfrm>
          <a:prstGeom prst="rect">
            <a:avLst/>
          </a:prstGeom>
          <a:solidFill>
            <a:srgbClr val="FFFFFF"/>
          </a:solidFill>
          <a:ln w="19050">
            <a:solidFill>
              <a:srgbClr val="8A7AC8"/>
            </a:solidFill>
            <a:prstDash val="solid"/>
          </a:ln>
        </p:spPr>
        <p:txBody>
          <a:bodyPr/>
          <a:lstStyle/>
          <a:p>
            <a:endParaRPr/>
          </a:p>
        </p:txBody>
      </p:sp>
      <p:sp>
        <p:nvSpPr>
          <p:cNvPr id="11" name="Text 8"/>
          <p:cNvSpPr/>
          <p:nvPr/>
        </p:nvSpPr>
        <p:spPr>
          <a:xfrm>
            <a:off x="6497002" y="1933956"/>
            <a:ext cx="2331720" cy="256032"/>
          </a:xfrm>
          <a:prstGeom prst="rect">
            <a:avLst/>
          </a:prstGeom>
          <a:noFill/>
          <a:ln/>
        </p:spPr>
        <p:txBody>
          <a:bodyPr wrap="square" lIns="0" tIns="0" rIns="0" bIns="0" rtlCol="0" anchor="ctr"/>
          <a:lstStyle/>
          <a:p>
            <a:pPr marL="0" indent="0">
              <a:buNone/>
            </a:pPr>
            <a:r>
              <a:rPr lang="en-US" sz="1000" b="1" dirty="0">
                <a:solidFill>
                  <a:srgbClr val="2F3F73"/>
                </a:solidFill>
              </a:rPr>
              <a:t>Attn Windowing</a:t>
            </a:r>
            <a:endParaRPr lang="en-US" sz="1000" dirty="0"/>
          </a:p>
        </p:txBody>
      </p:sp>
      <p:sp>
        <p:nvSpPr>
          <p:cNvPr id="12" name="Text 9"/>
          <p:cNvSpPr/>
          <p:nvPr/>
        </p:nvSpPr>
        <p:spPr>
          <a:xfrm>
            <a:off x="6592252" y="2231132"/>
            <a:ext cx="914400" cy="475488"/>
          </a:xfrm>
          <a:prstGeom prst="rect">
            <a:avLst/>
          </a:prstGeom>
          <a:noFill/>
          <a:ln/>
        </p:spPr>
        <p:txBody>
          <a:bodyPr wrap="square" lIns="0" tIns="0" rIns="0" bIns="0" rtlCol="0" anchor="ctr"/>
          <a:lstStyle/>
          <a:p>
            <a:pPr marL="0" indent="0">
              <a:buNone/>
            </a:pPr>
            <a:r>
              <a:rPr lang="en-US" sz="2800" b="1" dirty="0">
                <a:solidFill>
                  <a:srgbClr val="2D394F"/>
                </a:solidFill>
              </a:rPr>
              <a:t>97%</a:t>
            </a:r>
            <a:endParaRPr lang="en-US" sz="2800" dirty="0"/>
          </a:p>
        </p:txBody>
      </p:sp>
      <p:sp>
        <p:nvSpPr>
          <p:cNvPr id="13" name="Text 10"/>
          <p:cNvSpPr/>
          <p:nvPr/>
        </p:nvSpPr>
        <p:spPr>
          <a:xfrm>
            <a:off x="7787640" y="2215134"/>
            <a:ext cx="1417320" cy="475488"/>
          </a:xfrm>
          <a:prstGeom prst="rect">
            <a:avLst/>
          </a:prstGeom>
          <a:noFill/>
          <a:ln/>
        </p:spPr>
        <p:txBody>
          <a:bodyPr wrap="square" lIns="0" tIns="0" rIns="0" bIns="0" rtlCol="0" anchor="ctr"/>
          <a:lstStyle/>
          <a:p>
            <a:pPr marL="0" indent="0">
              <a:buNone/>
            </a:pPr>
            <a:r>
              <a:rPr lang="en-US" sz="900" dirty="0">
                <a:solidFill>
                  <a:srgbClr val="636F86"/>
                </a:solidFill>
              </a:rPr>
              <a:t>At 16K context</a:t>
            </a:r>
            <a:endParaRPr lang="en-US" sz="900" dirty="0"/>
          </a:p>
          <a:p>
            <a:pPr marL="0" indent="0">
              <a:buNone/>
            </a:pPr>
            <a:r>
              <a:rPr lang="en-US" sz="900" dirty="0">
                <a:solidFill>
                  <a:srgbClr val="636F86"/>
                </a:solidFill>
              </a:rPr>
              <a:t>(50% at 1K)</a:t>
            </a:r>
            <a:endParaRPr lang="en-US" sz="900" dirty="0"/>
          </a:p>
        </p:txBody>
      </p:sp>
      <p:sp>
        <p:nvSpPr>
          <p:cNvPr id="14" name="Shape 11"/>
          <p:cNvSpPr/>
          <p:nvPr/>
        </p:nvSpPr>
        <p:spPr>
          <a:xfrm>
            <a:off x="6400800" y="2967229"/>
            <a:ext cx="2514600" cy="772098"/>
          </a:xfrm>
          <a:prstGeom prst="rect">
            <a:avLst/>
          </a:prstGeom>
          <a:solidFill>
            <a:srgbClr val="FFFFFF"/>
          </a:solidFill>
          <a:ln w="19050">
            <a:solidFill>
              <a:srgbClr val="D4A256"/>
            </a:solidFill>
            <a:prstDash val="solid"/>
          </a:ln>
        </p:spPr>
        <p:txBody>
          <a:bodyPr/>
          <a:lstStyle/>
          <a:p>
            <a:endParaRPr/>
          </a:p>
        </p:txBody>
      </p:sp>
      <p:sp>
        <p:nvSpPr>
          <p:cNvPr id="15" name="Text 12"/>
          <p:cNvSpPr/>
          <p:nvPr/>
        </p:nvSpPr>
        <p:spPr>
          <a:xfrm>
            <a:off x="6497002" y="2994656"/>
            <a:ext cx="2331720" cy="256032"/>
          </a:xfrm>
          <a:prstGeom prst="rect">
            <a:avLst/>
          </a:prstGeom>
          <a:noFill/>
          <a:ln/>
        </p:spPr>
        <p:txBody>
          <a:bodyPr wrap="square" lIns="0" tIns="0" rIns="0" bIns="0" rtlCol="0" anchor="ctr"/>
          <a:lstStyle/>
          <a:p>
            <a:pPr marL="0" indent="0">
              <a:buNone/>
            </a:pPr>
            <a:r>
              <a:rPr lang="en-US" sz="1000" b="1" dirty="0">
                <a:solidFill>
                  <a:srgbClr val="D4A256"/>
                </a:solidFill>
              </a:rPr>
              <a:t>Op. Fusion</a:t>
            </a:r>
            <a:endParaRPr lang="en-US" sz="1000" dirty="0"/>
          </a:p>
        </p:txBody>
      </p:sp>
      <p:sp>
        <p:nvSpPr>
          <p:cNvPr id="16" name="Text 13"/>
          <p:cNvSpPr/>
          <p:nvPr/>
        </p:nvSpPr>
        <p:spPr>
          <a:xfrm>
            <a:off x="6492240" y="3749040"/>
            <a:ext cx="914400" cy="475488"/>
          </a:xfrm>
          <a:prstGeom prst="rect">
            <a:avLst/>
          </a:prstGeom>
          <a:noFill/>
          <a:ln/>
        </p:spPr>
        <p:txBody>
          <a:bodyPr wrap="square" lIns="0" tIns="0" rIns="0" bIns="0" rtlCol="0" anchor="ctr"/>
          <a:lstStyle/>
          <a:p>
            <a:pPr marL="0" indent="0">
              <a:buNone/>
            </a:pPr>
            <a:endParaRPr lang="en-US" sz="2800" dirty="0"/>
          </a:p>
        </p:txBody>
      </p:sp>
      <p:sp>
        <p:nvSpPr>
          <p:cNvPr id="17" name="Text 14"/>
          <p:cNvSpPr/>
          <p:nvPr/>
        </p:nvSpPr>
        <p:spPr>
          <a:xfrm>
            <a:off x="6492240" y="3197823"/>
            <a:ext cx="1417320" cy="475488"/>
          </a:xfrm>
          <a:prstGeom prst="rect">
            <a:avLst/>
          </a:prstGeom>
          <a:noFill/>
          <a:ln/>
        </p:spPr>
        <p:txBody>
          <a:bodyPr wrap="square" lIns="0" tIns="0" rIns="0" bIns="0" rtlCol="0" anchor="ctr"/>
          <a:lstStyle/>
          <a:p>
            <a:pPr marL="0" indent="0">
              <a:buNone/>
            </a:pPr>
            <a:r>
              <a:rPr lang="en-US" sz="900" dirty="0">
                <a:solidFill>
                  <a:srgbClr val="636F86"/>
                </a:solidFill>
              </a:rPr>
              <a:t>Eliminates intermediate</a:t>
            </a:r>
            <a:endParaRPr lang="en-US" sz="900" dirty="0"/>
          </a:p>
          <a:p>
            <a:pPr marL="0" indent="0">
              <a:buNone/>
            </a:pPr>
            <a:r>
              <a:rPr lang="en-US" sz="900" dirty="0">
                <a:solidFill>
                  <a:srgbClr val="636F86"/>
                </a:solidFill>
              </a:rPr>
              <a:t>activation traffic</a:t>
            </a:r>
            <a:endParaRPr lang="en-US" sz="900" dirty="0"/>
          </a:p>
        </p:txBody>
      </p:sp>
      <p:sp>
        <p:nvSpPr>
          <p:cNvPr id="18" name="Shape 15"/>
          <p:cNvSpPr/>
          <p:nvPr/>
        </p:nvSpPr>
        <p:spPr>
          <a:xfrm>
            <a:off x="6400800" y="3876477"/>
            <a:ext cx="2514600" cy="951555"/>
          </a:xfrm>
          <a:prstGeom prst="rect">
            <a:avLst/>
          </a:prstGeom>
          <a:solidFill>
            <a:srgbClr val="F7F1E8"/>
          </a:solidFill>
          <a:ln w="19050">
            <a:solidFill>
              <a:srgbClr val="D4A256"/>
            </a:solidFill>
            <a:prstDash val="solid"/>
          </a:ln>
        </p:spPr>
        <p:txBody>
          <a:bodyPr/>
          <a:lstStyle/>
          <a:p>
            <a:endParaRPr/>
          </a:p>
        </p:txBody>
      </p:sp>
      <p:sp>
        <p:nvSpPr>
          <p:cNvPr id="19" name="Text 16"/>
          <p:cNvSpPr/>
          <p:nvPr/>
        </p:nvSpPr>
        <p:spPr>
          <a:xfrm>
            <a:off x="6492240" y="3936870"/>
            <a:ext cx="2331720" cy="256032"/>
          </a:xfrm>
          <a:prstGeom prst="rect">
            <a:avLst/>
          </a:prstGeom>
          <a:noFill/>
          <a:ln/>
        </p:spPr>
        <p:txBody>
          <a:bodyPr wrap="square" lIns="0" tIns="0" rIns="0" bIns="0" rtlCol="0" anchor="ctr"/>
          <a:lstStyle/>
          <a:p>
            <a:pPr marL="0" indent="0">
              <a:buNone/>
            </a:pPr>
            <a:r>
              <a:rPr lang="en-US" sz="1000" b="1" dirty="0">
                <a:solidFill>
                  <a:srgbClr val="D4A256"/>
                </a:solidFill>
              </a:rPr>
              <a:t>COMBINED EFFECT</a:t>
            </a:r>
            <a:endParaRPr lang="en-US" sz="1000" dirty="0"/>
          </a:p>
        </p:txBody>
      </p:sp>
      <p:sp>
        <p:nvSpPr>
          <p:cNvPr id="20" name="Text 17"/>
          <p:cNvSpPr/>
          <p:nvPr/>
        </p:nvSpPr>
        <p:spPr>
          <a:xfrm>
            <a:off x="6492240" y="4118988"/>
            <a:ext cx="2331720" cy="594360"/>
          </a:xfrm>
          <a:prstGeom prst="rect">
            <a:avLst/>
          </a:prstGeom>
          <a:noFill/>
          <a:ln/>
        </p:spPr>
        <p:txBody>
          <a:bodyPr wrap="square" lIns="0" tIns="0" rIns="0" bIns="0" rtlCol="0" anchor="ctr"/>
          <a:lstStyle/>
          <a:p>
            <a:pPr marL="0" indent="0">
              <a:buNone/>
            </a:pPr>
            <a:r>
              <a:rPr lang="en-US" sz="900" dirty="0">
                <a:solidFill>
                  <a:srgbClr val="2D394F"/>
                </a:solidFill>
              </a:rPr>
              <a:t>All three optimizations are independent and additive. Deploying all three together maximizes HBM headroom and reduces DRAM traffic.</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C8C84"/>
          </a:solidFill>
          <a:ln/>
        </p:spPr>
        <p:txBody>
          <a:bodyPr/>
          <a:lstStyle/>
          <a:p>
            <a:endParaRPr/>
          </a:p>
        </p:txBody>
      </p:sp>
      <p:sp>
        <p:nvSpPr>
          <p:cNvPr id="3" name="Text 1"/>
          <p:cNvSpPr/>
          <p:nvPr/>
        </p:nvSpPr>
        <p:spPr>
          <a:xfrm>
            <a:off x="320040" y="164592"/>
            <a:ext cx="8503920" cy="411480"/>
          </a:xfrm>
          <a:prstGeom prst="rect">
            <a:avLst/>
          </a:prstGeom>
          <a:noFill/>
          <a:ln/>
        </p:spPr>
        <p:txBody>
          <a:bodyPr wrap="square" rtlCol="0" anchor="ctr"/>
          <a:lstStyle/>
          <a:p>
            <a:pPr marL="0" indent="0">
              <a:buNone/>
            </a:pPr>
            <a:r>
              <a:rPr lang="en-US" sz="2000" b="1" kern="0" spc="200" dirty="0">
                <a:solidFill>
                  <a:srgbClr val="2C8C84"/>
                </a:solidFill>
              </a:rPr>
              <a:t>MIGRATION POLICY — DETAIL</a:t>
            </a:r>
            <a:endParaRPr lang="en-US" sz="2000" dirty="0"/>
          </a:p>
        </p:txBody>
      </p:sp>
      <p:sp>
        <p:nvSpPr>
          <p:cNvPr id="4" name="Text 2"/>
          <p:cNvSpPr/>
          <p:nvPr/>
        </p:nvSpPr>
        <p:spPr>
          <a:xfrm>
            <a:off x="320040" y="548640"/>
            <a:ext cx="8503920" cy="256032"/>
          </a:xfrm>
          <a:prstGeom prst="rect">
            <a:avLst/>
          </a:prstGeom>
          <a:noFill/>
          <a:ln/>
        </p:spPr>
        <p:txBody>
          <a:bodyPr wrap="square" rtlCol="0" anchor="ctr"/>
          <a:lstStyle/>
          <a:p>
            <a:pPr marL="0" indent="0">
              <a:buNone/>
            </a:pPr>
            <a:r>
              <a:rPr lang="en-US" sz="1000" dirty="0">
                <a:solidFill>
                  <a:srgbClr val="636F86"/>
                </a:solidFill>
              </a:rPr>
              <a:t>10 — Eviction · Promotion · Prefetch · Design constraints</a:t>
            </a:r>
            <a:endParaRPr lang="en-US" sz="1000" dirty="0"/>
          </a:p>
        </p:txBody>
      </p:sp>
      <p:sp>
        <p:nvSpPr>
          <p:cNvPr id="5" name="Shape 3"/>
          <p:cNvSpPr/>
          <p:nvPr/>
        </p:nvSpPr>
        <p:spPr>
          <a:xfrm>
            <a:off x="274320" y="914400"/>
            <a:ext cx="2743200" cy="3246120"/>
          </a:xfrm>
          <a:prstGeom prst="rect">
            <a:avLst/>
          </a:prstGeom>
          <a:solidFill>
            <a:srgbClr val="FFFFFF"/>
          </a:solidFill>
          <a:ln w="19050">
            <a:solidFill>
              <a:srgbClr val="D4A256"/>
            </a:solidFill>
            <a:prstDash val="solid"/>
          </a:ln>
        </p:spPr>
        <p:txBody>
          <a:bodyPr/>
          <a:lstStyle/>
          <a:p>
            <a:endParaRPr/>
          </a:p>
        </p:txBody>
      </p:sp>
      <p:sp>
        <p:nvSpPr>
          <p:cNvPr id="6" name="Shape 4"/>
          <p:cNvSpPr/>
          <p:nvPr/>
        </p:nvSpPr>
        <p:spPr>
          <a:xfrm>
            <a:off x="274320" y="914400"/>
            <a:ext cx="2743200" cy="365760"/>
          </a:xfrm>
          <a:prstGeom prst="rect">
            <a:avLst/>
          </a:prstGeom>
          <a:solidFill>
            <a:srgbClr val="F7ECDA"/>
          </a:solidFill>
          <a:ln/>
        </p:spPr>
        <p:txBody>
          <a:bodyPr/>
          <a:lstStyle/>
          <a:p>
            <a:endParaRPr/>
          </a:p>
        </p:txBody>
      </p:sp>
      <p:sp>
        <p:nvSpPr>
          <p:cNvPr id="7" name="Text 5"/>
          <p:cNvSpPr/>
          <p:nvPr/>
        </p:nvSpPr>
        <p:spPr>
          <a:xfrm>
            <a:off x="274320" y="914400"/>
            <a:ext cx="2743200" cy="365760"/>
          </a:xfrm>
          <a:prstGeom prst="rect">
            <a:avLst/>
          </a:prstGeom>
          <a:noFill/>
          <a:ln/>
        </p:spPr>
        <p:txBody>
          <a:bodyPr wrap="square" lIns="0" tIns="0" rIns="0" bIns="0" rtlCol="0" anchor="ctr"/>
          <a:lstStyle/>
          <a:p>
            <a:pPr marL="0" indent="0" algn="ctr">
              <a:buNone/>
            </a:pPr>
            <a:r>
              <a:rPr lang="en-US" sz="950" b="1" dirty="0">
                <a:solidFill>
                  <a:srgbClr val="2D394F"/>
                </a:solidFill>
              </a:rPr>
              <a:t>EVICTION (HBM → DRAM)</a:t>
            </a:r>
            <a:endParaRPr lang="en-US" sz="950" dirty="0"/>
          </a:p>
        </p:txBody>
      </p:sp>
      <p:sp>
        <p:nvSpPr>
          <p:cNvPr id="8" name="Shape 6"/>
          <p:cNvSpPr/>
          <p:nvPr/>
        </p:nvSpPr>
        <p:spPr>
          <a:xfrm>
            <a:off x="365760" y="1371600"/>
            <a:ext cx="91440" cy="91440"/>
          </a:xfrm>
          <a:prstGeom prst="ellipse">
            <a:avLst/>
          </a:prstGeom>
          <a:solidFill>
            <a:srgbClr val="F7ECDA"/>
          </a:solidFill>
          <a:ln/>
        </p:spPr>
        <p:txBody>
          <a:bodyPr/>
          <a:lstStyle/>
          <a:p>
            <a:endParaRPr/>
          </a:p>
        </p:txBody>
      </p:sp>
      <p:sp>
        <p:nvSpPr>
          <p:cNvPr id="9" name="Text 7"/>
          <p:cNvSpPr/>
          <p:nvPr/>
        </p:nvSpPr>
        <p:spPr>
          <a:xfrm>
            <a:off x="521208" y="1344168"/>
            <a:ext cx="2423160" cy="274320"/>
          </a:xfrm>
          <a:prstGeom prst="rect">
            <a:avLst/>
          </a:prstGeom>
          <a:noFill/>
          <a:ln/>
        </p:spPr>
        <p:txBody>
          <a:bodyPr wrap="square" lIns="0" tIns="0" rIns="0" bIns="0" rtlCol="0" anchor="ctr"/>
          <a:lstStyle/>
          <a:p>
            <a:pPr marL="0" indent="0">
              <a:buNone/>
            </a:pPr>
            <a:r>
              <a:rPr lang="en-US" sz="900" dirty="0">
                <a:solidFill>
                  <a:srgbClr val="2D394F"/>
                </a:solidFill>
              </a:rPr>
              <a:t>Trigger: HBM &gt; 80% capacity</a:t>
            </a:r>
            <a:endParaRPr lang="en-US" sz="900" dirty="0"/>
          </a:p>
        </p:txBody>
      </p:sp>
      <p:sp>
        <p:nvSpPr>
          <p:cNvPr id="10" name="Shape 8"/>
          <p:cNvSpPr/>
          <p:nvPr/>
        </p:nvSpPr>
        <p:spPr>
          <a:xfrm>
            <a:off x="365760" y="1700784"/>
            <a:ext cx="91440" cy="91440"/>
          </a:xfrm>
          <a:prstGeom prst="ellipse">
            <a:avLst/>
          </a:prstGeom>
          <a:solidFill>
            <a:srgbClr val="F7ECDA"/>
          </a:solidFill>
          <a:ln/>
        </p:spPr>
        <p:txBody>
          <a:bodyPr/>
          <a:lstStyle/>
          <a:p>
            <a:endParaRPr/>
          </a:p>
        </p:txBody>
      </p:sp>
      <p:sp>
        <p:nvSpPr>
          <p:cNvPr id="11" name="Text 9"/>
          <p:cNvSpPr/>
          <p:nvPr/>
        </p:nvSpPr>
        <p:spPr>
          <a:xfrm>
            <a:off x="521208" y="1673352"/>
            <a:ext cx="2423160" cy="274320"/>
          </a:xfrm>
          <a:prstGeom prst="rect">
            <a:avLst/>
          </a:prstGeom>
          <a:noFill/>
          <a:ln/>
        </p:spPr>
        <p:txBody>
          <a:bodyPr wrap="square" lIns="0" tIns="0" rIns="0" bIns="0" rtlCol="0" anchor="ctr"/>
          <a:lstStyle/>
          <a:p>
            <a:pPr marL="0" indent="0">
              <a:buNone/>
            </a:pPr>
            <a:r>
              <a:rPr lang="en-US" sz="900" dirty="0">
                <a:solidFill>
                  <a:srgbClr val="2D394F"/>
                </a:solidFill>
              </a:rPr>
              <a:t>LRU: sort by last_access timestamp</a:t>
            </a:r>
            <a:endParaRPr lang="en-US" sz="900" dirty="0"/>
          </a:p>
        </p:txBody>
      </p:sp>
      <p:sp>
        <p:nvSpPr>
          <p:cNvPr id="12" name="Shape 10"/>
          <p:cNvSpPr/>
          <p:nvPr/>
        </p:nvSpPr>
        <p:spPr>
          <a:xfrm>
            <a:off x="365760" y="2029968"/>
            <a:ext cx="91440" cy="91440"/>
          </a:xfrm>
          <a:prstGeom prst="ellipse">
            <a:avLst/>
          </a:prstGeom>
          <a:solidFill>
            <a:srgbClr val="F7ECDA"/>
          </a:solidFill>
          <a:ln/>
        </p:spPr>
        <p:txBody>
          <a:bodyPr/>
          <a:lstStyle/>
          <a:p>
            <a:endParaRPr/>
          </a:p>
        </p:txBody>
      </p:sp>
      <p:sp>
        <p:nvSpPr>
          <p:cNvPr id="13" name="Text 11"/>
          <p:cNvSpPr/>
          <p:nvPr/>
        </p:nvSpPr>
        <p:spPr>
          <a:xfrm>
            <a:off x="521208" y="2002536"/>
            <a:ext cx="2423160" cy="274320"/>
          </a:xfrm>
          <a:prstGeom prst="rect">
            <a:avLst/>
          </a:prstGeom>
          <a:noFill/>
          <a:ln/>
        </p:spPr>
        <p:txBody>
          <a:bodyPr wrap="square" lIns="0" tIns="0" rIns="0" bIns="0" rtlCol="0" anchor="ctr"/>
          <a:lstStyle/>
          <a:p>
            <a:pPr marL="0" indent="0">
              <a:buNone/>
            </a:pPr>
            <a:r>
              <a:rPr lang="en-US" sz="900" dirty="0">
                <a:solidFill>
                  <a:srgbClr val="2D394F"/>
                </a:solidFill>
              </a:rPr>
              <a:t>ASEP: sort by attention score (ascending)</a:t>
            </a:r>
            <a:endParaRPr lang="en-US" sz="900" dirty="0"/>
          </a:p>
        </p:txBody>
      </p:sp>
      <p:sp>
        <p:nvSpPr>
          <p:cNvPr id="14" name="Shape 12"/>
          <p:cNvSpPr/>
          <p:nvPr/>
        </p:nvSpPr>
        <p:spPr>
          <a:xfrm>
            <a:off x="365760" y="2359152"/>
            <a:ext cx="91440" cy="91440"/>
          </a:xfrm>
          <a:prstGeom prst="ellipse">
            <a:avLst/>
          </a:prstGeom>
          <a:solidFill>
            <a:srgbClr val="F7ECDA"/>
          </a:solidFill>
          <a:ln/>
        </p:spPr>
        <p:txBody>
          <a:bodyPr/>
          <a:lstStyle/>
          <a:p>
            <a:endParaRPr/>
          </a:p>
        </p:txBody>
      </p:sp>
      <p:sp>
        <p:nvSpPr>
          <p:cNvPr id="15" name="Text 13"/>
          <p:cNvSpPr/>
          <p:nvPr/>
        </p:nvSpPr>
        <p:spPr>
          <a:xfrm>
            <a:off x="521208" y="2331720"/>
            <a:ext cx="2423160" cy="274320"/>
          </a:xfrm>
          <a:prstGeom prst="rect">
            <a:avLst/>
          </a:prstGeom>
          <a:noFill/>
          <a:ln/>
        </p:spPr>
        <p:txBody>
          <a:bodyPr wrap="square" lIns="0" tIns="0" rIns="0" bIns="0" rtlCol="0" anchor="ctr"/>
          <a:lstStyle/>
          <a:p>
            <a:pPr marL="0" indent="0">
              <a:buNone/>
            </a:pPr>
            <a:r>
              <a:rPr lang="en-US" sz="900" dirty="0">
                <a:solidFill>
                  <a:srgbClr val="2D394F"/>
                </a:solidFill>
              </a:rPr>
              <a:t>Score rules:</a:t>
            </a:r>
            <a:endParaRPr lang="en-US" sz="900" dirty="0"/>
          </a:p>
        </p:txBody>
      </p:sp>
      <p:sp>
        <p:nvSpPr>
          <p:cNvPr id="16" name="Shape 14"/>
          <p:cNvSpPr/>
          <p:nvPr/>
        </p:nvSpPr>
        <p:spPr>
          <a:xfrm>
            <a:off x="502920" y="2688336"/>
            <a:ext cx="91440" cy="91440"/>
          </a:xfrm>
          <a:prstGeom prst="ellipse">
            <a:avLst/>
          </a:prstGeom>
          <a:solidFill>
            <a:srgbClr val="F7ECDA"/>
          </a:solidFill>
          <a:ln/>
        </p:spPr>
        <p:txBody>
          <a:bodyPr/>
          <a:lstStyle/>
          <a:p>
            <a:endParaRPr/>
          </a:p>
        </p:txBody>
      </p:sp>
      <p:sp>
        <p:nvSpPr>
          <p:cNvPr id="17" name="Text 15"/>
          <p:cNvSpPr/>
          <p:nvPr/>
        </p:nvSpPr>
        <p:spPr>
          <a:xfrm>
            <a:off x="658368" y="2660904"/>
            <a:ext cx="2423160" cy="274320"/>
          </a:xfrm>
          <a:prstGeom prst="rect">
            <a:avLst/>
          </a:prstGeom>
          <a:noFill/>
          <a:ln/>
        </p:spPr>
        <p:txBody>
          <a:bodyPr wrap="square" lIns="0" tIns="0" rIns="0" bIns="0" rtlCol="0" anchor="ctr"/>
          <a:lstStyle/>
          <a:p>
            <a:pPr marL="0" indent="0">
              <a:buNone/>
            </a:pPr>
            <a:r>
              <a:rPr lang="en-US" sz="900" dirty="0">
                <a:solidFill>
                  <a:srgbClr val="2D394F"/>
                </a:solidFill>
              </a:rPr>
              <a:t>Last 20% tokens → score 3.0 (keep)</a:t>
            </a:r>
            <a:endParaRPr lang="en-US" sz="900" dirty="0"/>
          </a:p>
        </p:txBody>
      </p:sp>
      <p:sp>
        <p:nvSpPr>
          <p:cNvPr id="18" name="Shape 16"/>
          <p:cNvSpPr/>
          <p:nvPr/>
        </p:nvSpPr>
        <p:spPr>
          <a:xfrm>
            <a:off x="502920" y="3017520"/>
            <a:ext cx="91440" cy="91440"/>
          </a:xfrm>
          <a:prstGeom prst="ellipse">
            <a:avLst/>
          </a:prstGeom>
          <a:solidFill>
            <a:srgbClr val="F7ECDA"/>
          </a:solidFill>
          <a:ln/>
        </p:spPr>
        <p:txBody>
          <a:bodyPr/>
          <a:lstStyle/>
          <a:p>
            <a:endParaRPr/>
          </a:p>
        </p:txBody>
      </p:sp>
      <p:sp>
        <p:nvSpPr>
          <p:cNvPr id="19" name="Text 17"/>
          <p:cNvSpPr/>
          <p:nvPr/>
        </p:nvSpPr>
        <p:spPr>
          <a:xfrm>
            <a:off x="658368" y="2990088"/>
            <a:ext cx="2423160" cy="274320"/>
          </a:xfrm>
          <a:prstGeom prst="rect">
            <a:avLst/>
          </a:prstGeom>
          <a:noFill/>
          <a:ln/>
        </p:spPr>
        <p:txBody>
          <a:bodyPr wrap="square" lIns="0" tIns="0" rIns="0" bIns="0" rtlCol="0" anchor="ctr"/>
          <a:lstStyle/>
          <a:p>
            <a:pPr marL="0" indent="0">
              <a:buNone/>
            </a:pPr>
            <a:r>
              <a:rPr lang="en-US" sz="900" dirty="0">
                <a:solidFill>
                  <a:srgbClr val="2D394F"/>
                </a:solidFill>
              </a:rPr>
              <a:t>First 5% tokens → score 2.0 (keep)</a:t>
            </a:r>
            <a:endParaRPr lang="en-US" sz="900" dirty="0"/>
          </a:p>
        </p:txBody>
      </p:sp>
      <p:sp>
        <p:nvSpPr>
          <p:cNvPr id="20" name="Shape 18"/>
          <p:cNvSpPr/>
          <p:nvPr/>
        </p:nvSpPr>
        <p:spPr>
          <a:xfrm>
            <a:off x="502920" y="3346704"/>
            <a:ext cx="91440" cy="91440"/>
          </a:xfrm>
          <a:prstGeom prst="ellipse">
            <a:avLst/>
          </a:prstGeom>
          <a:solidFill>
            <a:srgbClr val="F7ECDA"/>
          </a:solidFill>
          <a:ln/>
        </p:spPr>
        <p:txBody>
          <a:bodyPr/>
          <a:lstStyle/>
          <a:p>
            <a:endParaRPr/>
          </a:p>
        </p:txBody>
      </p:sp>
      <p:sp>
        <p:nvSpPr>
          <p:cNvPr id="21" name="Text 19"/>
          <p:cNvSpPr/>
          <p:nvPr/>
        </p:nvSpPr>
        <p:spPr>
          <a:xfrm>
            <a:off x="658368" y="3319272"/>
            <a:ext cx="2423160" cy="274320"/>
          </a:xfrm>
          <a:prstGeom prst="rect">
            <a:avLst/>
          </a:prstGeom>
          <a:noFill/>
          <a:ln/>
        </p:spPr>
        <p:txBody>
          <a:bodyPr wrap="square" lIns="0" tIns="0" rIns="0" bIns="0" rtlCol="0" anchor="ctr"/>
          <a:lstStyle/>
          <a:p>
            <a:pPr marL="0" indent="0">
              <a:buNone/>
            </a:pPr>
            <a:r>
              <a:rPr lang="en-US" sz="900" dirty="0">
                <a:solidFill>
                  <a:srgbClr val="2D394F"/>
                </a:solidFill>
              </a:rPr>
              <a:t>Middle tokens → score 0.5 (evict)</a:t>
            </a:r>
            <a:endParaRPr lang="en-US" sz="900" dirty="0"/>
          </a:p>
        </p:txBody>
      </p:sp>
      <p:sp>
        <p:nvSpPr>
          <p:cNvPr id="22" name="Shape 20"/>
          <p:cNvSpPr/>
          <p:nvPr/>
        </p:nvSpPr>
        <p:spPr>
          <a:xfrm>
            <a:off x="365760" y="3675888"/>
            <a:ext cx="91440" cy="91440"/>
          </a:xfrm>
          <a:prstGeom prst="ellipse">
            <a:avLst/>
          </a:prstGeom>
          <a:solidFill>
            <a:srgbClr val="F7ECDA"/>
          </a:solidFill>
          <a:ln/>
        </p:spPr>
        <p:txBody>
          <a:bodyPr/>
          <a:lstStyle/>
          <a:p>
            <a:endParaRPr/>
          </a:p>
        </p:txBody>
      </p:sp>
      <p:sp>
        <p:nvSpPr>
          <p:cNvPr id="23" name="Text 21"/>
          <p:cNvSpPr/>
          <p:nvPr/>
        </p:nvSpPr>
        <p:spPr>
          <a:xfrm>
            <a:off x="521208" y="3648456"/>
            <a:ext cx="2423160" cy="274320"/>
          </a:xfrm>
          <a:prstGeom prst="rect">
            <a:avLst/>
          </a:prstGeom>
          <a:noFill/>
          <a:ln/>
        </p:spPr>
        <p:txBody>
          <a:bodyPr wrap="square" lIns="0" tIns="0" rIns="0" bIns="0" rtlCol="0" anchor="ctr"/>
          <a:lstStyle/>
          <a:p>
            <a:pPr marL="0" indent="0">
              <a:buNone/>
            </a:pPr>
            <a:r>
              <a:rPr lang="en-US" sz="900" dirty="0">
                <a:solidFill>
                  <a:srgbClr val="2D394F"/>
                </a:solidFill>
              </a:rPr>
              <a:t>Compress to INT4 before writing DRAM</a:t>
            </a:r>
            <a:endParaRPr lang="en-US" sz="900" dirty="0"/>
          </a:p>
        </p:txBody>
      </p:sp>
      <p:sp>
        <p:nvSpPr>
          <p:cNvPr id="24" name="Shape 22"/>
          <p:cNvSpPr/>
          <p:nvPr/>
        </p:nvSpPr>
        <p:spPr>
          <a:xfrm>
            <a:off x="3200400" y="914400"/>
            <a:ext cx="2743200" cy="3246120"/>
          </a:xfrm>
          <a:prstGeom prst="rect">
            <a:avLst/>
          </a:prstGeom>
          <a:solidFill>
            <a:srgbClr val="FFFFFF"/>
          </a:solidFill>
          <a:ln w="19050">
            <a:solidFill>
              <a:srgbClr val="D4A256"/>
            </a:solidFill>
            <a:prstDash val="solid"/>
          </a:ln>
        </p:spPr>
        <p:txBody>
          <a:bodyPr/>
          <a:lstStyle/>
          <a:p>
            <a:endParaRPr/>
          </a:p>
        </p:txBody>
      </p:sp>
      <p:sp>
        <p:nvSpPr>
          <p:cNvPr id="25" name="Shape 23"/>
          <p:cNvSpPr/>
          <p:nvPr/>
        </p:nvSpPr>
        <p:spPr>
          <a:xfrm>
            <a:off x="3200400" y="914400"/>
            <a:ext cx="2743200" cy="365760"/>
          </a:xfrm>
          <a:prstGeom prst="rect">
            <a:avLst/>
          </a:prstGeom>
          <a:solidFill>
            <a:srgbClr val="F7ECDA"/>
          </a:solidFill>
          <a:ln/>
        </p:spPr>
        <p:txBody>
          <a:bodyPr/>
          <a:lstStyle/>
          <a:p>
            <a:endParaRPr/>
          </a:p>
        </p:txBody>
      </p:sp>
      <p:sp>
        <p:nvSpPr>
          <p:cNvPr id="26" name="Text 24"/>
          <p:cNvSpPr/>
          <p:nvPr/>
        </p:nvSpPr>
        <p:spPr>
          <a:xfrm>
            <a:off x="3200400" y="914400"/>
            <a:ext cx="2743200" cy="365760"/>
          </a:xfrm>
          <a:prstGeom prst="rect">
            <a:avLst/>
          </a:prstGeom>
          <a:noFill/>
          <a:ln/>
        </p:spPr>
        <p:txBody>
          <a:bodyPr wrap="square" lIns="0" tIns="0" rIns="0" bIns="0" rtlCol="0" anchor="ctr"/>
          <a:lstStyle/>
          <a:p>
            <a:pPr marL="0" indent="0" algn="ctr">
              <a:buNone/>
            </a:pPr>
            <a:r>
              <a:rPr lang="en-US" sz="950" b="1" dirty="0">
                <a:solidFill>
                  <a:srgbClr val="2D394F"/>
                </a:solidFill>
              </a:rPr>
              <a:t>PROMOTION (DRAM → HBM)</a:t>
            </a:r>
            <a:endParaRPr lang="en-US" sz="950" dirty="0"/>
          </a:p>
        </p:txBody>
      </p:sp>
      <p:sp>
        <p:nvSpPr>
          <p:cNvPr id="27" name="Shape 25"/>
          <p:cNvSpPr/>
          <p:nvPr/>
        </p:nvSpPr>
        <p:spPr>
          <a:xfrm>
            <a:off x="3291840" y="1371600"/>
            <a:ext cx="91440" cy="91440"/>
          </a:xfrm>
          <a:prstGeom prst="ellipse">
            <a:avLst/>
          </a:prstGeom>
          <a:solidFill>
            <a:srgbClr val="F7ECDA"/>
          </a:solidFill>
          <a:ln/>
        </p:spPr>
        <p:txBody>
          <a:bodyPr/>
          <a:lstStyle/>
          <a:p>
            <a:endParaRPr/>
          </a:p>
        </p:txBody>
      </p:sp>
      <p:sp>
        <p:nvSpPr>
          <p:cNvPr id="28" name="Text 26"/>
          <p:cNvSpPr/>
          <p:nvPr/>
        </p:nvSpPr>
        <p:spPr>
          <a:xfrm>
            <a:off x="3447288" y="1344168"/>
            <a:ext cx="2423160" cy="274320"/>
          </a:xfrm>
          <a:prstGeom prst="rect">
            <a:avLst/>
          </a:prstGeom>
          <a:noFill/>
          <a:ln/>
        </p:spPr>
        <p:txBody>
          <a:bodyPr wrap="square" lIns="0" tIns="0" rIns="0" bIns="0" rtlCol="0" anchor="ctr"/>
          <a:lstStyle/>
          <a:p>
            <a:pPr marL="0" indent="0">
              <a:buNone/>
            </a:pPr>
            <a:r>
              <a:rPr lang="en-US" sz="900" dirty="0">
                <a:solidFill>
                  <a:srgbClr val="2D394F"/>
                </a:solidFill>
              </a:rPr>
              <a:t>Trigger: DRAM block score rises above 2.0</a:t>
            </a:r>
            <a:endParaRPr lang="en-US" sz="900" dirty="0"/>
          </a:p>
        </p:txBody>
      </p:sp>
      <p:sp>
        <p:nvSpPr>
          <p:cNvPr id="29" name="Shape 27"/>
          <p:cNvSpPr/>
          <p:nvPr/>
        </p:nvSpPr>
        <p:spPr>
          <a:xfrm>
            <a:off x="3291840" y="1700784"/>
            <a:ext cx="91440" cy="91440"/>
          </a:xfrm>
          <a:prstGeom prst="ellipse">
            <a:avLst/>
          </a:prstGeom>
          <a:solidFill>
            <a:srgbClr val="F7ECDA"/>
          </a:solidFill>
          <a:ln/>
        </p:spPr>
        <p:txBody>
          <a:bodyPr/>
          <a:lstStyle/>
          <a:p>
            <a:endParaRPr/>
          </a:p>
        </p:txBody>
      </p:sp>
      <p:sp>
        <p:nvSpPr>
          <p:cNvPr id="30" name="Text 28"/>
          <p:cNvSpPr/>
          <p:nvPr/>
        </p:nvSpPr>
        <p:spPr>
          <a:xfrm>
            <a:off x="3447288" y="1673352"/>
            <a:ext cx="2423160" cy="274320"/>
          </a:xfrm>
          <a:prstGeom prst="rect">
            <a:avLst/>
          </a:prstGeom>
          <a:noFill/>
          <a:ln/>
        </p:spPr>
        <p:txBody>
          <a:bodyPr wrap="square" lIns="0" tIns="0" rIns="0" bIns="0" rtlCol="0" anchor="ctr"/>
          <a:lstStyle/>
          <a:p>
            <a:pPr marL="0" indent="0">
              <a:buNone/>
            </a:pPr>
            <a:r>
              <a:rPr lang="en-US" sz="900" dirty="0">
                <a:solidFill>
                  <a:srgbClr val="2D394F"/>
                </a:solidFill>
              </a:rPr>
              <a:t>Block needed again at current decode step</a:t>
            </a:r>
            <a:endParaRPr lang="en-US" sz="900" dirty="0"/>
          </a:p>
        </p:txBody>
      </p:sp>
      <p:sp>
        <p:nvSpPr>
          <p:cNvPr id="31" name="Shape 29"/>
          <p:cNvSpPr/>
          <p:nvPr/>
        </p:nvSpPr>
        <p:spPr>
          <a:xfrm>
            <a:off x="3291840" y="2029968"/>
            <a:ext cx="91440" cy="91440"/>
          </a:xfrm>
          <a:prstGeom prst="ellipse">
            <a:avLst/>
          </a:prstGeom>
          <a:solidFill>
            <a:srgbClr val="F7ECDA"/>
          </a:solidFill>
          <a:ln/>
        </p:spPr>
        <p:txBody>
          <a:bodyPr/>
          <a:lstStyle/>
          <a:p>
            <a:endParaRPr/>
          </a:p>
        </p:txBody>
      </p:sp>
      <p:sp>
        <p:nvSpPr>
          <p:cNvPr id="32" name="Text 30"/>
          <p:cNvSpPr/>
          <p:nvPr/>
        </p:nvSpPr>
        <p:spPr>
          <a:xfrm>
            <a:off x="3447288" y="2002536"/>
            <a:ext cx="2423160" cy="274320"/>
          </a:xfrm>
          <a:prstGeom prst="rect">
            <a:avLst/>
          </a:prstGeom>
          <a:noFill/>
          <a:ln/>
        </p:spPr>
        <p:txBody>
          <a:bodyPr wrap="square" lIns="0" tIns="0" rIns="0" bIns="0" rtlCol="0" anchor="ctr"/>
          <a:lstStyle/>
          <a:p>
            <a:pPr marL="0" indent="0">
              <a:buNone/>
            </a:pPr>
            <a:r>
              <a:rPr lang="en-US" sz="900" dirty="0">
                <a:solidFill>
                  <a:srgbClr val="2D394F"/>
                </a:solidFill>
              </a:rPr>
              <a:t>Decompress INT4 → FP16 (4× size expansion)</a:t>
            </a:r>
            <a:endParaRPr lang="en-US" sz="900" dirty="0"/>
          </a:p>
        </p:txBody>
      </p:sp>
      <p:sp>
        <p:nvSpPr>
          <p:cNvPr id="33" name="Shape 31"/>
          <p:cNvSpPr/>
          <p:nvPr/>
        </p:nvSpPr>
        <p:spPr>
          <a:xfrm>
            <a:off x="3291840" y="2359152"/>
            <a:ext cx="91440" cy="91440"/>
          </a:xfrm>
          <a:prstGeom prst="ellipse">
            <a:avLst/>
          </a:prstGeom>
          <a:solidFill>
            <a:srgbClr val="F7ECDA"/>
          </a:solidFill>
          <a:ln/>
        </p:spPr>
        <p:txBody>
          <a:bodyPr/>
          <a:lstStyle/>
          <a:p>
            <a:endParaRPr/>
          </a:p>
        </p:txBody>
      </p:sp>
      <p:sp>
        <p:nvSpPr>
          <p:cNvPr id="34" name="Text 32"/>
          <p:cNvSpPr/>
          <p:nvPr/>
        </p:nvSpPr>
        <p:spPr>
          <a:xfrm>
            <a:off x="3447288" y="2331720"/>
            <a:ext cx="2423160" cy="274320"/>
          </a:xfrm>
          <a:prstGeom prst="rect">
            <a:avLst/>
          </a:prstGeom>
          <a:noFill/>
          <a:ln/>
        </p:spPr>
        <p:txBody>
          <a:bodyPr wrap="square" lIns="0" tIns="0" rIns="0" bIns="0" rtlCol="0" anchor="ctr"/>
          <a:lstStyle/>
          <a:p>
            <a:pPr marL="0" indent="0">
              <a:buNone/>
            </a:pPr>
            <a:r>
              <a:rPr lang="en-US" sz="900" dirty="0">
                <a:solidFill>
                  <a:srgbClr val="2D394F"/>
                </a:solidFill>
              </a:rPr>
              <a:t>If HBM full: evict another low-score block first</a:t>
            </a:r>
            <a:endParaRPr lang="en-US" sz="900" dirty="0"/>
          </a:p>
        </p:txBody>
      </p:sp>
      <p:sp>
        <p:nvSpPr>
          <p:cNvPr id="35" name="Shape 33"/>
          <p:cNvSpPr/>
          <p:nvPr/>
        </p:nvSpPr>
        <p:spPr>
          <a:xfrm>
            <a:off x="3291840" y="2688336"/>
            <a:ext cx="91440" cy="91440"/>
          </a:xfrm>
          <a:prstGeom prst="ellipse">
            <a:avLst/>
          </a:prstGeom>
          <a:solidFill>
            <a:srgbClr val="F7ECDA"/>
          </a:solidFill>
          <a:ln/>
        </p:spPr>
        <p:txBody>
          <a:bodyPr/>
          <a:lstStyle/>
          <a:p>
            <a:endParaRPr/>
          </a:p>
        </p:txBody>
      </p:sp>
      <p:sp>
        <p:nvSpPr>
          <p:cNvPr id="36" name="Text 34"/>
          <p:cNvSpPr/>
          <p:nvPr/>
        </p:nvSpPr>
        <p:spPr>
          <a:xfrm>
            <a:off x="3447288" y="2660904"/>
            <a:ext cx="2423160" cy="274320"/>
          </a:xfrm>
          <a:prstGeom prst="rect">
            <a:avLst/>
          </a:prstGeom>
          <a:noFill/>
          <a:ln/>
        </p:spPr>
        <p:txBody>
          <a:bodyPr wrap="square" lIns="0" tIns="0" rIns="0" bIns="0" rtlCol="0" anchor="ctr"/>
          <a:lstStyle/>
          <a:p>
            <a:pPr marL="0" indent="0">
              <a:buNone/>
            </a:pPr>
            <a:r>
              <a:rPr lang="en-US" sz="900" dirty="0">
                <a:solidFill>
                  <a:srgbClr val="2D394F"/>
                </a:solidFill>
              </a:rPr>
              <a:t>LRU causes MORE promotions by evicting</a:t>
            </a:r>
            <a:endParaRPr lang="en-US" sz="900" dirty="0"/>
          </a:p>
        </p:txBody>
      </p:sp>
      <p:sp>
        <p:nvSpPr>
          <p:cNvPr id="37" name="Shape 35"/>
          <p:cNvSpPr/>
          <p:nvPr/>
        </p:nvSpPr>
        <p:spPr>
          <a:xfrm>
            <a:off x="3291840" y="3017520"/>
            <a:ext cx="91440" cy="91440"/>
          </a:xfrm>
          <a:prstGeom prst="ellipse">
            <a:avLst/>
          </a:prstGeom>
          <a:solidFill>
            <a:srgbClr val="F7ECDA"/>
          </a:solidFill>
          <a:ln/>
        </p:spPr>
        <p:txBody>
          <a:bodyPr/>
          <a:lstStyle/>
          <a:p>
            <a:endParaRPr/>
          </a:p>
        </p:txBody>
      </p:sp>
      <p:sp>
        <p:nvSpPr>
          <p:cNvPr id="38" name="Text 36"/>
          <p:cNvSpPr/>
          <p:nvPr/>
        </p:nvSpPr>
        <p:spPr>
          <a:xfrm>
            <a:off x="3447288" y="2990088"/>
            <a:ext cx="2423160" cy="274320"/>
          </a:xfrm>
          <a:prstGeom prst="rect">
            <a:avLst/>
          </a:prstGeom>
          <a:noFill/>
          <a:ln/>
        </p:spPr>
        <p:txBody>
          <a:bodyPr wrap="square" lIns="0" tIns="0" rIns="0" bIns="0" rtlCol="0" anchor="ctr"/>
          <a:lstStyle/>
          <a:p>
            <a:pPr marL="0" indent="0">
              <a:buNone/>
            </a:pPr>
            <a:r>
              <a:rPr lang="en-US" sz="900" dirty="0">
                <a:solidFill>
                  <a:srgbClr val="2D394F"/>
                </a:solidFill>
              </a:rPr>
              <a:t>high-attention tokens that are soon needed</a:t>
            </a:r>
            <a:endParaRPr lang="en-US" sz="900" dirty="0"/>
          </a:p>
        </p:txBody>
      </p:sp>
      <p:sp>
        <p:nvSpPr>
          <p:cNvPr id="39" name="Shape 37"/>
          <p:cNvSpPr/>
          <p:nvPr/>
        </p:nvSpPr>
        <p:spPr>
          <a:xfrm>
            <a:off x="3291840" y="3346704"/>
            <a:ext cx="91440" cy="91440"/>
          </a:xfrm>
          <a:prstGeom prst="ellipse">
            <a:avLst/>
          </a:prstGeom>
          <a:solidFill>
            <a:srgbClr val="F7ECDA"/>
          </a:solidFill>
          <a:ln/>
        </p:spPr>
        <p:txBody>
          <a:bodyPr/>
          <a:lstStyle/>
          <a:p>
            <a:endParaRPr/>
          </a:p>
        </p:txBody>
      </p:sp>
      <p:sp>
        <p:nvSpPr>
          <p:cNvPr id="40" name="Text 38"/>
          <p:cNvSpPr/>
          <p:nvPr/>
        </p:nvSpPr>
        <p:spPr>
          <a:xfrm>
            <a:off x="3447288" y="3319272"/>
            <a:ext cx="2423160" cy="274320"/>
          </a:xfrm>
          <a:prstGeom prst="rect">
            <a:avLst/>
          </a:prstGeom>
          <a:noFill/>
          <a:ln/>
        </p:spPr>
        <p:txBody>
          <a:bodyPr wrap="square" lIns="0" tIns="0" rIns="0" bIns="0" rtlCol="0" anchor="ctr"/>
          <a:lstStyle/>
          <a:p>
            <a:pPr marL="0" indent="0">
              <a:buNone/>
            </a:pPr>
            <a:r>
              <a:rPr lang="en-US" sz="900" dirty="0">
                <a:solidFill>
                  <a:srgbClr val="2D394F"/>
                </a:solidFill>
              </a:rPr>
              <a:t>ASEP keeps important tokens in HBM longer</a:t>
            </a:r>
            <a:endParaRPr lang="en-US" sz="900" dirty="0"/>
          </a:p>
        </p:txBody>
      </p:sp>
      <p:sp>
        <p:nvSpPr>
          <p:cNvPr id="41" name="Shape 39"/>
          <p:cNvSpPr/>
          <p:nvPr/>
        </p:nvSpPr>
        <p:spPr>
          <a:xfrm>
            <a:off x="6126480" y="914400"/>
            <a:ext cx="2743200" cy="3246120"/>
          </a:xfrm>
          <a:prstGeom prst="rect">
            <a:avLst/>
          </a:prstGeom>
          <a:solidFill>
            <a:srgbClr val="FFFFFF"/>
          </a:solidFill>
          <a:ln w="19050">
            <a:solidFill>
              <a:srgbClr val="2C8C84"/>
            </a:solidFill>
            <a:prstDash val="solid"/>
          </a:ln>
        </p:spPr>
        <p:txBody>
          <a:bodyPr/>
          <a:lstStyle/>
          <a:p>
            <a:endParaRPr/>
          </a:p>
        </p:txBody>
      </p:sp>
      <p:sp>
        <p:nvSpPr>
          <p:cNvPr id="42" name="Shape 40"/>
          <p:cNvSpPr/>
          <p:nvPr/>
        </p:nvSpPr>
        <p:spPr>
          <a:xfrm>
            <a:off x="6126480" y="914400"/>
            <a:ext cx="2743200" cy="365760"/>
          </a:xfrm>
          <a:prstGeom prst="rect">
            <a:avLst/>
          </a:prstGeom>
          <a:solidFill>
            <a:srgbClr val="E1F2EF"/>
          </a:solidFill>
          <a:ln/>
        </p:spPr>
        <p:txBody>
          <a:bodyPr/>
          <a:lstStyle/>
          <a:p>
            <a:endParaRPr/>
          </a:p>
        </p:txBody>
      </p:sp>
      <p:sp>
        <p:nvSpPr>
          <p:cNvPr id="43" name="Text 41"/>
          <p:cNvSpPr/>
          <p:nvPr/>
        </p:nvSpPr>
        <p:spPr>
          <a:xfrm>
            <a:off x="6126480" y="914400"/>
            <a:ext cx="2743200" cy="365760"/>
          </a:xfrm>
          <a:prstGeom prst="rect">
            <a:avLst/>
          </a:prstGeom>
          <a:noFill/>
          <a:ln/>
        </p:spPr>
        <p:txBody>
          <a:bodyPr wrap="square" lIns="0" tIns="0" rIns="0" bIns="0" rtlCol="0" anchor="ctr"/>
          <a:lstStyle/>
          <a:p>
            <a:pPr marL="0" indent="0" algn="ctr">
              <a:buNone/>
            </a:pPr>
            <a:r>
              <a:rPr lang="en-US" sz="950" b="1" dirty="0">
                <a:solidFill>
                  <a:srgbClr val="2D394F"/>
                </a:solidFill>
              </a:rPr>
              <a:t>PREFETCH (DRAM → SRAM)</a:t>
            </a:r>
            <a:endParaRPr lang="en-US" sz="950" dirty="0"/>
          </a:p>
        </p:txBody>
      </p:sp>
      <p:sp>
        <p:nvSpPr>
          <p:cNvPr id="44" name="Shape 42"/>
          <p:cNvSpPr/>
          <p:nvPr/>
        </p:nvSpPr>
        <p:spPr>
          <a:xfrm>
            <a:off x="6217920" y="1371600"/>
            <a:ext cx="91440" cy="91440"/>
          </a:xfrm>
          <a:prstGeom prst="ellipse">
            <a:avLst/>
          </a:prstGeom>
          <a:solidFill>
            <a:srgbClr val="E1F2EF"/>
          </a:solidFill>
          <a:ln/>
        </p:spPr>
        <p:txBody>
          <a:bodyPr/>
          <a:lstStyle/>
          <a:p>
            <a:endParaRPr/>
          </a:p>
        </p:txBody>
      </p:sp>
      <p:sp>
        <p:nvSpPr>
          <p:cNvPr id="45" name="Text 43"/>
          <p:cNvSpPr/>
          <p:nvPr/>
        </p:nvSpPr>
        <p:spPr>
          <a:xfrm>
            <a:off x="6373368" y="1344168"/>
            <a:ext cx="2423160" cy="274320"/>
          </a:xfrm>
          <a:prstGeom prst="rect">
            <a:avLst/>
          </a:prstGeom>
          <a:noFill/>
          <a:ln/>
        </p:spPr>
        <p:txBody>
          <a:bodyPr wrap="square" lIns="0" tIns="0" rIns="0" bIns="0" rtlCol="0" anchor="ctr"/>
          <a:lstStyle/>
          <a:p>
            <a:pPr marL="0" indent="0">
              <a:buNone/>
            </a:pPr>
            <a:r>
              <a:rPr lang="en-US" sz="900" dirty="0">
                <a:solidFill>
                  <a:srgbClr val="2D394F"/>
                </a:solidFill>
              </a:rPr>
              <a:t>Trigger: attention computation starts</a:t>
            </a:r>
            <a:endParaRPr lang="en-US" sz="900" dirty="0"/>
          </a:p>
        </p:txBody>
      </p:sp>
      <p:sp>
        <p:nvSpPr>
          <p:cNvPr id="46" name="Shape 44"/>
          <p:cNvSpPr/>
          <p:nvPr/>
        </p:nvSpPr>
        <p:spPr>
          <a:xfrm>
            <a:off x="6217920" y="1700784"/>
            <a:ext cx="91440" cy="91440"/>
          </a:xfrm>
          <a:prstGeom prst="ellipse">
            <a:avLst/>
          </a:prstGeom>
          <a:solidFill>
            <a:srgbClr val="E1F2EF"/>
          </a:solidFill>
          <a:ln/>
        </p:spPr>
        <p:txBody>
          <a:bodyPr/>
          <a:lstStyle/>
          <a:p>
            <a:endParaRPr/>
          </a:p>
        </p:txBody>
      </p:sp>
      <p:sp>
        <p:nvSpPr>
          <p:cNvPr id="47" name="Text 45"/>
          <p:cNvSpPr/>
          <p:nvPr/>
        </p:nvSpPr>
        <p:spPr>
          <a:xfrm>
            <a:off x="6373368" y="1673352"/>
            <a:ext cx="2423160" cy="274320"/>
          </a:xfrm>
          <a:prstGeom prst="rect">
            <a:avLst/>
          </a:prstGeom>
          <a:noFill/>
          <a:ln/>
        </p:spPr>
        <p:txBody>
          <a:bodyPr wrap="square" lIns="0" tIns="0" rIns="0" bIns="0" rtlCol="0" anchor="ctr"/>
          <a:lstStyle/>
          <a:p>
            <a:pPr marL="0" indent="0">
              <a:buNone/>
            </a:pPr>
            <a:r>
              <a:rPr lang="en-US" sz="900" dirty="0">
                <a:solidFill>
                  <a:srgbClr val="2D394F"/>
                </a:solidFill>
              </a:rPr>
              <a:t>Load required KV tile from HBM → SRAM</a:t>
            </a:r>
            <a:endParaRPr lang="en-US" sz="900" dirty="0"/>
          </a:p>
        </p:txBody>
      </p:sp>
      <p:sp>
        <p:nvSpPr>
          <p:cNvPr id="48" name="Shape 46"/>
          <p:cNvSpPr/>
          <p:nvPr/>
        </p:nvSpPr>
        <p:spPr>
          <a:xfrm>
            <a:off x="6217920" y="2029968"/>
            <a:ext cx="91440" cy="91440"/>
          </a:xfrm>
          <a:prstGeom prst="ellipse">
            <a:avLst/>
          </a:prstGeom>
          <a:solidFill>
            <a:srgbClr val="E1F2EF"/>
          </a:solidFill>
          <a:ln/>
        </p:spPr>
        <p:txBody>
          <a:bodyPr/>
          <a:lstStyle/>
          <a:p>
            <a:endParaRPr/>
          </a:p>
        </p:txBody>
      </p:sp>
      <p:sp>
        <p:nvSpPr>
          <p:cNvPr id="49" name="Text 47"/>
          <p:cNvSpPr/>
          <p:nvPr/>
        </p:nvSpPr>
        <p:spPr>
          <a:xfrm>
            <a:off x="6373368" y="2002536"/>
            <a:ext cx="2423160" cy="274320"/>
          </a:xfrm>
          <a:prstGeom prst="rect">
            <a:avLst/>
          </a:prstGeom>
          <a:noFill/>
          <a:ln/>
        </p:spPr>
        <p:txBody>
          <a:bodyPr wrap="square" lIns="0" tIns="0" rIns="0" bIns="0" rtlCol="0" anchor="ctr"/>
          <a:lstStyle/>
          <a:p>
            <a:pPr marL="0" indent="0">
              <a:buNone/>
            </a:pPr>
            <a:r>
              <a:rPr lang="en-US" sz="900" dirty="0">
                <a:solidFill>
                  <a:srgbClr val="2D394F"/>
                </a:solidFill>
              </a:rPr>
              <a:t>Tile size: 64 KB (one attention head/layer)</a:t>
            </a:r>
            <a:endParaRPr lang="en-US" sz="900" dirty="0"/>
          </a:p>
        </p:txBody>
      </p:sp>
      <p:sp>
        <p:nvSpPr>
          <p:cNvPr id="50" name="Shape 48"/>
          <p:cNvSpPr/>
          <p:nvPr/>
        </p:nvSpPr>
        <p:spPr>
          <a:xfrm>
            <a:off x="6217920" y="2359152"/>
            <a:ext cx="91440" cy="91440"/>
          </a:xfrm>
          <a:prstGeom prst="ellipse">
            <a:avLst/>
          </a:prstGeom>
          <a:solidFill>
            <a:srgbClr val="E1F2EF"/>
          </a:solidFill>
          <a:ln/>
        </p:spPr>
        <p:txBody>
          <a:bodyPr/>
          <a:lstStyle/>
          <a:p>
            <a:endParaRPr/>
          </a:p>
        </p:txBody>
      </p:sp>
      <p:sp>
        <p:nvSpPr>
          <p:cNvPr id="51" name="Text 49"/>
          <p:cNvSpPr/>
          <p:nvPr/>
        </p:nvSpPr>
        <p:spPr>
          <a:xfrm>
            <a:off x="6373368" y="2331720"/>
            <a:ext cx="2423160" cy="274320"/>
          </a:xfrm>
          <a:prstGeom prst="rect">
            <a:avLst/>
          </a:prstGeom>
          <a:noFill/>
          <a:ln/>
        </p:spPr>
        <p:txBody>
          <a:bodyPr wrap="square" lIns="0" tIns="0" rIns="0" bIns="0" rtlCol="0" anchor="ctr"/>
          <a:lstStyle/>
          <a:p>
            <a:pPr marL="0" indent="0">
              <a:buNone/>
            </a:pPr>
            <a:r>
              <a:rPr lang="en-US" sz="900" dirty="0">
                <a:solidFill>
                  <a:srgbClr val="2D394F"/>
                </a:solidFill>
              </a:rPr>
              <a:t>Auto-evicted from SRAM after computation</a:t>
            </a:r>
            <a:endParaRPr lang="en-US" sz="900" dirty="0"/>
          </a:p>
        </p:txBody>
      </p:sp>
      <p:sp>
        <p:nvSpPr>
          <p:cNvPr id="52" name="Shape 50"/>
          <p:cNvSpPr/>
          <p:nvPr/>
        </p:nvSpPr>
        <p:spPr>
          <a:xfrm>
            <a:off x="6217920" y="2688336"/>
            <a:ext cx="91440" cy="91440"/>
          </a:xfrm>
          <a:prstGeom prst="ellipse">
            <a:avLst/>
          </a:prstGeom>
          <a:solidFill>
            <a:srgbClr val="E1F2EF"/>
          </a:solidFill>
          <a:ln/>
        </p:spPr>
        <p:txBody>
          <a:bodyPr/>
          <a:lstStyle/>
          <a:p>
            <a:endParaRPr/>
          </a:p>
        </p:txBody>
      </p:sp>
      <p:sp>
        <p:nvSpPr>
          <p:cNvPr id="53" name="Text 51"/>
          <p:cNvSpPr/>
          <p:nvPr/>
        </p:nvSpPr>
        <p:spPr>
          <a:xfrm>
            <a:off x="6373368" y="2660904"/>
            <a:ext cx="2423160" cy="274320"/>
          </a:xfrm>
          <a:prstGeom prst="rect">
            <a:avLst/>
          </a:prstGeom>
          <a:noFill/>
          <a:ln/>
        </p:spPr>
        <p:txBody>
          <a:bodyPr wrap="square" lIns="0" tIns="0" rIns="0" bIns="0" rtlCol="0" anchor="ctr"/>
          <a:lstStyle/>
          <a:p>
            <a:pPr marL="0" indent="0">
              <a:buNone/>
            </a:pPr>
            <a:r>
              <a:rPr lang="en-US" sz="900" dirty="0">
                <a:solidFill>
                  <a:srgbClr val="2D394F"/>
                </a:solidFill>
              </a:rPr>
              <a:t>Bottleneck: HBM→SRAM transfer speed</a:t>
            </a:r>
            <a:endParaRPr lang="en-US" sz="900" dirty="0"/>
          </a:p>
        </p:txBody>
      </p:sp>
      <p:sp>
        <p:nvSpPr>
          <p:cNvPr id="54" name="Shape 52"/>
          <p:cNvSpPr/>
          <p:nvPr/>
        </p:nvSpPr>
        <p:spPr>
          <a:xfrm>
            <a:off x="6217920" y="3017520"/>
            <a:ext cx="91440" cy="91440"/>
          </a:xfrm>
          <a:prstGeom prst="ellipse">
            <a:avLst/>
          </a:prstGeom>
          <a:solidFill>
            <a:srgbClr val="E1F2EF"/>
          </a:solidFill>
          <a:ln/>
        </p:spPr>
        <p:txBody>
          <a:bodyPr/>
          <a:lstStyle/>
          <a:p>
            <a:endParaRPr/>
          </a:p>
        </p:txBody>
      </p:sp>
      <p:sp>
        <p:nvSpPr>
          <p:cNvPr id="55" name="Text 53"/>
          <p:cNvSpPr/>
          <p:nvPr/>
        </p:nvSpPr>
        <p:spPr>
          <a:xfrm>
            <a:off x="6373368" y="2990088"/>
            <a:ext cx="2423160" cy="274320"/>
          </a:xfrm>
          <a:prstGeom prst="rect">
            <a:avLst/>
          </a:prstGeom>
          <a:noFill/>
          <a:ln/>
        </p:spPr>
        <p:txBody>
          <a:bodyPr wrap="square" lIns="0" tIns="0" rIns="0" bIns="0" rtlCol="0" anchor="ctr"/>
          <a:lstStyle/>
          <a:p>
            <a:pPr marL="0" indent="0">
              <a:buNone/>
            </a:pPr>
            <a:r>
              <a:rPr lang="en-US" sz="900" dirty="0">
                <a:solidFill>
                  <a:srgbClr val="2D394F"/>
                </a:solidFill>
              </a:rPr>
              <a:t>Miss rate = 1 per tile boundary, not per token</a:t>
            </a:r>
            <a:endParaRPr lang="en-US" sz="900" dirty="0"/>
          </a:p>
        </p:txBody>
      </p:sp>
      <p:sp>
        <p:nvSpPr>
          <p:cNvPr id="56" name="Shape 54"/>
          <p:cNvSpPr/>
          <p:nvPr/>
        </p:nvSpPr>
        <p:spPr>
          <a:xfrm>
            <a:off x="6217920" y="3346704"/>
            <a:ext cx="91440" cy="91440"/>
          </a:xfrm>
          <a:prstGeom prst="ellipse">
            <a:avLst/>
          </a:prstGeom>
          <a:solidFill>
            <a:srgbClr val="E1F2EF"/>
          </a:solidFill>
          <a:ln/>
        </p:spPr>
        <p:txBody>
          <a:bodyPr/>
          <a:lstStyle/>
          <a:p>
            <a:endParaRPr/>
          </a:p>
        </p:txBody>
      </p:sp>
      <p:sp>
        <p:nvSpPr>
          <p:cNvPr id="57" name="Text 55"/>
          <p:cNvSpPr/>
          <p:nvPr/>
        </p:nvSpPr>
        <p:spPr>
          <a:xfrm>
            <a:off x="6373368" y="3319272"/>
            <a:ext cx="2423160" cy="274320"/>
          </a:xfrm>
          <a:prstGeom prst="rect">
            <a:avLst/>
          </a:prstGeom>
          <a:noFill/>
          <a:ln/>
        </p:spPr>
        <p:txBody>
          <a:bodyPr wrap="square" lIns="0" tIns="0" rIns="0" bIns="0" rtlCol="0" anchor="ctr"/>
          <a:lstStyle/>
          <a:p>
            <a:pPr marL="0" indent="0">
              <a:buNone/>
            </a:pPr>
            <a:r>
              <a:rPr lang="en-US" sz="900" dirty="0">
                <a:solidFill>
                  <a:srgbClr val="2D394F"/>
                </a:solidFill>
              </a:rPr>
              <a:t>Tiling → sequential bursts → 9× fewer HBM reads</a:t>
            </a:r>
            <a:endParaRPr lang="en-US" sz="900" dirty="0"/>
          </a:p>
        </p:txBody>
      </p:sp>
      <p:sp>
        <p:nvSpPr>
          <p:cNvPr id="58" name="Shape 56"/>
          <p:cNvSpPr/>
          <p:nvPr/>
        </p:nvSpPr>
        <p:spPr>
          <a:xfrm>
            <a:off x="6217920" y="3675888"/>
            <a:ext cx="91440" cy="91440"/>
          </a:xfrm>
          <a:prstGeom prst="ellipse">
            <a:avLst/>
          </a:prstGeom>
          <a:solidFill>
            <a:srgbClr val="E1F2EF"/>
          </a:solidFill>
          <a:ln/>
        </p:spPr>
        <p:txBody>
          <a:bodyPr/>
          <a:lstStyle/>
          <a:p>
            <a:endParaRPr/>
          </a:p>
        </p:txBody>
      </p:sp>
      <p:sp>
        <p:nvSpPr>
          <p:cNvPr id="59" name="Text 57"/>
          <p:cNvSpPr/>
          <p:nvPr/>
        </p:nvSpPr>
        <p:spPr>
          <a:xfrm>
            <a:off x="6373368" y="3648456"/>
            <a:ext cx="2423160" cy="274320"/>
          </a:xfrm>
          <a:prstGeom prst="rect">
            <a:avLst/>
          </a:prstGeom>
          <a:noFill/>
          <a:ln/>
        </p:spPr>
        <p:txBody>
          <a:bodyPr wrap="square" lIns="0" tIns="0" rIns="0" bIns="0" rtlCol="0" anchor="ctr"/>
          <a:lstStyle/>
          <a:p>
            <a:pPr marL="0" indent="0">
              <a:buNone/>
            </a:pPr>
            <a:r>
              <a:rPr lang="en-US" sz="900" dirty="0">
                <a:solidFill>
                  <a:srgbClr val="2D394F"/>
                </a:solidFill>
              </a:rPr>
              <a:t>(Dao et al. FlashAttention, NeurIPS 2022)</a:t>
            </a:r>
            <a:endParaRPr lang="en-US" sz="900" dirty="0"/>
          </a:p>
        </p:txBody>
      </p:sp>
      <p:sp>
        <p:nvSpPr>
          <p:cNvPr id="60" name="Shape 58"/>
          <p:cNvSpPr/>
          <p:nvPr/>
        </p:nvSpPr>
        <p:spPr>
          <a:xfrm>
            <a:off x="274320" y="4297680"/>
            <a:ext cx="8595360" cy="594360"/>
          </a:xfrm>
          <a:prstGeom prst="rect">
            <a:avLst/>
          </a:prstGeom>
          <a:solidFill>
            <a:srgbClr val="F7F1E8"/>
          </a:solidFill>
          <a:ln w="12700">
            <a:solidFill>
              <a:srgbClr val="2C8C84"/>
            </a:solidFill>
            <a:prstDash val="solid"/>
          </a:ln>
        </p:spPr>
        <p:txBody>
          <a:bodyPr/>
          <a:lstStyle/>
          <a:p>
            <a:endParaRPr/>
          </a:p>
        </p:txBody>
      </p:sp>
      <p:sp>
        <p:nvSpPr>
          <p:cNvPr id="61" name="Text 59"/>
          <p:cNvSpPr/>
          <p:nvPr/>
        </p:nvSpPr>
        <p:spPr>
          <a:xfrm>
            <a:off x="457200" y="4352544"/>
            <a:ext cx="8229600" cy="457200"/>
          </a:xfrm>
          <a:prstGeom prst="rect">
            <a:avLst/>
          </a:prstGeom>
          <a:noFill/>
          <a:ln/>
        </p:spPr>
        <p:txBody>
          <a:bodyPr wrap="square" lIns="0" tIns="0" rIns="0" bIns="0" rtlCol="0" anchor="ctr"/>
          <a:lstStyle/>
          <a:p>
            <a:pPr marL="0" indent="0">
              <a:buNone/>
            </a:pPr>
            <a:r>
              <a:rPr lang="en-US" sz="950" dirty="0">
                <a:solidFill>
                  <a:srgbClr val="2D394F"/>
                </a:solidFill>
              </a:rPr>
              <a:t>CONSTRAINTS: Eviction threshold=80% · Compression=INT4 (4×) · Attention window=20% recent · Promotion threshold=score≥2.0</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36FD37-00A1-87F0-C8B2-4A69FDE9DC48}"/>
              </a:ext>
            </a:extLst>
          </p:cNvPr>
          <p:cNvPicPr>
            <a:picLocks noChangeAspect="1"/>
          </p:cNvPicPr>
          <p:nvPr/>
        </p:nvPicPr>
        <p:blipFill>
          <a:blip r:embed="rId2"/>
          <a:stretch>
            <a:fillRect/>
          </a:stretch>
        </p:blipFill>
        <p:spPr>
          <a:xfrm>
            <a:off x="1756229" y="809625"/>
            <a:ext cx="4902200" cy="3676650"/>
          </a:xfrm>
          <a:prstGeom prst="rect">
            <a:avLst/>
          </a:prstGeom>
        </p:spPr>
      </p:pic>
      <p:sp>
        <p:nvSpPr>
          <p:cNvPr id="4" name="TextBox 3">
            <a:extLst>
              <a:ext uri="{FF2B5EF4-FFF2-40B4-BE49-F238E27FC236}">
                <a16:creationId xmlns:a16="http://schemas.microsoft.com/office/drawing/2014/main" id="{BA20C8D0-0348-B48F-3A26-CD3B03B814D7}"/>
              </a:ext>
            </a:extLst>
          </p:cNvPr>
          <p:cNvSpPr txBox="1"/>
          <p:nvPr/>
        </p:nvSpPr>
        <p:spPr>
          <a:xfrm>
            <a:off x="257175" y="194072"/>
            <a:ext cx="8629650" cy="615553"/>
          </a:xfrm>
          <a:prstGeom prst="rect">
            <a:avLst/>
          </a:prstGeom>
          <a:noFill/>
        </p:spPr>
        <p:txBody>
          <a:bodyPr wrap="square" rtlCol="0">
            <a:spAutoFit/>
          </a:bodyPr>
          <a:lstStyle/>
          <a:p>
            <a:r>
              <a:rPr lang="en-US" sz="2400" b="1" kern="0" spc="200" dirty="0">
                <a:solidFill>
                  <a:srgbClr val="0070C0"/>
                </a:solidFill>
              </a:rPr>
              <a:t>POLICY BEHAVIOR OVER TIME </a:t>
            </a:r>
          </a:p>
          <a:p>
            <a:r>
              <a:rPr lang="en-US" sz="1000" dirty="0">
                <a:solidFill>
                  <a:srgbClr val="636F86"/>
                </a:solidFill>
              </a:rPr>
              <a:t>11 —Full conversation policy trends</a:t>
            </a:r>
            <a:endParaRPr lang="en-US" sz="1000" dirty="0"/>
          </a:p>
        </p:txBody>
      </p:sp>
      <p:sp>
        <p:nvSpPr>
          <p:cNvPr id="5" name="Shape 0">
            <a:extLst>
              <a:ext uri="{FF2B5EF4-FFF2-40B4-BE49-F238E27FC236}">
                <a16:creationId xmlns:a16="http://schemas.microsoft.com/office/drawing/2014/main" id="{93086C8A-771A-B2ED-DC5D-B1810C0066AF}"/>
              </a:ext>
            </a:extLst>
          </p:cNvPr>
          <p:cNvSpPr/>
          <p:nvPr/>
        </p:nvSpPr>
        <p:spPr>
          <a:xfrm>
            <a:off x="0" y="0"/>
            <a:ext cx="109728" cy="5143500"/>
          </a:xfrm>
          <a:prstGeom prst="rect">
            <a:avLst/>
          </a:prstGeom>
          <a:solidFill>
            <a:srgbClr val="0070C0"/>
          </a:solidFill>
          <a:ln>
            <a:solidFill>
              <a:srgbClr val="0070C0"/>
            </a:solidFill>
          </a:ln>
        </p:spPr>
        <p:txBody>
          <a:bodyPr/>
          <a:lstStyle/>
          <a:p>
            <a:endParaRPr/>
          </a:p>
        </p:txBody>
      </p:sp>
      <p:sp>
        <p:nvSpPr>
          <p:cNvPr id="6" name="TextBox 5">
            <a:extLst>
              <a:ext uri="{FF2B5EF4-FFF2-40B4-BE49-F238E27FC236}">
                <a16:creationId xmlns:a16="http://schemas.microsoft.com/office/drawing/2014/main" id="{CE8AB7BA-53E1-DBB0-4341-1552A46335BF}"/>
              </a:ext>
            </a:extLst>
          </p:cNvPr>
          <p:cNvSpPr txBox="1"/>
          <p:nvPr/>
        </p:nvSpPr>
        <p:spPr>
          <a:xfrm>
            <a:off x="254000" y="4486275"/>
            <a:ext cx="8972550" cy="830997"/>
          </a:xfrm>
          <a:prstGeom prst="rect">
            <a:avLst/>
          </a:prstGeom>
          <a:noFill/>
        </p:spPr>
        <p:txBody>
          <a:bodyPr wrap="square" rtlCol="0">
            <a:spAutoFit/>
          </a:bodyPr>
          <a:lstStyle/>
          <a:p>
            <a:r>
              <a:rPr lang="en-US" sz="1600" b="1" dirty="0">
                <a:solidFill>
                  <a:srgbClr val="0070C0"/>
                </a:solidFill>
                <a:latin typeface="Aptos"/>
              </a:rPr>
              <a:t>Takeaway</a:t>
            </a:r>
            <a:r>
              <a:rPr lang="en-US" sz="1600" dirty="0">
                <a:solidFill>
                  <a:srgbClr val="4E5D6C"/>
                </a:solidFill>
                <a:latin typeface="Aptos"/>
              </a:rPr>
              <a:t>: Both policies hit the same HBM pressure point and total eviction count, but ASEP maintains slightly lower decode latency by making better eviction choices under identical conditions </a:t>
            </a:r>
            <a:endParaRPr lang="en-US" sz="1600" dirty="0">
              <a:solidFill>
                <a:srgbClr val="0070C0"/>
              </a:solidFill>
            </a:endParaRPr>
          </a:p>
          <a:p>
            <a:endParaRPr lang="en-US" sz="1600" dirty="0"/>
          </a:p>
        </p:txBody>
      </p:sp>
    </p:spTree>
    <p:extLst>
      <p:ext uri="{BB962C8B-B14F-4D97-AF65-F5344CB8AC3E}">
        <p14:creationId xmlns:p14="http://schemas.microsoft.com/office/powerpoint/2010/main" val="3223407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4A256"/>
          </a:solidFill>
          <a:ln/>
        </p:spPr>
        <p:txBody>
          <a:bodyPr/>
          <a:lstStyle/>
          <a:p>
            <a:endParaRPr>
              <a:solidFill>
                <a:srgbClr val="D4A256"/>
              </a:solidFill>
            </a:endParaRPr>
          </a:p>
        </p:txBody>
      </p:sp>
      <p:sp>
        <p:nvSpPr>
          <p:cNvPr id="3" name="Text 1"/>
          <p:cNvSpPr/>
          <p:nvPr/>
        </p:nvSpPr>
        <p:spPr>
          <a:xfrm>
            <a:off x="320040" y="164592"/>
            <a:ext cx="8503920" cy="411480"/>
          </a:xfrm>
          <a:prstGeom prst="rect">
            <a:avLst/>
          </a:prstGeom>
          <a:noFill/>
          <a:ln/>
        </p:spPr>
        <p:txBody>
          <a:bodyPr wrap="square" rtlCol="0" anchor="ctr"/>
          <a:lstStyle/>
          <a:p>
            <a:pPr marL="0" indent="0">
              <a:buNone/>
            </a:pPr>
            <a:r>
              <a:rPr lang="en-US" sz="2000" b="1" kern="0" spc="200" dirty="0">
                <a:solidFill>
                  <a:srgbClr val="D4A256"/>
                </a:solidFill>
              </a:rPr>
              <a:t>PERFORMANCE &amp; ENERGY MODELING</a:t>
            </a:r>
            <a:endParaRPr lang="en-US" sz="2000" dirty="0"/>
          </a:p>
        </p:txBody>
      </p:sp>
      <p:sp>
        <p:nvSpPr>
          <p:cNvPr id="4" name="Text 2"/>
          <p:cNvSpPr/>
          <p:nvPr/>
        </p:nvSpPr>
        <p:spPr>
          <a:xfrm>
            <a:off x="320040" y="548640"/>
            <a:ext cx="8503920" cy="256032"/>
          </a:xfrm>
          <a:prstGeom prst="rect">
            <a:avLst/>
          </a:prstGeom>
          <a:noFill/>
          <a:ln/>
        </p:spPr>
        <p:txBody>
          <a:bodyPr wrap="square" rtlCol="0" anchor="ctr"/>
          <a:lstStyle/>
          <a:p>
            <a:pPr marL="0" indent="0">
              <a:buNone/>
            </a:pPr>
            <a:r>
              <a:rPr lang="en-US" sz="1000" dirty="0">
                <a:solidFill>
                  <a:srgbClr val="636F86"/>
                </a:solidFill>
              </a:rPr>
              <a:t>09 — Energy per token breakdown · Memory dominates compute by 38× at T=4096</a:t>
            </a:r>
            <a:endParaRPr lang="en-US" sz="1000" dirty="0"/>
          </a:p>
        </p:txBody>
      </p:sp>
      <p:pic>
        <p:nvPicPr>
          <p:cNvPr id="5" name="Image 0" descr="preencoded.png"/>
          <p:cNvPicPr>
            <a:picLocks noChangeAspect="1"/>
          </p:cNvPicPr>
          <p:nvPr/>
        </p:nvPicPr>
        <p:blipFill rotWithShape="1">
          <a:blip r:embed="rId3"/>
          <a:srcRect t="7966"/>
          <a:stretch/>
        </p:blipFill>
        <p:spPr>
          <a:xfrm>
            <a:off x="118872" y="996696"/>
            <a:ext cx="7451637" cy="3383280"/>
          </a:xfrm>
          <a:prstGeom prst="rect">
            <a:avLst/>
          </a:prstGeom>
          <a:ln/>
        </p:spPr>
      </p:pic>
      <p:sp>
        <p:nvSpPr>
          <p:cNvPr id="6" name="Shape 3"/>
          <p:cNvSpPr/>
          <p:nvPr/>
        </p:nvSpPr>
        <p:spPr>
          <a:xfrm>
            <a:off x="7565571" y="1014984"/>
            <a:ext cx="1600200" cy="3383280"/>
          </a:xfrm>
          <a:prstGeom prst="rect">
            <a:avLst/>
          </a:prstGeom>
          <a:solidFill>
            <a:srgbClr val="FFFFFF"/>
          </a:solidFill>
          <a:ln w="19050">
            <a:solidFill>
              <a:srgbClr val="D4A256"/>
            </a:solidFill>
            <a:prstDash val="solid"/>
          </a:ln>
        </p:spPr>
        <p:txBody>
          <a:bodyPr/>
          <a:lstStyle/>
          <a:p>
            <a:endParaRPr/>
          </a:p>
        </p:txBody>
      </p:sp>
      <p:sp>
        <p:nvSpPr>
          <p:cNvPr id="7" name="Text 4"/>
          <p:cNvSpPr/>
          <p:nvPr/>
        </p:nvSpPr>
        <p:spPr>
          <a:xfrm>
            <a:off x="7620435" y="987552"/>
            <a:ext cx="1508760" cy="502920"/>
          </a:xfrm>
          <a:prstGeom prst="rect">
            <a:avLst/>
          </a:prstGeom>
          <a:noFill/>
          <a:ln/>
        </p:spPr>
        <p:txBody>
          <a:bodyPr wrap="square" lIns="0" tIns="0" rIns="0" bIns="0" rtlCol="0" anchor="ctr"/>
          <a:lstStyle/>
          <a:p>
            <a:pPr marL="0" indent="0">
              <a:buNone/>
            </a:pPr>
            <a:r>
              <a:rPr lang="en-US" sz="950" b="1" dirty="0">
                <a:solidFill>
                  <a:srgbClr val="D4A256"/>
                </a:solidFill>
              </a:rPr>
              <a:t>ENERGY BREAKDOWN</a:t>
            </a:r>
            <a:endParaRPr lang="en-US" sz="950" dirty="0"/>
          </a:p>
          <a:p>
            <a:pPr marL="0" indent="0">
              <a:buNone/>
            </a:pPr>
            <a:r>
              <a:rPr lang="en-US" sz="950" b="1" dirty="0">
                <a:solidFill>
                  <a:srgbClr val="D4A256"/>
                </a:solidFill>
              </a:rPr>
              <a:t>(T=1024)</a:t>
            </a:r>
            <a:endParaRPr lang="en-US" sz="950" dirty="0"/>
          </a:p>
        </p:txBody>
      </p:sp>
      <p:sp>
        <p:nvSpPr>
          <p:cNvPr id="8" name="Shape 5"/>
          <p:cNvSpPr/>
          <p:nvPr/>
        </p:nvSpPr>
        <p:spPr>
          <a:xfrm>
            <a:off x="7579653" y="1492867"/>
            <a:ext cx="109728" cy="109728"/>
          </a:xfrm>
          <a:prstGeom prst="ellipse">
            <a:avLst/>
          </a:prstGeom>
          <a:solidFill>
            <a:srgbClr val="F7ECDA"/>
          </a:solidFill>
          <a:ln/>
        </p:spPr>
        <p:txBody>
          <a:bodyPr/>
          <a:lstStyle/>
          <a:p>
            <a:endParaRPr/>
          </a:p>
        </p:txBody>
      </p:sp>
      <p:sp>
        <p:nvSpPr>
          <p:cNvPr id="9" name="Text 6"/>
          <p:cNvSpPr/>
          <p:nvPr/>
        </p:nvSpPr>
        <p:spPr>
          <a:xfrm>
            <a:off x="7766739" y="1453896"/>
            <a:ext cx="1325880" cy="201168"/>
          </a:xfrm>
          <a:prstGeom prst="rect">
            <a:avLst/>
          </a:prstGeom>
          <a:noFill/>
          <a:ln/>
        </p:spPr>
        <p:txBody>
          <a:bodyPr wrap="square" lIns="0" tIns="0" rIns="0" bIns="0" rtlCol="0" anchor="ctr"/>
          <a:lstStyle/>
          <a:p>
            <a:pPr marL="0" indent="0">
              <a:buNone/>
            </a:pPr>
            <a:r>
              <a:rPr lang="en-US" sz="850" dirty="0">
                <a:solidFill>
                  <a:srgbClr val="2D394F"/>
                </a:solidFill>
              </a:rPr>
              <a:t>Attn Weights</a:t>
            </a:r>
            <a:endParaRPr lang="en-US" sz="850" dirty="0"/>
          </a:p>
        </p:txBody>
      </p:sp>
      <p:sp>
        <p:nvSpPr>
          <p:cNvPr id="10" name="Text 7"/>
          <p:cNvSpPr/>
          <p:nvPr/>
        </p:nvSpPr>
        <p:spPr>
          <a:xfrm>
            <a:off x="7766739" y="1655064"/>
            <a:ext cx="1325880" cy="182880"/>
          </a:xfrm>
          <a:prstGeom prst="rect">
            <a:avLst/>
          </a:prstGeom>
          <a:noFill/>
          <a:ln/>
        </p:spPr>
        <p:txBody>
          <a:bodyPr wrap="square" lIns="0" tIns="0" rIns="0" bIns="0" rtlCol="0" anchor="ctr"/>
          <a:lstStyle/>
          <a:p>
            <a:pPr marL="0" indent="0">
              <a:buNone/>
            </a:pPr>
            <a:r>
              <a:rPr lang="en-US" sz="750" dirty="0">
                <a:solidFill>
                  <a:srgbClr val="D4A256"/>
                </a:solidFill>
              </a:rPr>
              <a:t>3,020 µJ (28%)</a:t>
            </a:r>
            <a:endParaRPr lang="en-US" sz="750" dirty="0"/>
          </a:p>
        </p:txBody>
      </p:sp>
      <p:sp>
        <p:nvSpPr>
          <p:cNvPr id="11" name="Shape 8"/>
          <p:cNvSpPr/>
          <p:nvPr/>
        </p:nvSpPr>
        <p:spPr>
          <a:xfrm>
            <a:off x="7600404" y="1911096"/>
            <a:ext cx="109728" cy="109728"/>
          </a:xfrm>
          <a:prstGeom prst="ellipse">
            <a:avLst/>
          </a:prstGeom>
          <a:solidFill>
            <a:srgbClr val="F7ECDA"/>
          </a:solidFill>
          <a:ln/>
        </p:spPr>
        <p:txBody>
          <a:bodyPr/>
          <a:lstStyle/>
          <a:p>
            <a:endParaRPr/>
          </a:p>
        </p:txBody>
      </p:sp>
      <p:sp>
        <p:nvSpPr>
          <p:cNvPr id="12" name="Text 9"/>
          <p:cNvSpPr/>
          <p:nvPr/>
        </p:nvSpPr>
        <p:spPr>
          <a:xfrm>
            <a:off x="7766739" y="1883664"/>
            <a:ext cx="1325880" cy="201168"/>
          </a:xfrm>
          <a:prstGeom prst="rect">
            <a:avLst/>
          </a:prstGeom>
          <a:noFill/>
          <a:ln/>
        </p:spPr>
        <p:txBody>
          <a:bodyPr wrap="square" lIns="0" tIns="0" rIns="0" bIns="0" rtlCol="0" anchor="ctr"/>
          <a:lstStyle/>
          <a:p>
            <a:pPr marL="0" indent="0">
              <a:buNone/>
            </a:pPr>
            <a:r>
              <a:rPr lang="en-US" sz="850" dirty="0">
                <a:solidFill>
                  <a:srgbClr val="2D394F"/>
                </a:solidFill>
              </a:rPr>
              <a:t>FFN Weights</a:t>
            </a:r>
            <a:endParaRPr lang="en-US" sz="850" dirty="0"/>
          </a:p>
        </p:txBody>
      </p:sp>
      <p:sp>
        <p:nvSpPr>
          <p:cNvPr id="13" name="Text 10"/>
          <p:cNvSpPr/>
          <p:nvPr/>
        </p:nvSpPr>
        <p:spPr>
          <a:xfrm>
            <a:off x="7711875" y="2084832"/>
            <a:ext cx="1325880" cy="182880"/>
          </a:xfrm>
          <a:prstGeom prst="rect">
            <a:avLst/>
          </a:prstGeom>
          <a:noFill/>
          <a:ln/>
        </p:spPr>
        <p:txBody>
          <a:bodyPr wrap="square" lIns="0" tIns="0" rIns="0" bIns="0" rtlCol="0" anchor="ctr"/>
          <a:lstStyle/>
          <a:p>
            <a:pPr marL="0" indent="0">
              <a:buNone/>
            </a:pPr>
            <a:r>
              <a:rPr lang="en-US" sz="750" dirty="0">
                <a:solidFill>
                  <a:srgbClr val="D4A256"/>
                </a:solidFill>
              </a:rPr>
              <a:t>6,040 µJ (55%)</a:t>
            </a:r>
            <a:endParaRPr lang="en-US" sz="750" dirty="0"/>
          </a:p>
        </p:txBody>
      </p:sp>
      <p:sp>
        <p:nvSpPr>
          <p:cNvPr id="14" name="Shape 11"/>
          <p:cNvSpPr/>
          <p:nvPr/>
        </p:nvSpPr>
        <p:spPr>
          <a:xfrm>
            <a:off x="7600405" y="2351750"/>
            <a:ext cx="109728" cy="109728"/>
          </a:xfrm>
          <a:prstGeom prst="ellipse">
            <a:avLst/>
          </a:prstGeom>
          <a:solidFill>
            <a:srgbClr val="E1F2EF"/>
          </a:solidFill>
          <a:ln/>
        </p:spPr>
        <p:txBody>
          <a:bodyPr/>
          <a:lstStyle/>
          <a:p>
            <a:endParaRPr/>
          </a:p>
        </p:txBody>
      </p:sp>
      <p:sp>
        <p:nvSpPr>
          <p:cNvPr id="15" name="Text 12"/>
          <p:cNvSpPr/>
          <p:nvPr/>
        </p:nvSpPr>
        <p:spPr>
          <a:xfrm>
            <a:off x="7766739" y="2313432"/>
            <a:ext cx="1325880" cy="201168"/>
          </a:xfrm>
          <a:prstGeom prst="rect">
            <a:avLst/>
          </a:prstGeom>
          <a:noFill/>
          <a:ln/>
        </p:spPr>
        <p:txBody>
          <a:bodyPr wrap="square" lIns="0" tIns="0" rIns="0" bIns="0" rtlCol="0" anchor="ctr"/>
          <a:lstStyle/>
          <a:p>
            <a:pPr marL="0" indent="0">
              <a:buNone/>
            </a:pPr>
            <a:r>
              <a:rPr lang="en-US" sz="850" dirty="0">
                <a:solidFill>
                  <a:srgbClr val="2D394F"/>
                </a:solidFill>
              </a:rPr>
              <a:t>KV Read</a:t>
            </a:r>
            <a:endParaRPr lang="en-US" sz="850" dirty="0"/>
          </a:p>
        </p:txBody>
      </p:sp>
      <p:sp>
        <p:nvSpPr>
          <p:cNvPr id="16" name="Text 13"/>
          <p:cNvSpPr/>
          <p:nvPr/>
        </p:nvSpPr>
        <p:spPr>
          <a:xfrm>
            <a:off x="7766739" y="2514600"/>
            <a:ext cx="1325880" cy="182880"/>
          </a:xfrm>
          <a:prstGeom prst="rect">
            <a:avLst/>
          </a:prstGeom>
          <a:noFill/>
          <a:ln/>
        </p:spPr>
        <p:txBody>
          <a:bodyPr wrap="square" lIns="0" tIns="0" rIns="0" bIns="0" rtlCol="0" anchor="ctr"/>
          <a:lstStyle/>
          <a:p>
            <a:pPr marL="0" indent="0">
              <a:buNone/>
            </a:pPr>
            <a:r>
              <a:rPr lang="en-US" sz="750" dirty="0">
                <a:solidFill>
                  <a:srgbClr val="2C8C84"/>
                </a:solidFill>
              </a:rPr>
              <a:t>1,510 µJ (14%)</a:t>
            </a:r>
            <a:endParaRPr lang="en-US" sz="750" dirty="0"/>
          </a:p>
        </p:txBody>
      </p:sp>
      <p:sp>
        <p:nvSpPr>
          <p:cNvPr id="17" name="Shape 14"/>
          <p:cNvSpPr/>
          <p:nvPr/>
        </p:nvSpPr>
        <p:spPr>
          <a:xfrm>
            <a:off x="7600405" y="2781518"/>
            <a:ext cx="109728" cy="109728"/>
          </a:xfrm>
          <a:prstGeom prst="ellipse">
            <a:avLst/>
          </a:prstGeom>
          <a:solidFill>
            <a:srgbClr val="E1F2EF"/>
          </a:solidFill>
          <a:ln/>
        </p:spPr>
        <p:txBody>
          <a:bodyPr/>
          <a:lstStyle/>
          <a:p>
            <a:endParaRPr/>
          </a:p>
        </p:txBody>
      </p:sp>
      <p:sp>
        <p:nvSpPr>
          <p:cNvPr id="18" name="Text 15"/>
          <p:cNvSpPr/>
          <p:nvPr/>
        </p:nvSpPr>
        <p:spPr>
          <a:xfrm>
            <a:off x="7766739" y="2743200"/>
            <a:ext cx="1325880" cy="201168"/>
          </a:xfrm>
          <a:prstGeom prst="rect">
            <a:avLst/>
          </a:prstGeom>
          <a:noFill/>
          <a:ln/>
        </p:spPr>
        <p:txBody>
          <a:bodyPr wrap="square" lIns="0" tIns="0" rIns="0" bIns="0" rtlCol="0" anchor="ctr"/>
          <a:lstStyle/>
          <a:p>
            <a:pPr marL="0" indent="0">
              <a:buNone/>
            </a:pPr>
            <a:r>
              <a:rPr lang="en-US" sz="850" dirty="0">
                <a:solidFill>
                  <a:srgbClr val="2D394F"/>
                </a:solidFill>
              </a:rPr>
              <a:t>KV Write</a:t>
            </a:r>
            <a:endParaRPr lang="en-US" sz="850" dirty="0"/>
          </a:p>
        </p:txBody>
      </p:sp>
      <p:sp>
        <p:nvSpPr>
          <p:cNvPr id="19" name="Text 16"/>
          <p:cNvSpPr/>
          <p:nvPr/>
        </p:nvSpPr>
        <p:spPr>
          <a:xfrm>
            <a:off x="7766739" y="2944368"/>
            <a:ext cx="1325880" cy="182880"/>
          </a:xfrm>
          <a:prstGeom prst="rect">
            <a:avLst/>
          </a:prstGeom>
          <a:noFill/>
          <a:ln/>
        </p:spPr>
        <p:txBody>
          <a:bodyPr wrap="square" lIns="0" tIns="0" rIns="0" bIns="0" rtlCol="0" anchor="ctr"/>
          <a:lstStyle/>
          <a:p>
            <a:pPr marL="0" indent="0">
              <a:buNone/>
            </a:pPr>
            <a:r>
              <a:rPr lang="en-US" sz="750" dirty="0">
                <a:solidFill>
                  <a:srgbClr val="2C8C84"/>
                </a:solidFill>
              </a:rPr>
              <a:t>1.5 µJ (&lt;1%)</a:t>
            </a:r>
            <a:endParaRPr lang="en-US" sz="750" dirty="0"/>
          </a:p>
        </p:txBody>
      </p:sp>
      <p:sp>
        <p:nvSpPr>
          <p:cNvPr id="20" name="Shape 17"/>
          <p:cNvSpPr/>
          <p:nvPr/>
        </p:nvSpPr>
        <p:spPr>
          <a:xfrm>
            <a:off x="7611291" y="3222172"/>
            <a:ext cx="109728" cy="109728"/>
          </a:xfrm>
          <a:prstGeom prst="ellipse">
            <a:avLst/>
          </a:prstGeom>
          <a:solidFill>
            <a:srgbClr val="E7EBF5"/>
          </a:solidFill>
          <a:ln/>
        </p:spPr>
        <p:txBody>
          <a:bodyPr/>
          <a:lstStyle/>
          <a:p>
            <a:endParaRPr/>
          </a:p>
        </p:txBody>
      </p:sp>
      <p:sp>
        <p:nvSpPr>
          <p:cNvPr id="21" name="Text 18"/>
          <p:cNvSpPr/>
          <p:nvPr/>
        </p:nvSpPr>
        <p:spPr>
          <a:xfrm>
            <a:off x="7766739" y="3172968"/>
            <a:ext cx="1325880" cy="201168"/>
          </a:xfrm>
          <a:prstGeom prst="rect">
            <a:avLst/>
          </a:prstGeom>
          <a:noFill/>
          <a:ln/>
        </p:spPr>
        <p:txBody>
          <a:bodyPr wrap="square" lIns="0" tIns="0" rIns="0" bIns="0" rtlCol="0" anchor="ctr"/>
          <a:lstStyle/>
          <a:p>
            <a:pPr marL="0" indent="0">
              <a:buNone/>
            </a:pPr>
            <a:r>
              <a:rPr lang="en-US" sz="850" dirty="0">
                <a:solidFill>
                  <a:srgbClr val="2D394F"/>
                </a:solidFill>
              </a:rPr>
              <a:t>Compute</a:t>
            </a:r>
            <a:endParaRPr lang="en-US" sz="850" dirty="0"/>
          </a:p>
        </p:txBody>
      </p:sp>
      <p:sp>
        <p:nvSpPr>
          <p:cNvPr id="22" name="Text 19"/>
          <p:cNvSpPr/>
          <p:nvPr/>
        </p:nvSpPr>
        <p:spPr>
          <a:xfrm>
            <a:off x="7766739" y="3374136"/>
            <a:ext cx="1325880" cy="182880"/>
          </a:xfrm>
          <a:prstGeom prst="rect">
            <a:avLst/>
          </a:prstGeom>
          <a:noFill/>
          <a:ln/>
        </p:spPr>
        <p:txBody>
          <a:bodyPr wrap="square" lIns="0" tIns="0" rIns="0" bIns="0" rtlCol="0" anchor="ctr"/>
          <a:lstStyle/>
          <a:p>
            <a:pPr marL="0" indent="0">
              <a:buNone/>
            </a:pPr>
            <a:r>
              <a:rPr lang="en-US" sz="750" dirty="0">
                <a:solidFill>
                  <a:srgbClr val="636F86"/>
                </a:solidFill>
              </a:rPr>
              <a:t>252 µJ (2%)</a:t>
            </a:r>
            <a:endParaRPr lang="en-US" sz="750" dirty="0"/>
          </a:p>
        </p:txBody>
      </p:sp>
      <p:sp>
        <p:nvSpPr>
          <p:cNvPr id="24" name="Text 21"/>
          <p:cNvSpPr/>
          <p:nvPr/>
        </p:nvSpPr>
        <p:spPr>
          <a:xfrm>
            <a:off x="457200" y="4398264"/>
            <a:ext cx="8229600" cy="457200"/>
          </a:xfrm>
          <a:prstGeom prst="rect">
            <a:avLst/>
          </a:prstGeom>
          <a:noFill/>
          <a:ln/>
        </p:spPr>
        <p:txBody>
          <a:bodyPr wrap="square" lIns="0" tIns="0" rIns="0" bIns="0" rtlCol="0" anchor="ctr"/>
          <a:lstStyle/>
          <a:p>
            <a:pPr marL="0" indent="0">
              <a:buNone/>
            </a:pP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C8C84"/>
          </a:solidFill>
          <a:ln/>
        </p:spPr>
        <p:txBody>
          <a:bodyPr/>
          <a:lstStyle/>
          <a:p>
            <a:endParaRPr>
              <a:solidFill>
                <a:srgbClr val="2C8C84"/>
              </a:solidFill>
            </a:endParaRPr>
          </a:p>
        </p:txBody>
      </p:sp>
      <p:sp>
        <p:nvSpPr>
          <p:cNvPr id="3" name="Text 1"/>
          <p:cNvSpPr/>
          <p:nvPr/>
        </p:nvSpPr>
        <p:spPr>
          <a:xfrm>
            <a:off x="320040" y="164592"/>
            <a:ext cx="8503920" cy="411480"/>
          </a:xfrm>
          <a:prstGeom prst="rect">
            <a:avLst/>
          </a:prstGeom>
          <a:noFill/>
          <a:ln/>
        </p:spPr>
        <p:txBody>
          <a:bodyPr wrap="square" rtlCol="0" anchor="ctr"/>
          <a:lstStyle/>
          <a:p>
            <a:pPr marL="0" indent="0">
              <a:buNone/>
            </a:pPr>
            <a:r>
              <a:rPr lang="en-US" sz="2000" b="1" kern="0" spc="200" dirty="0">
                <a:solidFill>
                  <a:srgbClr val="2C8C84"/>
                </a:solidFill>
              </a:rPr>
              <a:t>CONCLUSIONS &amp; CONTRIBUTIONS</a:t>
            </a:r>
            <a:endParaRPr lang="en-US" sz="2000" dirty="0"/>
          </a:p>
        </p:txBody>
      </p:sp>
      <p:sp>
        <p:nvSpPr>
          <p:cNvPr id="4" name="Text 2"/>
          <p:cNvSpPr/>
          <p:nvPr/>
        </p:nvSpPr>
        <p:spPr>
          <a:xfrm>
            <a:off x="320040" y="548640"/>
            <a:ext cx="8503920" cy="256032"/>
          </a:xfrm>
          <a:prstGeom prst="rect">
            <a:avLst/>
          </a:prstGeom>
          <a:noFill/>
          <a:ln/>
        </p:spPr>
        <p:txBody>
          <a:bodyPr wrap="square" rtlCol="0" anchor="ctr"/>
          <a:lstStyle/>
          <a:p>
            <a:pPr marL="0" indent="0">
              <a:buNone/>
            </a:pPr>
            <a:r>
              <a:rPr lang="en-US" sz="1000" dirty="0">
                <a:solidFill>
                  <a:srgbClr val="636F86"/>
                </a:solidFill>
              </a:rPr>
              <a:t>13 — Summary of work and future directions</a:t>
            </a:r>
            <a:endParaRPr lang="en-US" sz="1000" dirty="0"/>
          </a:p>
        </p:txBody>
      </p:sp>
      <p:sp>
        <p:nvSpPr>
          <p:cNvPr id="5" name="Shape 3"/>
          <p:cNvSpPr/>
          <p:nvPr/>
        </p:nvSpPr>
        <p:spPr>
          <a:xfrm>
            <a:off x="274320" y="960120"/>
            <a:ext cx="8595360" cy="685800"/>
          </a:xfrm>
          <a:prstGeom prst="rect">
            <a:avLst/>
          </a:prstGeom>
          <a:solidFill>
            <a:srgbClr val="FFFFFF"/>
          </a:solidFill>
          <a:ln w="19050">
            <a:solidFill>
              <a:srgbClr val="2C8C84"/>
            </a:solidFill>
            <a:prstDash val="solid"/>
          </a:ln>
        </p:spPr>
        <p:txBody>
          <a:bodyPr/>
          <a:lstStyle/>
          <a:p>
            <a:endParaRPr/>
          </a:p>
        </p:txBody>
      </p:sp>
      <p:sp>
        <p:nvSpPr>
          <p:cNvPr id="6" name="Shape 4"/>
          <p:cNvSpPr/>
          <p:nvPr/>
        </p:nvSpPr>
        <p:spPr>
          <a:xfrm>
            <a:off x="274320" y="960120"/>
            <a:ext cx="640080" cy="685800"/>
          </a:xfrm>
          <a:prstGeom prst="rect">
            <a:avLst/>
          </a:prstGeom>
          <a:solidFill>
            <a:srgbClr val="E1F2EF"/>
          </a:solidFill>
          <a:ln/>
        </p:spPr>
        <p:txBody>
          <a:bodyPr/>
          <a:lstStyle/>
          <a:p>
            <a:endParaRPr/>
          </a:p>
        </p:txBody>
      </p:sp>
      <p:sp>
        <p:nvSpPr>
          <p:cNvPr id="7" name="Text 5"/>
          <p:cNvSpPr/>
          <p:nvPr/>
        </p:nvSpPr>
        <p:spPr>
          <a:xfrm>
            <a:off x="274320" y="960120"/>
            <a:ext cx="640080" cy="685800"/>
          </a:xfrm>
          <a:prstGeom prst="rect">
            <a:avLst/>
          </a:prstGeom>
          <a:noFill/>
          <a:ln/>
        </p:spPr>
        <p:txBody>
          <a:bodyPr wrap="square" lIns="0" tIns="0" rIns="0" bIns="0" rtlCol="0" anchor="ctr"/>
          <a:lstStyle/>
          <a:p>
            <a:pPr marL="0" indent="0" algn="ctr">
              <a:buNone/>
            </a:pPr>
            <a:r>
              <a:rPr lang="en-US" sz="1400" b="1" dirty="0">
                <a:solidFill>
                  <a:srgbClr val="2D394F"/>
                </a:solidFill>
              </a:rPr>
              <a:t>C1</a:t>
            </a:r>
            <a:endParaRPr lang="en-US" sz="1400" dirty="0"/>
          </a:p>
        </p:txBody>
      </p:sp>
      <p:sp>
        <p:nvSpPr>
          <p:cNvPr id="8" name="Text 6"/>
          <p:cNvSpPr/>
          <p:nvPr/>
        </p:nvSpPr>
        <p:spPr>
          <a:xfrm>
            <a:off x="1005840" y="996696"/>
            <a:ext cx="7680960" cy="274320"/>
          </a:xfrm>
          <a:prstGeom prst="rect">
            <a:avLst/>
          </a:prstGeom>
          <a:noFill/>
          <a:ln/>
        </p:spPr>
        <p:txBody>
          <a:bodyPr wrap="square" lIns="0" tIns="0" rIns="0" bIns="0" rtlCol="0" anchor="ctr"/>
          <a:lstStyle/>
          <a:p>
            <a:pPr marL="0" indent="0">
              <a:buNone/>
            </a:pPr>
            <a:r>
              <a:rPr lang="en-US" sz="1100" b="1" dirty="0">
                <a:solidFill>
                  <a:srgbClr val="2C8C84"/>
                </a:solidFill>
              </a:rPr>
              <a:t>Working Tiered Memory Simulator</a:t>
            </a:r>
            <a:endParaRPr lang="en-US" sz="1100" dirty="0"/>
          </a:p>
        </p:txBody>
      </p:sp>
      <p:sp>
        <p:nvSpPr>
          <p:cNvPr id="9" name="Text 7"/>
          <p:cNvSpPr/>
          <p:nvPr/>
        </p:nvSpPr>
        <p:spPr>
          <a:xfrm>
            <a:off x="1005840" y="1289304"/>
            <a:ext cx="7680960" cy="301752"/>
          </a:xfrm>
          <a:prstGeom prst="rect">
            <a:avLst/>
          </a:prstGeom>
          <a:noFill/>
          <a:ln/>
        </p:spPr>
        <p:txBody>
          <a:bodyPr wrap="square" lIns="0" tIns="0" rIns="0" bIns="0" rtlCol="0" anchor="ctr"/>
          <a:lstStyle/>
          <a:p>
            <a:pPr marL="0" indent="0">
              <a:buNone/>
            </a:pPr>
            <a:r>
              <a:rPr lang="en-US" sz="950" dirty="0">
                <a:solidFill>
                  <a:srgbClr val="2D394F"/>
                </a:solidFill>
              </a:rPr>
              <a:t>1000-token conversation trace; per-block tier tracking; HBM occupancy, eviction and promotion logging at every step.</a:t>
            </a:r>
            <a:endParaRPr lang="en-US" sz="950" dirty="0"/>
          </a:p>
        </p:txBody>
      </p:sp>
      <p:sp>
        <p:nvSpPr>
          <p:cNvPr id="10" name="Shape 8"/>
          <p:cNvSpPr/>
          <p:nvPr/>
        </p:nvSpPr>
        <p:spPr>
          <a:xfrm>
            <a:off x="274320" y="1728216"/>
            <a:ext cx="8595360" cy="685800"/>
          </a:xfrm>
          <a:prstGeom prst="rect">
            <a:avLst/>
          </a:prstGeom>
          <a:solidFill>
            <a:srgbClr val="FFFFFF"/>
          </a:solidFill>
          <a:ln w="19050">
            <a:solidFill>
              <a:srgbClr val="2C8C84"/>
            </a:solidFill>
            <a:prstDash val="solid"/>
          </a:ln>
        </p:spPr>
        <p:txBody>
          <a:bodyPr/>
          <a:lstStyle/>
          <a:p>
            <a:endParaRPr/>
          </a:p>
        </p:txBody>
      </p:sp>
      <p:sp>
        <p:nvSpPr>
          <p:cNvPr id="11" name="Shape 9"/>
          <p:cNvSpPr/>
          <p:nvPr/>
        </p:nvSpPr>
        <p:spPr>
          <a:xfrm>
            <a:off x="274320" y="1728216"/>
            <a:ext cx="640080" cy="685800"/>
          </a:xfrm>
          <a:prstGeom prst="rect">
            <a:avLst/>
          </a:prstGeom>
          <a:solidFill>
            <a:srgbClr val="E1F2EF"/>
          </a:solidFill>
          <a:ln/>
        </p:spPr>
        <p:txBody>
          <a:bodyPr/>
          <a:lstStyle/>
          <a:p>
            <a:endParaRPr/>
          </a:p>
        </p:txBody>
      </p:sp>
      <p:sp>
        <p:nvSpPr>
          <p:cNvPr id="12" name="Text 10"/>
          <p:cNvSpPr/>
          <p:nvPr/>
        </p:nvSpPr>
        <p:spPr>
          <a:xfrm>
            <a:off x="274320" y="1728216"/>
            <a:ext cx="640080" cy="685800"/>
          </a:xfrm>
          <a:prstGeom prst="rect">
            <a:avLst/>
          </a:prstGeom>
          <a:noFill/>
          <a:ln/>
        </p:spPr>
        <p:txBody>
          <a:bodyPr wrap="square" lIns="0" tIns="0" rIns="0" bIns="0" rtlCol="0" anchor="ctr"/>
          <a:lstStyle/>
          <a:p>
            <a:pPr marL="0" indent="0" algn="ctr">
              <a:buNone/>
            </a:pPr>
            <a:r>
              <a:rPr lang="en-US" sz="1400" b="1" dirty="0">
                <a:solidFill>
                  <a:srgbClr val="2D394F"/>
                </a:solidFill>
              </a:rPr>
              <a:t>C2</a:t>
            </a:r>
            <a:endParaRPr lang="en-US" sz="1400" dirty="0"/>
          </a:p>
        </p:txBody>
      </p:sp>
      <p:sp>
        <p:nvSpPr>
          <p:cNvPr id="13" name="Text 11"/>
          <p:cNvSpPr/>
          <p:nvPr/>
        </p:nvSpPr>
        <p:spPr>
          <a:xfrm>
            <a:off x="1005840" y="1764792"/>
            <a:ext cx="7680960" cy="274320"/>
          </a:xfrm>
          <a:prstGeom prst="rect">
            <a:avLst/>
          </a:prstGeom>
          <a:noFill/>
          <a:ln/>
        </p:spPr>
        <p:txBody>
          <a:bodyPr wrap="square" lIns="0" tIns="0" rIns="0" bIns="0" rtlCol="0" anchor="ctr"/>
          <a:lstStyle/>
          <a:p>
            <a:pPr marL="0" indent="0">
              <a:buNone/>
            </a:pPr>
            <a:r>
              <a:rPr lang="en-US" sz="1100" b="1" dirty="0">
                <a:solidFill>
                  <a:srgbClr val="2C8C84"/>
                </a:solidFill>
              </a:rPr>
              <a:t>ASEP — Novel Eviction Policy</a:t>
            </a:r>
            <a:endParaRPr lang="en-US" sz="1100" dirty="0"/>
          </a:p>
        </p:txBody>
      </p:sp>
      <p:sp>
        <p:nvSpPr>
          <p:cNvPr id="14" name="Text 12"/>
          <p:cNvSpPr/>
          <p:nvPr/>
        </p:nvSpPr>
        <p:spPr>
          <a:xfrm>
            <a:off x="1005840" y="2057400"/>
            <a:ext cx="7680960" cy="301752"/>
          </a:xfrm>
          <a:prstGeom prst="rect">
            <a:avLst/>
          </a:prstGeom>
          <a:noFill/>
          <a:ln/>
        </p:spPr>
        <p:txBody>
          <a:bodyPr wrap="square" lIns="0" tIns="0" rIns="0" bIns="0" rtlCol="0" anchor="ctr"/>
          <a:lstStyle/>
          <a:p>
            <a:pPr marL="0" indent="0">
              <a:buNone/>
            </a:pPr>
            <a:r>
              <a:rPr lang="en-US" sz="950" dirty="0">
                <a:solidFill>
                  <a:srgbClr val="2D394F"/>
                </a:solidFill>
              </a:rPr>
              <a:t>Attention-score-driven eviction replaces LRU. Challenges the recency=importance assumption with real transformer attention distributions.</a:t>
            </a:r>
            <a:endParaRPr lang="en-US" sz="950" dirty="0"/>
          </a:p>
        </p:txBody>
      </p:sp>
      <p:sp>
        <p:nvSpPr>
          <p:cNvPr id="15" name="Shape 13"/>
          <p:cNvSpPr/>
          <p:nvPr/>
        </p:nvSpPr>
        <p:spPr>
          <a:xfrm>
            <a:off x="274320" y="2496312"/>
            <a:ext cx="8595360" cy="685800"/>
          </a:xfrm>
          <a:prstGeom prst="rect">
            <a:avLst/>
          </a:prstGeom>
          <a:solidFill>
            <a:srgbClr val="FFFFFF"/>
          </a:solidFill>
          <a:ln w="19050">
            <a:solidFill>
              <a:srgbClr val="8A7AC8"/>
            </a:solidFill>
            <a:prstDash val="solid"/>
          </a:ln>
        </p:spPr>
        <p:txBody>
          <a:bodyPr/>
          <a:lstStyle/>
          <a:p>
            <a:endParaRPr/>
          </a:p>
        </p:txBody>
      </p:sp>
      <p:sp>
        <p:nvSpPr>
          <p:cNvPr id="16" name="Shape 14"/>
          <p:cNvSpPr/>
          <p:nvPr/>
        </p:nvSpPr>
        <p:spPr>
          <a:xfrm>
            <a:off x="274320" y="2496312"/>
            <a:ext cx="640080" cy="685800"/>
          </a:xfrm>
          <a:prstGeom prst="rect">
            <a:avLst/>
          </a:prstGeom>
          <a:solidFill>
            <a:srgbClr val="EEEAF8"/>
          </a:solidFill>
          <a:ln/>
        </p:spPr>
        <p:txBody>
          <a:bodyPr/>
          <a:lstStyle/>
          <a:p>
            <a:endParaRPr/>
          </a:p>
        </p:txBody>
      </p:sp>
      <p:sp>
        <p:nvSpPr>
          <p:cNvPr id="17" name="Text 15"/>
          <p:cNvSpPr/>
          <p:nvPr/>
        </p:nvSpPr>
        <p:spPr>
          <a:xfrm>
            <a:off x="274320" y="2496312"/>
            <a:ext cx="640080" cy="685800"/>
          </a:xfrm>
          <a:prstGeom prst="rect">
            <a:avLst/>
          </a:prstGeom>
          <a:noFill/>
          <a:ln/>
        </p:spPr>
        <p:txBody>
          <a:bodyPr wrap="square" lIns="0" tIns="0" rIns="0" bIns="0" rtlCol="0" anchor="ctr"/>
          <a:lstStyle/>
          <a:p>
            <a:pPr marL="0" indent="0" algn="ctr">
              <a:buNone/>
            </a:pPr>
            <a:r>
              <a:rPr lang="en-US" sz="1400" b="1" dirty="0">
                <a:solidFill>
                  <a:srgbClr val="2D394F"/>
                </a:solidFill>
              </a:rPr>
              <a:t>C3</a:t>
            </a:r>
            <a:endParaRPr lang="en-US" sz="1400" dirty="0"/>
          </a:p>
        </p:txBody>
      </p:sp>
      <p:sp>
        <p:nvSpPr>
          <p:cNvPr id="18" name="Text 16"/>
          <p:cNvSpPr/>
          <p:nvPr/>
        </p:nvSpPr>
        <p:spPr>
          <a:xfrm>
            <a:off x="1005840" y="2532888"/>
            <a:ext cx="7680960" cy="274320"/>
          </a:xfrm>
          <a:prstGeom prst="rect">
            <a:avLst/>
          </a:prstGeom>
          <a:noFill/>
          <a:ln/>
        </p:spPr>
        <p:txBody>
          <a:bodyPr wrap="square" lIns="0" tIns="0" rIns="0" bIns="0" rtlCol="0" anchor="ctr"/>
          <a:lstStyle/>
          <a:p>
            <a:pPr marL="0" indent="0">
              <a:buNone/>
            </a:pPr>
            <a:r>
              <a:rPr lang="en-US" sz="1100" b="1" dirty="0">
                <a:solidFill>
                  <a:srgbClr val="2F3F73"/>
                </a:solidFill>
              </a:rPr>
              <a:t>Controlled Policy Experiment</a:t>
            </a:r>
            <a:endParaRPr lang="en-US" sz="1100" dirty="0"/>
          </a:p>
        </p:txBody>
      </p:sp>
      <p:sp>
        <p:nvSpPr>
          <p:cNvPr id="19" name="Text 17"/>
          <p:cNvSpPr/>
          <p:nvPr/>
        </p:nvSpPr>
        <p:spPr>
          <a:xfrm>
            <a:off x="1005840" y="2825496"/>
            <a:ext cx="7680960" cy="301752"/>
          </a:xfrm>
          <a:prstGeom prst="rect">
            <a:avLst/>
          </a:prstGeom>
          <a:noFill/>
          <a:ln/>
        </p:spPr>
        <p:txBody>
          <a:bodyPr wrap="square" lIns="0" tIns="0" rIns="0" bIns="0" rtlCol="0" anchor="ctr"/>
          <a:lstStyle/>
          <a:p>
            <a:pPr marL="0" indent="0">
              <a:buNone/>
            </a:pPr>
            <a:r>
              <a:rPr lang="en-US" sz="950" dirty="0">
                <a:solidFill>
                  <a:srgbClr val="2D394F"/>
                </a:solidFill>
              </a:rPr>
              <a:t>First in-class controlled comparison of LRU vs ASEP. Same inputs, same total evictions, isolates policy as the single variable.</a:t>
            </a:r>
            <a:endParaRPr lang="en-US" sz="950" dirty="0"/>
          </a:p>
        </p:txBody>
      </p:sp>
      <p:sp>
        <p:nvSpPr>
          <p:cNvPr id="20" name="Shape 18"/>
          <p:cNvSpPr/>
          <p:nvPr/>
        </p:nvSpPr>
        <p:spPr>
          <a:xfrm>
            <a:off x="274320" y="3264408"/>
            <a:ext cx="8595360" cy="685800"/>
          </a:xfrm>
          <a:prstGeom prst="rect">
            <a:avLst/>
          </a:prstGeom>
          <a:solidFill>
            <a:srgbClr val="FFFFFF"/>
          </a:solidFill>
          <a:ln w="19050">
            <a:solidFill>
              <a:srgbClr val="D4A256"/>
            </a:solidFill>
            <a:prstDash val="solid"/>
          </a:ln>
        </p:spPr>
        <p:txBody>
          <a:bodyPr/>
          <a:lstStyle/>
          <a:p>
            <a:endParaRPr/>
          </a:p>
        </p:txBody>
      </p:sp>
      <p:sp>
        <p:nvSpPr>
          <p:cNvPr id="21" name="Shape 19"/>
          <p:cNvSpPr/>
          <p:nvPr/>
        </p:nvSpPr>
        <p:spPr>
          <a:xfrm>
            <a:off x="274320" y="3264408"/>
            <a:ext cx="640080" cy="685800"/>
          </a:xfrm>
          <a:prstGeom prst="rect">
            <a:avLst/>
          </a:prstGeom>
          <a:solidFill>
            <a:srgbClr val="F7ECDA"/>
          </a:solidFill>
          <a:ln/>
        </p:spPr>
        <p:txBody>
          <a:bodyPr/>
          <a:lstStyle/>
          <a:p>
            <a:endParaRPr/>
          </a:p>
        </p:txBody>
      </p:sp>
      <p:sp>
        <p:nvSpPr>
          <p:cNvPr id="22" name="Text 20"/>
          <p:cNvSpPr/>
          <p:nvPr/>
        </p:nvSpPr>
        <p:spPr>
          <a:xfrm>
            <a:off x="274320" y="3264408"/>
            <a:ext cx="640080" cy="685800"/>
          </a:xfrm>
          <a:prstGeom prst="rect">
            <a:avLst/>
          </a:prstGeom>
          <a:noFill/>
          <a:ln/>
        </p:spPr>
        <p:txBody>
          <a:bodyPr wrap="square" lIns="0" tIns="0" rIns="0" bIns="0" rtlCol="0" anchor="ctr"/>
          <a:lstStyle/>
          <a:p>
            <a:pPr marL="0" indent="0" algn="ctr">
              <a:buNone/>
            </a:pPr>
            <a:r>
              <a:rPr lang="en-US" sz="1400" b="1" dirty="0">
                <a:solidFill>
                  <a:srgbClr val="2D394F"/>
                </a:solidFill>
              </a:rPr>
              <a:t>C4</a:t>
            </a:r>
            <a:endParaRPr lang="en-US" sz="1400" dirty="0"/>
          </a:p>
        </p:txBody>
      </p:sp>
      <p:sp>
        <p:nvSpPr>
          <p:cNvPr id="23" name="Text 21"/>
          <p:cNvSpPr/>
          <p:nvPr/>
        </p:nvSpPr>
        <p:spPr>
          <a:xfrm>
            <a:off x="1005840" y="3300984"/>
            <a:ext cx="7680960" cy="274320"/>
          </a:xfrm>
          <a:prstGeom prst="rect">
            <a:avLst/>
          </a:prstGeom>
          <a:noFill/>
          <a:ln/>
        </p:spPr>
        <p:txBody>
          <a:bodyPr wrap="square" lIns="0" tIns="0" rIns="0" bIns="0" rtlCol="0" anchor="ctr"/>
          <a:lstStyle/>
          <a:p>
            <a:pPr marL="0" indent="0">
              <a:buNone/>
            </a:pPr>
            <a:r>
              <a:rPr lang="en-US" sz="1100" b="1" dirty="0">
                <a:solidFill>
                  <a:srgbClr val="D4A256"/>
                </a:solidFill>
              </a:rPr>
              <a:t>Quantified Improvements</a:t>
            </a:r>
            <a:endParaRPr lang="en-US" sz="1100" dirty="0"/>
          </a:p>
        </p:txBody>
      </p:sp>
      <p:sp>
        <p:nvSpPr>
          <p:cNvPr id="24" name="Text 22"/>
          <p:cNvSpPr/>
          <p:nvPr/>
        </p:nvSpPr>
        <p:spPr>
          <a:xfrm>
            <a:off x="1005840" y="3593592"/>
            <a:ext cx="7680960" cy="301752"/>
          </a:xfrm>
          <a:prstGeom prst="rect">
            <a:avLst/>
          </a:prstGeom>
          <a:noFill/>
          <a:ln/>
        </p:spPr>
        <p:txBody>
          <a:bodyPr wrap="square" lIns="0" tIns="0" rIns="0" bIns="0" rtlCol="0" anchor="ctr"/>
          <a:lstStyle/>
          <a:p>
            <a:pPr marL="0" indent="0">
              <a:buNone/>
            </a:pPr>
            <a:r>
              <a:rPr lang="en-US" sz="950" dirty="0">
                <a:solidFill>
                  <a:srgbClr val="2D394F"/>
                </a:solidFill>
              </a:rPr>
              <a:t>40% fewer wasted evictions. 57% lower promotion cost. Results hardware-independent — valid regardless of GPU executing the inference.</a:t>
            </a:r>
            <a:endParaRPr lang="en-US" sz="950" dirty="0"/>
          </a:p>
        </p:txBody>
      </p:sp>
      <p:sp>
        <p:nvSpPr>
          <p:cNvPr id="25" name="Shape 23"/>
          <p:cNvSpPr/>
          <p:nvPr/>
        </p:nvSpPr>
        <p:spPr>
          <a:xfrm>
            <a:off x="274320" y="4032504"/>
            <a:ext cx="8595360" cy="685800"/>
          </a:xfrm>
          <a:prstGeom prst="rect">
            <a:avLst/>
          </a:prstGeom>
          <a:solidFill>
            <a:srgbClr val="FFFFFF"/>
          </a:solidFill>
          <a:ln w="19050">
            <a:solidFill>
              <a:srgbClr val="D4A256"/>
            </a:solidFill>
            <a:prstDash val="solid"/>
          </a:ln>
        </p:spPr>
        <p:txBody>
          <a:bodyPr/>
          <a:lstStyle/>
          <a:p>
            <a:endParaRPr/>
          </a:p>
        </p:txBody>
      </p:sp>
      <p:sp>
        <p:nvSpPr>
          <p:cNvPr id="26" name="Shape 24"/>
          <p:cNvSpPr/>
          <p:nvPr/>
        </p:nvSpPr>
        <p:spPr>
          <a:xfrm>
            <a:off x="274320" y="4032504"/>
            <a:ext cx="640080" cy="685800"/>
          </a:xfrm>
          <a:prstGeom prst="rect">
            <a:avLst/>
          </a:prstGeom>
          <a:solidFill>
            <a:srgbClr val="F7ECDA"/>
          </a:solidFill>
          <a:ln/>
        </p:spPr>
        <p:txBody>
          <a:bodyPr/>
          <a:lstStyle/>
          <a:p>
            <a:endParaRPr/>
          </a:p>
        </p:txBody>
      </p:sp>
      <p:sp>
        <p:nvSpPr>
          <p:cNvPr id="27" name="Text 25"/>
          <p:cNvSpPr/>
          <p:nvPr/>
        </p:nvSpPr>
        <p:spPr>
          <a:xfrm>
            <a:off x="274320" y="4032504"/>
            <a:ext cx="640080" cy="685800"/>
          </a:xfrm>
          <a:prstGeom prst="rect">
            <a:avLst/>
          </a:prstGeom>
          <a:noFill/>
          <a:ln/>
        </p:spPr>
        <p:txBody>
          <a:bodyPr wrap="square" lIns="0" tIns="0" rIns="0" bIns="0" rtlCol="0" anchor="ctr"/>
          <a:lstStyle/>
          <a:p>
            <a:pPr marL="0" indent="0" algn="ctr">
              <a:buNone/>
            </a:pPr>
            <a:r>
              <a:rPr lang="en-US" sz="1400" b="1" dirty="0">
                <a:solidFill>
                  <a:srgbClr val="2D394F"/>
                </a:solidFill>
              </a:rPr>
              <a:t>C5</a:t>
            </a:r>
            <a:endParaRPr lang="en-US" sz="1400" dirty="0"/>
          </a:p>
        </p:txBody>
      </p:sp>
      <p:sp>
        <p:nvSpPr>
          <p:cNvPr id="28" name="Text 26"/>
          <p:cNvSpPr/>
          <p:nvPr/>
        </p:nvSpPr>
        <p:spPr>
          <a:xfrm>
            <a:off x="1005840" y="4069080"/>
            <a:ext cx="7680960" cy="274320"/>
          </a:xfrm>
          <a:prstGeom prst="rect">
            <a:avLst/>
          </a:prstGeom>
          <a:noFill/>
          <a:ln/>
        </p:spPr>
        <p:txBody>
          <a:bodyPr wrap="square" lIns="0" tIns="0" rIns="0" bIns="0" rtlCol="0" anchor="ctr"/>
          <a:lstStyle/>
          <a:p>
            <a:pPr marL="0" indent="0">
              <a:buNone/>
            </a:pPr>
            <a:r>
              <a:rPr lang="en-US" sz="1100" b="1" dirty="0">
                <a:solidFill>
                  <a:srgbClr val="D4A256"/>
                </a:solidFill>
              </a:rPr>
              <a:t>Three Memory Optimizations</a:t>
            </a:r>
            <a:endParaRPr lang="en-US" sz="1100" dirty="0"/>
          </a:p>
        </p:txBody>
      </p:sp>
      <p:sp>
        <p:nvSpPr>
          <p:cNvPr id="29" name="Text 27"/>
          <p:cNvSpPr/>
          <p:nvPr/>
        </p:nvSpPr>
        <p:spPr>
          <a:xfrm>
            <a:off x="1005840" y="4361688"/>
            <a:ext cx="7680960" cy="301752"/>
          </a:xfrm>
          <a:prstGeom prst="rect">
            <a:avLst/>
          </a:prstGeom>
          <a:noFill/>
          <a:ln/>
        </p:spPr>
        <p:txBody>
          <a:bodyPr wrap="square" lIns="0" tIns="0" rIns="0" bIns="0" rtlCol="0" anchor="ctr"/>
          <a:lstStyle/>
          <a:p>
            <a:r>
              <a:rPr lang="en-US" sz="950" dirty="0">
                <a:solidFill>
                  <a:srgbClr val="2D394F"/>
                </a:solidFill>
              </a:rPr>
              <a:t>INT4 KV compression (75% traffic reduction), attention windowing (</a:t>
            </a:r>
            <a:r>
              <a:rPr lang="en-US" sz="1000" dirty="0"/>
              <a:t>87.5</a:t>
            </a:r>
            <a:r>
              <a:rPr lang="en-US" sz="950" dirty="0">
                <a:solidFill>
                  <a:srgbClr val="2D394F"/>
                </a:solidFill>
              </a:rPr>
              <a:t>% at 16K context), operator fusion — all quantified with real GPT-2 tensors.</a:t>
            </a:r>
            <a:endParaRPr lang="en-US" sz="950" dirty="0"/>
          </a:p>
        </p:txBody>
      </p:sp>
      <p:sp>
        <p:nvSpPr>
          <p:cNvPr id="30" name="Shape 28"/>
          <p:cNvSpPr/>
          <p:nvPr/>
        </p:nvSpPr>
        <p:spPr>
          <a:xfrm>
            <a:off x="274320" y="4818888"/>
            <a:ext cx="8595360" cy="228600"/>
          </a:xfrm>
          <a:prstGeom prst="rect">
            <a:avLst/>
          </a:prstGeom>
          <a:solidFill>
            <a:srgbClr val="F7F1E8"/>
          </a:solidFill>
          <a:ln w="6350">
            <a:solidFill>
              <a:srgbClr val="B8BFD1"/>
            </a:solidFill>
            <a:prstDash val="solid"/>
          </a:ln>
        </p:spPr>
        <p:txBody>
          <a:bodyPr/>
          <a:lstStyle/>
          <a:p>
            <a:endParaRPr/>
          </a:p>
        </p:txBody>
      </p:sp>
      <p:sp>
        <p:nvSpPr>
          <p:cNvPr id="31" name="Text 29"/>
          <p:cNvSpPr/>
          <p:nvPr/>
        </p:nvSpPr>
        <p:spPr>
          <a:xfrm>
            <a:off x="411480" y="4837176"/>
            <a:ext cx="8321040" cy="182880"/>
          </a:xfrm>
          <a:prstGeom prst="rect">
            <a:avLst/>
          </a:prstGeom>
          <a:noFill/>
          <a:ln/>
        </p:spPr>
        <p:txBody>
          <a:bodyPr wrap="square" lIns="0" tIns="0" rIns="0" bIns="0" rtlCol="0" anchor="ctr"/>
          <a:lstStyle/>
          <a:p>
            <a:pPr marL="0" indent="0">
              <a:buNone/>
            </a:pPr>
            <a:r>
              <a:rPr lang="en-US" sz="750" i="1" dirty="0">
                <a:solidFill>
                  <a:srgbClr val="636F86"/>
                </a:solidFill>
              </a:rPr>
              <a:t>Limitation: Simulator runs on CPU/GPT-2 due to hardware constraints. Policy comparison results are hardware-independent (both policies run on identical infrastructure).</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4" name="Shape 2"/>
          <p:cNvSpPr/>
          <p:nvPr/>
        </p:nvSpPr>
        <p:spPr>
          <a:xfrm>
            <a:off x="0" y="0"/>
            <a:ext cx="109728" cy="5143500"/>
          </a:xfrm>
          <a:prstGeom prst="rect">
            <a:avLst/>
          </a:prstGeom>
          <a:solidFill>
            <a:srgbClr val="002060"/>
          </a:solidFill>
          <a:ln/>
        </p:spPr>
        <p:txBody>
          <a:bodyPr/>
          <a:lstStyle/>
          <a:p>
            <a:endParaRPr/>
          </a:p>
        </p:txBody>
      </p:sp>
      <p:sp>
        <p:nvSpPr>
          <p:cNvPr id="5" name="Text 3"/>
          <p:cNvSpPr/>
          <p:nvPr/>
        </p:nvSpPr>
        <p:spPr>
          <a:xfrm>
            <a:off x="457200" y="914400"/>
            <a:ext cx="8229600" cy="914400"/>
          </a:xfrm>
          <a:prstGeom prst="rect">
            <a:avLst/>
          </a:prstGeom>
          <a:noFill/>
          <a:ln/>
        </p:spPr>
        <p:txBody>
          <a:bodyPr wrap="square" rtlCol="0" anchor="ctr"/>
          <a:lstStyle/>
          <a:p>
            <a:pPr marL="0" indent="0" algn="ctr">
              <a:buNone/>
            </a:pPr>
            <a:r>
              <a:rPr lang="en-US" sz="6000" b="1" kern="0" spc="800" dirty="0">
                <a:solidFill>
                  <a:srgbClr val="2D394F"/>
                </a:solidFill>
              </a:rPr>
              <a:t>THANK YOU</a:t>
            </a:r>
            <a:endParaRPr lang="en-US" sz="6000" dirty="0"/>
          </a:p>
        </p:txBody>
      </p:sp>
      <p:sp>
        <p:nvSpPr>
          <p:cNvPr id="6" name="Text 4"/>
          <p:cNvSpPr/>
          <p:nvPr/>
        </p:nvSpPr>
        <p:spPr>
          <a:xfrm>
            <a:off x="457200" y="1828800"/>
            <a:ext cx="8229600" cy="365760"/>
          </a:xfrm>
          <a:prstGeom prst="rect">
            <a:avLst/>
          </a:prstGeom>
          <a:noFill/>
          <a:ln/>
        </p:spPr>
        <p:txBody>
          <a:bodyPr wrap="square" rtlCol="0" anchor="ctr"/>
          <a:lstStyle/>
          <a:p>
            <a:pPr marL="0" indent="0" algn="ctr">
              <a:buNone/>
            </a:pPr>
            <a:r>
              <a:rPr lang="en-US" sz="1400" dirty="0">
                <a:solidFill>
                  <a:srgbClr val="2C8C84"/>
                </a:solidFill>
              </a:rPr>
              <a:t>Memory-Centric Architectures for LLMs — Track B | Project 9</a:t>
            </a:r>
            <a:endParaRPr lang="en-US" sz="1400" dirty="0"/>
          </a:p>
        </p:txBody>
      </p:sp>
      <p:sp>
        <p:nvSpPr>
          <p:cNvPr id="7" name="Shape 5"/>
          <p:cNvSpPr/>
          <p:nvPr/>
        </p:nvSpPr>
        <p:spPr>
          <a:xfrm>
            <a:off x="2743200" y="2286000"/>
            <a:ext cx="3657600" cy="36576"/>
          </a:xfrm>
          <a:prstGeom prst="rect">
            <a:avLst/>
          </a:prstGeom>
          <a:solidFill>
            <a:srgbClr val="E7EBF5"/>
          </a:solidFill>
          <a:ln/>
        </p:spPr>
        <p:txBody>
          <a:bodyPr/>
          <a:lstStyle/>
          <a:p>
            <a:endParaRPr/>
          </a:p>
        </p:txBody>
      </p:sp>
      <p:sp>
        <p:nvSpPr>
          <p:cNvPr id="8" name="Text 6"/>
          <p:cNvSpPr/>
          <p:nvPr/>
        </p:nvSpPr>
        <p:spPr>
          <a:xfrm>
            <a:off x="1371600" y="2514600"/>
            <a:ext cx="2011680" cy="777240"/>
          </a:xfrm>
          <a:prstGeom prst="rect">
            <a:avLst/>
          </a:prstGeom>
          <a:noFill/>
          <a:ln/>
        </p:spPr>
        <p:txBody>
          <a:bodyPr wrap="square" lIns="0" tIns="0" rIns="0" bIns="0" rtlCol="0" anchor="ctr"/>
          <a:lstStyle/>
          <a:p>
            <a:pPr marL="0" indent="0" algn="ctr">
              <a:buNone/>
            </a:pPr>
            <a:endParaRPr lang="en-US" sz="4200" dirty="0"/>
          </a:p>
        </p:txBody>
      </p:sp>
      <p:sp>
        <p:nvSpPr>
          <p:cNvPr id="9" name="Text 7"/>
          <p:cNvSpPr/>
          <p:nvPr/>
        </p:nvSpPr>
        <p:spPr>
          <a:xfrm>
            <a:off x="1371600" y="3291840"/>
            <a:ext cx="2011680" cy="502920"/>
          </a:xfrm>
          <a:prstGeom prst="rect">
            <a:avLst/>
          </a:prstGeom>
          <a:noFill/>
          <a:ln/>
        </p:spPr>
        <p:txBody>
          <a:bodyPr wrap="square" lIns="0" tIns="0" rIns="0" bIns="0" rtlCol="0" anchor="ctr"/>
          <a:lstStyle/>
          <a:p>
            <a:pPr marL="0" indent="0" algn="ctr">
              <a:buNone/>
            </a:pPr>
            <a:endParaRPr lang="en-US" sz="1000" dirty="0"/>
          </a:p>
        </p:txBody>
      </p:sp>
      <p:sp>
        <p:nvSpPr>
          <p:cNvPr id="10" name="Text 8"/>
          <p:cNvSpPr/>
          <p:nvPr/>
        </p:nvSpPr>
        <p:spPr>
          <a:xfrm>
            <a:off x="3749040" y="2514600"/>
            <a:ext cx="2011680" cy="777240"/>
          </a:xfrm>
          <a:prstGeom prst="rect">
            <a:avLst/>
          </a:prstGeom>
          <a:noFill/>
          <a:ln/>
        </p:spPr>
        <p:txBody>
          <a:bodyPr wrap="square" lIns="0" tIns="0" rIns="0" bIns="0" rtlCol="0" anchor="ctr"/>
          <a:lstStyle/>
          <a:p>
            <a:pPr marL="0" indent="0" algn="ctr">
              <a:buNone/>
            </a:pPr>
            <a:endParaRPr lang="en-US" sz="4200" dirty="0"/>
          </a:p>
        </p:txBody>
      </p:sp>
      <p:sp>
        <p:nvSpPr>
          <p:cNvPr id="11" name="Text 9"/>
          <p:cNvSpPr/>
          <p:nvPr/>
        </p:nvSpPr>
        <p:spPr>
          <a:xfrm>
            <a:off x="3749040" y="3291840"/>
            <a:ext cx="2011680" cy="502920"/>
          </a:xfrm>
          <a:prstGeom prst="rect">
            <a:avLst/>
          </a:prstGeom>
          <a:noFill/>
          <a:ln/>
        </p:spPr>
        <p:txBody>
          <a:bodyPr wrap="square" lIns="0" tIns="0" rIns="0" bIns="0" rtlCol="0" anchor="ctr"/>
          <a:lstStyle/>
          <a:p>
            <a:pPr marL="0" indent="0" algn="ctr">
              <a:buNone/>
            </a:pPr>
            <a:endParaRPr lang="en-US" sz="1000" dirty="0"/>
          </a:p>
        </p:txBody>
      </p:sp>
      <p:sp>
        <p:nvSpPr>
          <p:cNvPr id="12" name="Text 10"/>
          <p:cNvSpPr/>
          <p:nvPr/>
        </p:nvSpPr>
        <p:spPr>
          <a:xfrm>
            <a:off x="6126480" y="2514600"/>
            <a:ext cx="2011680" cy="777240"/>
          </a:xfrm>
          <a:prstGeom prst="rect">
            <a:avLst/>
          </a:prstGeom>
          <a:noFill/>
          <a:ln/>
        </p:spPr>
        <p:txBody>
          <a:bodyPr wrap="square" lIns="0" tIns="0" rIns="0" bIns="0" rtlCol="0" anchor="ctr"/>
          <a:lstStyle/>
          <a:p>
            <a:pPr marL="0" indent="0" algn="ctr">
              <a:buNone/>
            </a:pPr>
            <a:endParaRPr lang="en-US" sz="4200" dirty="0"/>
          </a:p>
        </p:txBody>
      </p:sp>
      <p:sp>
        <p:nvSpPr>
          <p:cNvPr id="13" name="Text 11"/>
          <p:cNvSpPr/>
          <p:nvPr/>
        </p:nvSpPr>
        <p:spPr>
          <a:xfrm>
            <a:off x="6126480" y="3291840"/>
            <a:ext cx="2011680" cy="502920"/>
          </a:xfrm>
          <a:prstGeom prst="rect">
            <a:avLst/>
          </a:prstGeom>
          <a:noFill/>
          <a:ln/>
        </p:spPr>
        <p:txBody>
          <a:bodyPr wrap="square" lIns="0" tIns="0" rIns="0" bIns="0" rtlCol="0" anchor="ctr"/>
          <a:lstStyle/>
          <a:p>
            <a:pPr marL="0" indent="0" algn="ctr">
              <a:buNone/>
            </a:pPr>
            <a:endParaRPr lang="en-US" sz="1000" dirty="0"/>
          </a:p>
        </p:txBody>
      </p:sp>
      <p:sp>
        <p:nvSpPr>
          <p:cNvPr id="14" name="Text 12"/>
          <p:cNvSpPr/>
          <p:nvPr/>
        </p:nvSpPr>
        <p:spPr>
          <a:xfrm>
            <a:off x="337833" y="2759687"/>
            <a:ext cx="8348967" cy="1704386"/>
          </a:xfrm>
          <a:prstGeom prst="rect">
            <a:avLst/>
          </a:prstGeom>
          <a:noFill/>
          <a:ln/>
        </p:spPr>
        <p:txBody>
          <a:bodyPr wrap="square" rtlCol="0" anchor="ctr"/>
          <a:lstStyle/>
          <a:p>
            <a:pPr marL="0" indent="0" algn="ctr">
              <a:buNone/>
            </a:pPr>
            <a:r>
              <a:rPr lang="en-US" sz="2200" i="1" dirty="0">
                <a:solidFill>
                  <a:srgbClr val="636F86"/>
                </a:solidFill>
              </a:rPr>
              <a:t>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TotalTime>
  <Words>2273</Words>
  <Application>Microsoft Office PowerPoint</Application>
  <PresentationFormat>On-screen Show (16:9)</PresentationFormat>
  <Paragraphs>420</Paragraphs>
  <Slides>17</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Calibri</vt:lpstr>
      <vt:lpstr>-webkit-standard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Memory-Centric Architecture for LLMs — ASEP</dc:title>
  <dc:subject>PptxGenJS Presentation</dc:subject>
  <dc:creator>PptxGenJS</dc:creator>
  <cp:lastModifiedBy>Bindu BN</cp:lastModifiedBy>
  <cp:revision>10</cp:revision>
  <dcterms:created xsi:type="dcterms:W3CDTF">2026-04-28T22:26:05Z</dcterms:created>
  <dcterms:modified xsi:type="dcterms:W3CDTF">2026-04-30T06:44:29Z</dcterms:modified>
</cp:coreProperties>
</file>